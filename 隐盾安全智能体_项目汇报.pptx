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本轮修复项分布（共 12 项）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修复项</c:v>
                </c:pt>
              </c:strCache>
            </c:strRef>
          </c:tx>
          <c:spPr>
            <a:solidFill>
              <a:srgbClr val="0E7A4F"/>
            </a:solidFill>
          </c:spPr>
          <c:dPt>
            <c:idx val="0"/>
            <c:spPr>
              <a:solidFill>
                <a:srgbClr val="E8590C"/>
              </a:solidFill>
            </c:spPr>
          </c:dPt>
          <c:cat>
            <c:strRef>
              <c:f>Sheet1!$A$2:$A$4</c:f>
              <c:strCache>
                <c:ptCount val="3"/>
                <c:pt idx="0">
                  <c:v>P0 阻断</c:v>
                </c:pt>
                <c:pt idx="1">
                  <c:v>P1 架构</c:v>
                </c:pt>
                <c:pt idx="2">
                  <c:v>P2 缺陷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</c:v>
                </c:pt>
                <c:pt idx="1">
                  <c:v>5</c:v>
                </c:pt>
                <c:pt idx="2">
                  <c:v>4</c:v>
                </c:pt>
              </c:numCache>
            </c:numRef>
          </c:val>
        </c:ser>
        <c:dLbls>
          <c:txPr>
            <a:bodyPr/>
            <a:lstStyle/>
            <a:p>
              <a:pPr>
                <a:defRPr sz="1300" b="1">
                  <a:solidFill>
                    <a:srgbClr val="0A5C3B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722815" y="1325880"/>
            <a:ext cx="4206240" cy="4206240"/>
          </a:xfrm>
          <a:prstGeom prst="ellipse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317175" y="1920240"/>
            <a:ext cx="3017520" cy="301752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911535" y="2514600"/>
            <a:ext cx="1828800" cy="1828800"/>
          </a:xfrm>
          <a:prstGeom prst="ellipse">
            <a:avLst/>
          </a:prstGeom>
          <a:solidFill>
            <a:srgbClr val="128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231575" y="2926080"/>
            <a:ext cx="1005840" cy="1005840"/>
          </a:xfrm>
          <a:prstGeom prst="roundRect">
            <a:avLst>
              <a:gd name="adj" fmla="val 25000"/>
            </a:avLst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31575" y="2926080"/>
            <a:ext cx="100584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大学生创新竞赛 · 项目汇报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960120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隐盾安全智能体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429000"/>
            <a:ext cx="9601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面向涉密办公场景的本地化隐私防护桌面智能体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5623560"/>
            <a:ext cx="566928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58064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Yindun Security Agent</a:t>
            </a:r>
            <a:r>
              <a:rPr sz="1300" b="0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    ·    V3.3    ·    LangChain · PySide6 · 本地/云端双算力    ·  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项目背景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大模型进办公，但涉密数据不敢喂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27632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合同、薪酬、病历、客户资料高度敏感，而大模型天然要求把数据送出本地边界。</a:t>
            </a:r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每一个环节都是泄露面：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233172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77439" y="249631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出 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120" y="233172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敏感明文随 prompt 发往云端 API，离开本地即失控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56616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356616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39" y="373075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落 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356616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会话记录、向量库、摘要把真实隐私写进磁盘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800600"/>
            <a:ext cx="10911535" cy="1051560"/>
          </a:xfrm>
          <a:prstGeom prst="roundRect">
            <a:avLst>
              <a:gd name="adj" fmla="val 8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19" y="4800600"/>
            <a:ext cx="1280160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4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77439" y="4965192"/>
            <a:ext cx="201168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留 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4800600"/>
            <a:ext cx="743681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审计日志本为追溯，却反过来成为二次泄露源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核心理念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让大模型看不见敏感数据，却依然能干活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脱敏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真实数据 → 加密占位符</a:t>
            </a:r>
          </a:p>
        </p:txBody>
      </p:sp>
      <p:sp>
        <p:nvSpPr>
          <p:cNvPr id="8" name="Chevron 7"/>
          <p:cNvSpPr/>
          <p:nvPr/>
        </p:nvSpPr>
        <p:spPr>
          <a:xfrm>
            <a:off x="4079138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99178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99178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推理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模型只见占位符干活</a:t>
            </a:r>
          </a:p>
        </p:txBody>
      </p:sp>
      <p:sp>
        <p:nvSpPr>
          <p:cNvPr id="12" name="Chevron 11"/>
          <p:cNvSpPr/>
          <p:nvPr/>
        </p:nvSpPr>
        <p:spPr>
          <a:xfrm>
            <a:off x="7838236" y="2578608"/>
            <a:ext cx="274320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158276" y="1965960"/>
            <a:ext cx="3393338" cy="1554480"/>
          </a:xfrm>
          <a:prstGeom prst="roundRect">
            <a:avLst>
              <a:gd name="adj" fmla="val 10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8276" y="2258568"/>
            <a:ext cx="339333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41156" y="2880360"/>
            <a:ext cx="3027578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结果呈现时还原明文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977639"/>
            <a:ext cx="10911535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三条防线贯穿全链路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输入侧 · 隐私脱敏网关：数据进模型前，内存中完成实体识别与占位符化，映射表 Fernet 加密不出本地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执行侧 · 沙箱 + 权限 + 白名单 + 熔断审批：物理副作用关进笼子，高危操作强制人工二次确认</a:t>
            </a:r>
          </a:p>
          <a:p>
            <a:pPr algn="l">
              <a:spcAft>
                <a:spcPts val="500"/>
              </a:spcAft>
            </a:pPr>
            <a:r>
              <a:rPr sz="1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留痕侧 · HMAC 哈希链审计：全程可追溯、不可篡改，且审计自身只存脱敏预览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系统架构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三层解耦 · 安全内核独立可测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103120" y="1554480"/>
            <a:ext cx="7985455" cy="430134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0_架构图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1136" y="1682495"/>
            <a:ext cx="7729423" cy="391561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103120" y="5910692"/>
            <a:ext cx="798545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1  隐盾核心数据流与安全防线：脱敏网关位于输入/输出两侧，安全内核覆盖执行与审计全程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内存级隐私脱敏网关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12064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20+ 类敏感实体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身份证 / 银行卡 / 私钥 / JWT / API密钥 / 口令 / 病历 / 金额 / 人名 / 地址 / IP / MAC …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三级数据分级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参照 GB/T 35273：绝密 / 机密 / 内部，并量化风险评分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正则粗筛 + 算法精验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手机号 11 位精验、银行卡 Luhn、身份证校验位，降误伤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随机 nonce 防劫持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占位符 [PHONE_0_a3f9]，杜绝文档内植入字面量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 + DPAPI 双层密钥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映射表加密存储，主密钥按 Windows 用户账户包裹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600200"/>
            <a:ext cx="5394960" cy="4023360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828800"/>
            <a:ext cx="484632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真实输入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甲方联系人刘建国，电话13912345678，
身份证号110101198803075612，月费28,500元，密钥 sk-proj-9xK2…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发给大模型（脱敏后）</a:t>
            </a:r>
          </a:p>
          <a:p>
            <a:pPr algn="l">
              <a:lnSpc>
                <a:spcPct val="125000"/>
              </a:lnSpc>
              <a:spcAft>
                <a:spcPts val="1200"/>
              </a:spcAft>
            </a:pPr>
            <a:r>
              <a:rPr sz="1250" b="0">
                <a:solidFill>
                  <a:srgbClr val="8AB8F5"/>
                </a:solidFill>
                <a:latin typeface="微软雅黑"/>
                <a:ea typeface="微软雅黑"/>
                <a:cs typeface="微软雅黑"/>
              </a:rPr>
              <a:t>甲方联系人[NAME_0]，电话[PHONE_0]，
身份证号[IDCARD_0]，月费[MONEY_0]，密钥[APIKEY_0]</a:t>
            </a:r>
          </a:p>
          <a:p>
            <a:pPr algn="l">
              <a:spcAft>
                <a:spcPts val="300"/>
              </a:spcAft>
            </a:pPr>
            <a:r>
              <a:rPr sz="12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呈现给用户（还原后）</a:t>
            </a:r>
          </a:p>
          <a:p>
            <a:pPr algn="l"/>
            <a:r>
              <a:rPr sz="1250" b="0">
                <a:solidFill>
                  <a:srgbClr val="D7E3EE"/>
                </a:solidFill>
                <a:latin typeface="微软雅黑"/>
                <a:ea typeface="微软雅黑"/>
                <a:cs typeface="微软雅黑"/>
              </a:rPr>
              <a:t>→ 模型全程只接触占位符，真实值零出网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一段真实合同，实测脱敏效果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类实体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一次命中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59403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59403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59403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明文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出网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78727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8727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4800" b="1">
                <a:solidFill>
                  <a:srgbClr val="0A5C3B"/>
                </a:solidFill>
                <a:latin typeface="微软雅黑"/>
                <a:ea typeface="微软雅黑"/>
                <a:cs typeface="微软雅黑"/>
              </a:rPr>
              <a:t>51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78727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风险评分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(加权)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98051" y="1691640"/>
            <a:ext cx="2453563" cy="1965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051" y="1965960"/>
            <a:ext cx="2453563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Fernet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051" y="2971800"/>
            <a:ext cx="2453563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映射表</a:t>
            </a:r>
          </a:p>
          <a:p>
            <a:pPr algn="ctr"/>
            <a:r>
              <a:rPr sz="13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加密存储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实体分级分布（实测计数）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617720"/>
            <a:ext cx="1947339" cy="50292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4617720"/>
            <a:ext cx="198391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绝密 2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623995" y="4617720"/>
            <a:ext cx="4923212" cy="502920"/>
          </a:xfrm>
          <a:prstGeom prst="rect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623995" y="4617720"/>
            <a:ext cx="4959788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 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583784" y="4617720"/>
            <a:ext cx="3931254" cy="502920"/>
          </a:xfrm>
          <a:prstGeom prst="rect">
            <a:avLst/>
          </a:prstGeom>
          <a:solidFill>
            <a:srgbClr val="0A5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3784" y="4617720"/>
            <a:ext cx="396783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内部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30352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身份证 · 银行卡 · 手机号 · 邮箱 · 地址 · 金额 · API密钥 · 口令 · 病历号 · 医保卡号 · 人名  ——  全部替换为加密占位符，向量库与审计零明文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物理副作用的四层纵深防御</a:t>
            </a:r>
          </a:p>
        </p:txBody>
      </p:sp>
      <p:sp>
        <p:nvSpPr>
          <p:cNvPr id="5" name="Oval 4"/>
          <p:cNvSpPr/>
          <p:nvPr/>
        </p:nvSpPr>
        <p:spPr>
          <a:xfrm>
            <a:off x="1610829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0829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59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路径沙箱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realpath+commonpath 越界校验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文件名 basename 化，杜绝 ../ 穿越</a:t>
            </a:r>
          </a:p>
        </p:txBody>
      </p:sp>
      <p:sp>
        <p:nvSpPr>
          <p:cNvPr id="10" name="Chevron 9"/>
          <p:cNvSpPr/>
          <p:nvPr/>
        </p:nvSpPr>
        <p:spPr>
          <a:xfrm>
            <a:off x="3111931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4430153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0153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59403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42283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权限分级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0571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完全控制 / 安全只读 / 彻底审计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只读与审计模式断开写盘</a:t>
            </a:r>
          </a:p>
        </p:txBody>
      </p:sp>
      <p:sp>
        <p:nvSpPr>
          <p:cNvPr id="16" name="Chevron 15"/>
          <p:cNvSpPr/>
          <p:nvPr/>
        </p:nvSpPr>
        <p:spPr>
          <a:xfrm>
            <a:off x="5931255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249477" y="1691640"/>
            <a:ext cx="512064" cy="512064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49477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78727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61607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命令白名单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79895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仅 python/pip/git/echo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shlex 解析 + shell=False，去注入</a:t>
            </a:r>
          </a:p>
        </p:txBody>
      </p:sp>
      <p:sp>
        <p:nvSpPr>
          <p:cNvPr id="22" name="Chevron 21"/>
          <p:cNvSpPr/>
          <p:nvPr/>
        </p:nvSpPr>
        <p:spPr>
          <a:xfrm>
            <a:off x="8750579" y="3383280"/>
            <a:ext cx="329184" cy="365760"/>
          </a:xfrm>
          <a:prstGeom prst="chevron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068801" y="1691640"/>
            <a:ext cx="512064" cy="512064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68801" y="1691640"/>
            <a:ext cx="512064" cy="51206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98051" y="2423160"/>
            <a:ext cx="2453563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80931" y="2697480"/>
            <a:ext cx="2087803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熔断审批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99219" y="3383280"/>
            <a:ext cx="2051227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高危操作挂起后台线程</a:t>
            </a:r>
          </a:p>
          <a:p>
            <a:pPr algn="ctr">
              <a:lnSpc>
                <a:spcPct val="110000"/>
              </a:lnSpc>
              <a:spcAft>
                <a:spcPts val="300"/>
              </a:spcAft>
            </a:pP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强制人工二次确认，超时自动驳回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29200"/>
            <a:ext cx="104241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5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实测拦截验证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tasklist 不在白名单 → 拒绝执行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echo 命令含 &gt; 重定向 / ../ 穿越 → 参数级拦截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读取/写入 C:\Windows → 越界判定拒绝</a:t>
            </a:r>
          </a:p>
          <a:p>
            <a:pPr algn="l">
              <a:spcAft>
                <a:spcPts val="300"/>
              </a:spcAft>
            </a:pPr>
            <a:r>
              <a:rPr sz="13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安全只读模式下任何写盘 → 权限拦截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高危操作：熔断挂起，人类安全员拍板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54864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独立审批弹窗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检测到越界写盘 / 删除 / 命令执行时，后台写盘线程强行阻塞，等待人工决策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透明展示上下文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弹窗展示申请工具与目标路径，杜绝“盲批”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授权 / 驳回双通道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驳回则工具不执行并如实反馈模型；授权才放行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超时安全兜底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5 分钟无响应自动按驳回处理，并关闭残留弹窗防误导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审批入审计</a:t>
            </a:r>
            <a:r>
              <a:rPr sz="13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批准/驳回均记入哈希链，critical 级告警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46520" y="1828800"/>
            <a:ext cx="5074920" cy="3000715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05_高危操作审批弹窗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536" y="1956816"/>
            <a:ext cx="4818888" cy="260621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4884379"/>
            <a:ext cx="5074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2  隐盾安全决策网关拦截弹窗（实测）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全链路审计黑匣子：可追溯 · 不可篡改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120640" cy="4724304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3_审计面板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864607" cy="42448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33648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3  审计面板：统计概览 / 哈希链状态 / 事件筛选 / 一键导出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691640"/>
            <a:ext cx="530352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HMAC-SHA256 哈希链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每条日志哈希覆盖自身+前一条，篡改即校验失败并告警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全事件覆盖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LLM 输入输出 / 工具调用 / 脱敏还原 / 审批决策，逐条留痕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审计自身不泄露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落盘前统一掩码，只存脱敏预览与长度，杜绝二次泄露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密钥与数据分离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审计 HMAC 密钥存用户目录，与被保护日志不同盘</a:t>
            </a:r>
          </a:p>
          <a:p>
            <a:pPr algn="l">
              <a:lnSpc>
                <a:spcPct val="112000"/>
              </a:lnSpc>
              <a:spcAft>
                <a:spcPts val="1100"/>
              </a:spcAft>
            </a:pPr>
            <a:r>
              <a:rPr sz="15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报告导出</a:t>
            </a:r>
            <a:r>
              <a:rPr sz="12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   JSON / HTML 一键导出，含哈希链可视化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核心创新 · 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脱敏 RAG：机密文档本地检索，向量库零明文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1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机密文档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PDF/Word/Excel/TXT</a:t>
            </a:r>
          </a:p>
        </p:txBody>
      </p:sp>
      <p:sp>
        <p:nvSpPr>
          <p:cNvPr id="8" name="Chevron 7"/>
          <p:cNvSpPr/>
          <p:nvPr/>
        </p:nvSpPr>
        <p:spPr>
          <a:xfrm>
            <a:off x="2548067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95539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6979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逐块脱敏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8691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入库前实体占位符化</a:t>
            </a:r>
          </a:p>
        </p:txBody>
      </p:sp>
      <p:sp>
        <p:nvSpPr>
          <p:cNvPr id="12" name="Chevron 11"/>
          <p:cNvSpPr/>
          <p:nvPr/>
        </p:nvSpPr>
        <p:spPr>
          <a:xfrm>
            <a:off x="4803526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0998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E8590C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42438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向量化入库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24150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只存占位符文本</a:t>
            </a:r>
          </a:p>
        </p:txBody>
      </p:sp>
      <p:sp>
        <p:nvSpPr>
          <p:cNvPr id="16" name="Chevron 15"/>
          <p:cNvSpPr/>
          <p:nvPr/>
        </p:nvSpPr>
        <p:spPr>
          <a:xfrm>
            <a:off x="7058985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06457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7897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语义检索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79609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KB_ 前缀隔离</a:t>
            </a:r>
          </a:p>
        </p:txBody>
      </p:sp>
      <p:sp>
        <p:nvSpPr>
          <p:cNvPr id="20" name="Chevron 19"/>
          <p:cNvSpPr/>
          <p:nvPr/>
        </p:nvSpPr>
        <p:spPr>
          <a:xfrm>
            <a:off x="9314444" y="2331720"/>
            <a:ext cx="329184" cy="329184"/>
          </a:xfrm>
          <a:prstGeom prst="chevron">
            <a:avLst/>
          </a:prstGeom>
          <a:solidFill>
            <a:srgbClr val="6B7A7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61916" y="1783080"/>
            <a:ext cx="1889699" cy="1371600"/>
          </a:xfrm>
          <a:prstGeom prst="roundRect">
            <a:avLst>
              <a:gd name="adj" fmla="val 8000"/>
            </a:avLst>
          </a:prstGeom>
          <a:solidFill>
            <a:srgbClr val="0E7A4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753356" y="1965960"/>
            <a:ext cx="1706819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还原呈现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35068" y="2560320"/>
            <a:ext cx="174339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回答自动还原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611880"/>
            <a:ext cx="10911535" cy="2286000"/>
          </a:xfrm>
          <a:prstGeom prst="roundRect">
            <a:avLst>
              <a:gd name="adj" fmla="val 5000"/>
            </a:avLst>
          </a:prstGeom>
          <a:solidFill>
            <a:srgbClr val="E7F0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3840480"/>
            <a:ext cx="512064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为什么安全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文档在向量化前逐块过脱敏引擎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向量库中只存占位符，真实隐私永不落盘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即使接云端 API，检索片段也是脱敏态</a:t>
            </a:r>
          </a:p>
          <a:p>
            <a:pPr algn="l">
              <a:spcAft>
                <a:spcPts val="500"/>
              </a:spcAft>
            </a:pPr>
            <a:r>
              <a:rPr sz="13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检索结果全局重命名，避免占位符冲突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3886200"/>
            <a:ext cx="4846320" cy="1920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64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0</a:t>
            </a:r>
          </a:p>
          <a:p>
            <a:pPr algn="ctr"/>
            <a:r>
              <a:rPr sz="140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向量库实测残留真实敏感数据 = 0</a:t>
            </a:r>
          </a:p>
          <a:p>
            <a:pPr algn="ct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（逐 chunk 扫描验证）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功能实测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全链路演示：脱敏 → 审批 → 写盘 → 还原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029200" cy="4799121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02_隐私对话演示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1682495"/>
            <a:ext cx="4773168" cy="431180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408465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图 4  实测：模型调用工具、审批放行、文件创建、回复还原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691640"/>
            <a:ext cx="53949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演示指令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4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“把客户张伟的手机号/身份证/邮箱保存到 客户信息.txt”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1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用户输入含 4 类 PII，网关先脱敏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2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云端模型只收到占位符（零明文出网）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3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模型自主发起 create_local_file 工具调用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4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策略引擎熔断 → 弹出人工审批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5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安全员授权 → 沙箱内文件真实创建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6  </a:t>
            </a:r>
            <a:r>
              <a:rPr sz="1350" b="0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回复中的占位符自动还原明文呈现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5440680"/>
            <a:ext cx="5394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磁盘文件逐字校验一致 · 全程审计留痕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安全工程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 → 修复 → 回归：自我攻击式质量闭环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50392" y="2148840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25880" y="1673352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红队对抗测试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2112264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20+ 攻击用例动态验证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通读 15 个核心模块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679192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7919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0392" y="3136392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2660904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分级问题清单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3099816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P0–P3 严重度分级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含复现证据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3666744"/>
            <a:ext cx="457200" cy="457200"/>
          </a:xfrm>
          <a:prstGeom prst="ellipse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666744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" y="4123944"/>
            <a:ext cx="36576" cy="566928"/>
          </a:xfrm>
          <a:prstGeom prst="rect">
            <a:avLst/>
          </a:prstGeom>
          <a:solidFill>
            <a:srgbClr val="D3D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25880" y="3648456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逐项修复加固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087368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15 项修复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含调用方一致性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4654296"/>
            <a:ext cx="457200" cy="457200"/>
          </a:xfrm>
          <a:prstGeom prst="ellipse">
            <a:avLst/>
          </a:prstGeom>
          <a:solidFill>
            <a:srgbClr val="0E7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654296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25880" y="4636008"/>
            <a:ext cx="45720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回归测试固化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25880" y="5074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用例沉淀为测试</a:t>
            </a:r>
          </a:p>
          <a:p>
            <a:pPr algn="l">
              <a:lnSpc>
                <a:spcPct val="105000"/>
              </a:lnSpc>
            </a:pPr>
            <a:r>
              <a:rPr sz="12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防复发</a:t>
            </a:r>
          </a:p>
        </p:txBody>
      </p:sp>
      <p:graphicFrame>
        <p:nvGraphicFramePr>
          <p:cNvPr id="24" name="Chart 23"/>
          <p:cNvGraphicFramePr>
            <a:graphicFrameLocks noGrp="1"/>
          </p:cNvGraphicFramePr>
          <p:nvPr/>
        </p:nvGraphicFramePr>
        <p:xfrm>
          <a:off x="6400800" y="1737360"/>
          <a:ext cx="5120640" cy="35661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5" name="TextBox 24"/>
          <p:cNvSpPr txBox="1"/>
          <p:nvPr/>
        </p:nvSpPr>
        <p:spPr>
          <a:xfrm>
            <a:off x="6400800" y="5486400"/>
            <a:ext cx="51206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>
                <a:solidFill>
                  <a:srgbClr val="E8590C"/>
                </a:solidFill>
                <a:latin typeface="微软雅黑"/>
                <a:ea typeface="微软雅黑"/>
                <a:cs typeface="微软雅黑"/>
              </a:rPr>
              <a:t>诚实披露：</a:t>
            </a:r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实测发现 7B 本地模型工具调用可靠性问题（幻觉谎称已保存），多层防御保证零实际写盘，已作为已知局限写入报告。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质量与交付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22960"/>
            <a:ext cx="10911535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全量回归通过 · 一键安装包就绪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572768"/>
            <a:ext cx="566928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5 个测试套件 · 40+ 断言 · 全量通过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隐私引擎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54680" y="2148840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实体/脱敏/还原/nonce/strict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2148840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935224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935224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审计黑匣子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54680" y="2935224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哈希链/防篡改/调用一致性 14/14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77840" y="2935224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721608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3721608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记忆管理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54680" y="3721608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摘要/跨轮还原/序列化 6/6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77840" y="3721608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507992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507992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工作流引擎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54680" y="4507992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执行/审批链/自定义/导出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77840" y="4507992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294376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294376"/>
            <a:ext cx="219456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2332"/>
                </a:solidFill>
                <a:latin typeface="微软雅黑"/>
                <a:ea typeface="微软雅黑"/>
                <a:cs typeface="微软雅黑"/>
              </a:rPr>
              <a:t>知识库管线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54680" y="5294376"/>
            <a:ext cx="246888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入库/检索/向量库零明文验证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77840" y="5294376"/>
            <a:ext cx="45720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>
                <a:solidFill>
                  <a:srgbClr val="0E7A4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1737360"/>
            <a:ext cx="4983480" cy="4206240"/>
          </a:xfrm>
          <a:prstGeom prst="roundRect">
            <a:avLst>
              <a:gd name="adj" fmla="val 5000"/>
            </a:avLst>
          </a:prstGeom>
          <a:solidFill>
            <a:srgbClr val="0A5C3B"/>
          </a:solidFill>
          <a:ln>
            <a:noFill/>
          </a:ln>
          <a:effectLst/>
          <a:effectLst>
            <a:outerShdw blurRad="101600" dist="25400" dir="5400000" rotWithShape="0">
              <a:srgbClr val="0B2A1E">
                <a:alpha val="14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12280" y="2057400"/>
            <a:ext cx="4434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52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99 MB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3063240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一键安装包  ·  Windows 安装向导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949440" y="3611880"/>
            <a:ext cx="4160520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812280" y="3794760"/>
            <a:ext cx="443484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PySide6 + LangChain 全依赖自包含（PyInstaller）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装到用户目录，无需管理员权限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桌面/开始菜单快捷方式 + 卸载器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▪  </a:t>
            </a:r>
            <a:r>
              <a:rPr sz="130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随附《使用说明》：本地/云端算力两步接入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185855" y="6291072"/>
            <a:ext cx="548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7A72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3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8229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8FD3B4"/>
                </a:solidFill>
                <a:latin typeface="微软雅黑"/>
                <a:ea typeface="微软雅黑"/>
                <a:cs typeface="微软雅黑"/>
              </a:rPr>
              <a:t>总结与展望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一套让大模型安全处理涉密办公数据的端到端方案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1.6万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行 Python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5539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20+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95539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类实体脱敏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50998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0998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层纵深防御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457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457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项安全修复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61916" y="2514600"/>
            <a:ext cx="1889699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0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1916" y="3337560"/>
            <a:ext cx="18896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CFE8DA"/>
                </a:solidFill>
                <a:latin typeface="微软雅黑"/>
                <a:ea typeface="微软雅黑"/>
                <a:cs typeface="微软雅黑"/>
              </a:rPr>
              <a:t>套件回归通过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977639"/>
            <a:ext cx="10911535" cy="18288"/>
          </a:xfrm>
          <a:prstGeom prst="rect">
            <a:avLst/>
          </a:prstGeom>
          <a:solidFill>
            <a:srgbClr val="2E6B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4251960"/>
            <a:ext cx="5669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工具调用结果二次核验，杜绝幻觉式假成功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审计链头外部锚定，抵御整体重算哈希链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策略引擎规则可视化编辑</a:t>
            </a:r>
          </a:p>
          <a:p>
            <a:pPr algn="l">
              <a:spcAft>
                <a:spcPts val="600"/>
              </a:spcAft>
            </a:pPr>
            <a:r>
              <a:rPr sz="1350" b="1">
                <a:solidFill>
                  <a:srgbClr val="F0B45C"/>
                </a:solidFill>
                <a:latin typeface="微软雅黑"/>
                <a:ea typeface="微软雅黑"/>
                <a:cs typeface="微软雅黑"/>
              </a:rPr>
              <a:t>▸  </a:t>
            </a:r>
            <a:r>
              <a:rPr sz="1350" b="0">
                <a:solidFill>
                  <a:srgbClr val="EAF5EF"/>
                </a:solidFill>
                <a:latin typeface="微软雅黑"/>
                <a:ea typeface="微软雅黑"/>
                <a:cs typeface="微软雅黑"/>
              </a:rPr>
              <a:t>CI 接入 bandit/semgrep 静态安全扫描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434840"/>
            <a:ext cx="4846320" cy="14630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24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让本地 AI</a:t>
            </a:r>
          </a:p>
          <a:p>
            <a:pPr algn="r"/>
            <a:r>
              <a:rPr sz="2400" b="1">
                <a:solidFill>
                  <a:srgbClr val="7EE2A8"/>
                </a:solidFill>
                <a:latin typeface="微软雅黑"/>
                <a:ea typeface="微软雅黑"/>
                <a:cs typeface="微软雅黑"/>
              </a:rPr>
              <a:t>更安全 · 更智能 · 更可控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09360"/>
            <a:ext cx="1091153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6E9C86"/>
                </a:solidFill>
                <a:latin typeface="微软雅黑"/>
                <a:ea typeface="微软雅黑"/>
                <a:cs typeface="微软雅黑"/>
              </a:rPr>
              <a:t>隐盾安全智能体 · Yindun Team · 2026    |    大学生创新竞赛作品，仅供学习研究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