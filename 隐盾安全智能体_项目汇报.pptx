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22815" y="1325880"/>
            <a:ext cx="4206240" cy="4206240"/>
          </a:xfrm>
          <a:prstGeom prst="ellipse">
            <a:avLst/>
          </a:prstGeom>
          <a:solidFill>
            <a:srgbClr val="0A5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17175" y="1920240"/>
            <a:ext cx="3017520" cy="3017520"/>
          </a:xfrm>
          <a:prstGeom prst="ellipse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11535" y="2514600"/>
            <a:ext cx="1828800" cy="1828800"/>
          </a:xfrm>
          <a:prstGeom prst="ellipse">
            <a:avLst/>
          </a:prstGeom>
          <a:solidFill>
            <a:srgbClr val="12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31575" y="2926080"/>
            <a:ext cx="1005840" cy="1005840"/>
          </a:xfrm>
          <a:prstGeom prst="roundRect">
            <a:avLst>
              <a:gd name="adj" fmla="val 25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31575" y="292608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FD3B4"/>
                </a:solidFill>
                <a:latin typeface="微软雅黑"/>
                <a:ea typeface="微软雅黑"/>
                <a:cs typeface="微软雅黑"/>
              </a:rPr>
              <a:t>技术汇报 · 隐私计算桌面智能体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9601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隐盾安全智能体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CFE8DA"/>
                </a:solidFill>
                <a:latin typeface="微软雅黑"/>
                <a:ea typeface="微软雅黑"/>
                <a:cs typeface="微软雅黑"/>
              </a:rPr>
              <a:t>面向涉密办公场景的本地化隐私防护桌面智能体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623560"/>
            <a:ext cx="5669280" cy="18288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806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Yindun Security Agent</a:t>
            </a:r>
            <a:r>
              <a:rPr sz="1300" b="0">
                <a:solidFill>
                  <a:srgbClr val="8FD3B4"/>
                </a:solidFill>
                <a:latin typeface="微软雅黑"/>
                <a:ea typeface="微软雅黑"/>
                <a:cs typeface="微软雅黑"/>
              </a:rPr>
              <a:t>    ·    V3.3    ·    LangChain · PySide6 · 本地/云端双算力    · 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研究背景与动机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大模型进办公，但涉密数据不敢喂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合同、薪酬、病历、客户资料高度敏感，而大模型天然要求把数据送出本地边界。</a:t>
            </a:r>
            <a:r>
              <a:rPr sz="16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每一个环节都是泄露面：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0911535" cy="1051560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331720"/>
            <a:ext cx="1280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39" y="2496312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出 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331720"/>
            <a:ext cx="743681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敏感明文随 prompt 发往云端 API，离开本地即失控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911535" cy="1051560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3566160"/>
            <a:ext cx="1280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3730752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落 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66160"/>
            <a:ext cx="743681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会话记录、向量库、摘要把真实隐私写进磁盘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00600"/>
            <a:ext cx="10911535" cy="1051560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800600"/>
            <a:ext cx="1280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39" y="4965192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留 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800600"/>
            <a:ext cx="743681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审计日志本为追溯，却反过来成为二次泄露源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研究背景与动机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做成一个可用系统，要跨四道坎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11535" cy="987552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1691640"/>
            <a:ext cx="8229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819656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可用 vs 不可见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91640"/>
            <a:ext cx="7162495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删掉敏感值模型就没法答——必须抹去真实值又保留语义结构，这是「占位符化」而非「删除」的设计动机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25496"/>
            <a:ext cx="10911535" cy="987552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2825496"/>
            <a:ext cx="8229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953512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召回 vs 精确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25496"/>
            <a:ext cx="7162495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中文敏感信息形态多变（全角/分段/国际前缀），既要高召回不漏，又不能误伤订单号、版本号等业务数字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59352"/>
            <a:ext cx="10911535" cy="987552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" y="3959352"/>
            <a:ext cx="8229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087368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全链路一致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959352"/>
            <a:ext cx="7162495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脱敏只做入口没用：落盘会话、审计、向量库、输出还原任一环节旁路，整体即失效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93208"/>
            <a:ext cx="10911535" cy="987552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19" y="5093208"/>
            <a:ext cx="8229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5221224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可证明性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093208"/>
            <a:ext cx="7162495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「隐私有效」不能靠宣称，需在明确威胁模型下以可复现的攻击实验来度量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核心理念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让大模型看不见敏感数据，却依然能干活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393338" cy="1554480"/>
          </a:xfrm>
          <a:prstGeom prst="roundRect">
            <a:avLst>
              <a:gd name="adj" fmla="val 10000"/>
            </a:avLst>
          </a:prstGeom>
          <a:solidFill>
            <a:srgbClr val="0E7A4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58568"/>
            <a:ext cx="339333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脱敏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880360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真实数据 → 加密占位符</a:t>
            </a:r>
          </a:p>
        </p:txBody>
      </p:sp>
      <p:sp>
        <p:nvSpPr>
          <p:cNvPr id="8" name="Chevron 7"/>
          <p:cNvSpPr/>
          <p:nvPr/>
        </p:nvSpPr>
        <p:spPr>
          <a:xfrm>
            <a:off x="4079138" y="2578608"/>
            <a:ext cx="274320" cy="329184"/>
          </a:xfrm>
          <a:prstGeom prst="chevron">
            <a:avLst/>
          </a:prstGeom>
          <a:solidFill>
            <a:srgbClr val="6B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99178" y="1965960"/>
            <a:ext cx="3393338" cy="1554480"/>
          </a:xfrm>
          <a:prstGeom prst="roundRect">
            <a:avLst>
              <a:gd name="adj" fmla="val 10000"/>
            </a:avLst>
          </a:prstGeom>
          <a:solidFill>
            <a:srgbClr val="0A5C3B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9178" y="2258568"/>
            <a:ext cx="339333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推理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2058" y="2880360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模型只见占位符干活</a:t>
            </a:r>
          </a:p>
        </p:txBody>
      </p:sp>
      <p:sp>
        <p:nvSpPr>
          <p:cNvPr id="12" name="Chevron 11"/>
          <p:cNvSpPr/>
          <p:nvPr/>
        </p:nvSpPr>
        <p:spPr>
          <a:xfrm>
            <a:off x="7838236" y="2578608"/>
            <a:ext cx="274320" cy="329184"/>
          </a:xfrm>
          <a:prstGeom prst="chevron">
            <a:avLst/>
          </a:prstGeom>
          <a:solidFill>
            <a:srgbClr val="6B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58276" y="1965960"/>
            <a:ext cx="3393338" cy="1554480"/>
          </a:xfrm>
          <a:prstGeom prst="roundRect">
            <a:avLst>
              <a:gd name="adj" fmla="val 10000"/>
            </a:avLst>
          </a:prstGeom>
          <a:solidFill>
            <a:srgbClr val="E8590C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8276" y="2258568"/>
            <a:ext cx="339333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还原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2880360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结果呈现时还原明文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77639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三条防线贯穿全链路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4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输入侧 · 隐私脱敏网关：数据进模型前，内存中完成实体识别与占位符化，映射表 Fernet 加密不出本地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4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执行侧 · 沙箱 + 权限 + 白名单 + 熔断审批：物理副作用关进笼子，高危操作强制人工二次确认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4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留痕侧 · HMAC 哈希链审计：全程可追溯、不可篡改，且审计自身只存脱敏预览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三层解耦 · 安全内核独立可测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554480"/>
            <a:ext cx="7985455" cy="43013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0_架构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1682495"/>
            <a:ext cx="7729423" cy="39156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03120" y="5910692"/>
            <a:ext cx="7985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图 1  隐盾核心数据流与安全防线：脱敏网关位于输入/输出两侧，安全内核覆盖执行与审计全程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核心创新 · 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内存级隐私脱敏网关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120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20+ 类敏感实体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身份证 / 银行卡 / 私钥 / JWT / API密钥 / 口令 / 病历 / 金额 / 人名 / 地址 / IP / MAC …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三级数据分级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参照 GB/T 35273：绝密 / 机密 / 内部，并量化风险评分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正则粗筛 + 算法精验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手机号 11 位精验、银行卡 Luhn、身份证校验位，降误伤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随机 nonce 防劫持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占位符 [PHONE_0_a3f9]，杜绝文档内植入字面量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Fernet + DPAPI 双层密钥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映射表加密存储，主密钥按 Windows 用户账户包裹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00200"/>
            <a:ext cx="5394960" cy="402336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EE2A8"/>
                </a:solidFill>
                <a:latin typeface="微软雅黑"/>
                <a:ea typeface="微软雅黑"/>
                <a:cs typeface="微软雅黑"/>
              </a:rPr>
              <a:t>真实输入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D7E3EE"/>
                </a:solidFill>
                <a:latin typeface="微软雅黑"/>
                <a:ea typeface="微软雅黑"/>
                <a:cs typeface="微软雅黑"/>
              </a:rPr>
              <a:t>甲方联系人刘建国，电话13912345678，
身份证号110101198803075612，月费28,500元，密钥 sk-proj-9xK2…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发给大模型（脱敏后）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8AB8F5"/>
                </a:solidFill>
                <a:latin typeface="微软雅黑"/>
                <a:ea typeface="微软雅黑"/>
                <a:cs typeface="微软雅黑"/>
              </a:rPr>
              <a:t>甲方联系人[NAME_0]，电话[PHONE_0]，
身份证号[IDCARD_0]，月费[MONEY_0]，密钥[APIKEY_0]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7EE2A8"/>
                </a:solidFill>
                <a:latin typeface="微软雅黑"/>
                <a:ea typeface="微软雅黑"/>
                <a:cs typeface="微软雅黑"/>
              </a:rPr>
              <a:t>呈现给用户（还原后）</a:t>
            </a:r>
          </a:p>
          <a:p>
            <a:pPr algn="l"/>
            <a:r>
              <a:rPr sz="1250" b="0">
                <a:solidFill>
                  <a:srgbClr val="D7E3EE"/>
                </a:solidFill>
                <a:latin typeface="微软雅黑"/>
                <a:ea typeface="微软雅黑"/>
                <a:cs typeface="微软雅黑"/>
              </a:rPr>
              <a:t>→ 模型全程只接触占位符，真实值零出网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911535" cy="658368"/>
          </a:xfrm>
          <a:prstGeom prst="roundRect">
            <a:avLst>
              <a:gd name="adj" fmla="val 10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3628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形式化：</a:t>
            </a: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A(x) ↦ (x̂, M)，M = {占位符 ↦ Enc</a:t>
            </a:r>
            <a:r>
              <a:rPr sz="9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k</a:t>
            </a: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(真实值)}；保证 机密性(x̂无明文) · 可逆性(持钥还原=x) · 还原不可伪造(nonce) · 持久化机密(无钥不可解)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核心方法 · 形式化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隐私算法的形式化定义与四条保证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911535" cy="768096"/>
          </a:xfrm>
          <a:prstGeom prst="roundRect">
            <a:avLst>
              <a:gd name="adj" fmla="val 6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54480"/>
            <a:ext cx="14173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脱敏映射</a:t>
            </a:r>
          </a:p>
        </p:txBody>
      </p:sp>
      <p:pic>
        <p:nvPicPr>
          <p:cNvPr id="7" name="Picture 6" descr="eq_an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084" y="1709928"/>
            <a:ext cx="8170606" cy="45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2395728"/>
            <a:ext cx="10911535" cy="969264"/>
          </a:xfrm>
          <a:prstGeom prst="roundRect">
            <a:avLst>
              <a:gd name="adj" fmla="val 6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95728"/>
            <a:ext cx="141732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还原算子</a:t>
            </a:r>
          </a:p>
        </p:txBody>
      </p:sp>
      <p:pic>
        <p:nvPicPr>
          <p:cNvPr id="10" name="Picture 9" descr="eq_re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905" y="2551176"/>
            <a:ext cx="4530963" cy="658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401568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在既定威胁模型下主张四条安全性质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94760"/>
            <a:ext cx="2645587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950208"/>
            <a:ext cx="23164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1  机密性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370832"/>
            <a:ext cx="231640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任意敏感值不出现在送入模型的文本中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5395" y="3794760"/>
            <a:ext cx="2645587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9987" y="3950208"/>
            <a:ext cx="23164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2  可逆性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9987" y="4370832"/>
            <a:ext cx="231640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持密钥还原，结果与原文完全一致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0711" y="3794760"/>
            <a:ext cx="2645587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5303" y="3950208"/>
            <a:ext cx="23164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3  还原不可伪造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5303" y="4370832"/>
            <a:ext cx="231640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占位符含随机 nonce，无法被植入劫持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027" y="3794760"/>
            <a:ext cx="2645587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0619" y="3950208"/>
            <a:ext cx="23164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4  持久化机密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619" y="4370832"/>
            <a:ext cx="231640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无密钥时磁盘产物不可恢复明文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394960"/>
            <a:ext cx="10911535" cy="676656"/>
          </a:xfrm>
          <a:prstGeom prst="roundRect">
            <a:avLst>
              <a:gd name="adj" fmla="val 6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394960"/>
            <a:ext cx="14173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量化</a:t>
            </a:r>
          </a:p>
        </p:txBody>
      </p:sp>
      <p:pic>
        <p:nvPicPr>
          <p:cNvPr id="26" name="Picture 25" descr="eq_pro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545" y="5550408"/>
            <a:ext cx="5919684" cy="365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核心方法 · 威胁模型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威胁模型：四类攻击者与攻击博弈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11535" cy="749808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黑盒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39" y="1645920"/>
            <a:ext cx="5486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仅观察出网文本与模型输出（被攻破的模型方、链路窃听）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45920"/>
            <a:ext cx="350489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防线：</a:t>
            </a:r>
            <a:r>
              <a:rPr sz="12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机密性：无明文可泄露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05456"/>
            <a:ext cx="10911535" cy="749808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05456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黑盒·主动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505456"/>
            <a:ext cx="5486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可向文档植入伪造占位符 / 注入越权指令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05456"/>
            <a:ext cx="350489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防线：</a:t>
            </a:r>
            <a:r>
              <a:rPr sz="12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还原不可伪造（nonce）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64992"/>
            <a:ext cx="10911535" cy="749808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64992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白盒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3364992"/>
            <a:ext cx="5486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读本地磁盘持久化文件，但不在活动用户会话内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364992"/>
            <a:ext cx="350489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防线：</a:t>
            </a:r>
            <a:r>
              <a:rPr sz="12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持久化机密：密文存储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24528"/>
            <a:ext cx="10911535" cy="749808"/>
          </a:xfrm>
          <a:prstGeom prst="roundRect">
            <a:avLst>
              <a:gd name="adj" fmla="val 8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白盒·持钥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4224528"/>
            <a:ext cx="5486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劫持当前 Windows 会话、可调用 DPAPI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224528"/>
            <a:ext cx="350489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防线：</a:t>
            </a:r>
            <a:r>
              <a:rPr sz="125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既定边界：等价用户本人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20640"/>
            <a:ext cx="10911535" cy="694944"/>
          </a:xfrm>
          <a:prstGeom prst="roundRect">
            <a:avLst>
              <a:gd name="adj" fmla="val 6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20640"/>
            <a:ext cx="14173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攻击博弈</a:t>
            </a:r>
          </a:p>
        </p:txBody>
      </p:sp>
      <p:pic>
        <p:nvPicPr>
          <p:cNvPr id="23" name="Picture 22" descr="eq_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242" y="5276088"/>
            <a:ext cx="5390290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5870448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机密性 ⇔ 出网泄露博弈中对手胜率为 0；还原不可伪造 ⇔ 劫持博弈成功率受 nonce 空间界定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核心创新 · 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一段真实合同，实测脱敏效果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453563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45356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24535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类实体</a:t>
            </a:r>
          </a:p>
          <a:p>
            <a:pPr algn="ctr"/>
            <a:r>
              <a:rPr sz="13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一次命中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9403" y="1691640"/>
            <a:ext cx="2453563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9403" y="1965960"/>
            <a:ext cx="245356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9403" y="2971800"/>
            <a:ext cx="24535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明文</a:t>
            </a:r>
          </a:p>
          <a:p>
            <a:pPr algn="ctr"/>
            <a:r>
              <a:rPr sz="13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出网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691640"/>
            <a:ext cx="2453563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1965960"/>
            <a:ext cx="245356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0A5C3B"/>
                </a:solidFill>
                <a:latin typeface="微软雅黑"/>
                <a:ea typeface="微软雅黑"/>
                <a:cs typeface="微软雅黑"/>
              </a:rPr>
              <a:t>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2971800"/>
            <a:ext cx="24535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风险评分</a:t>
            </a:r>
          </a:p>
          <a:p>
            <a:pPr algn="ctr"/>
            <a:r>
              <a:rPr sz="13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(加权)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051" y="1691640"/>
            <a:ext cx="2453563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051" y="1965960"/>
            <a:ext cx="245356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Fernet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051" y="2971800"/>
            <a:ext cx="24535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映射表</a:t>
            </a:r>
          </a:p>
          <a:p>
            <a:pPr algn="ctr"/>
            <a:r>
              <a:rPr sz="13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加密存储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实体分级分布（实测计数）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17720"/>
            <a:ext cx="1947339" cy="5029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198391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绝密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23995" y="4617720"/>
            <a:ext cx="4923212" cy="502920"/>
          </a:xfrm>
          <a:prstGeom prst="rect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23995" y="4617720"/>
            <a:ext cx="49597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机密 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3784" y="4617720"/>
            <a:ext cx="3931254" cy="502920"/>
          </a:xfrm>
          <a:prstGeom prst="rect">
            <a:avLst/>
          </a:prstGeom>
          <a:solidFill>
            <a:srgbClr val="0A5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3784" y="4617720"/>
            <a:ext cx="396783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内部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035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身份证 · 银行卡 · 手机号 · 邮箱 · 地址 · 金额 · API密钥 · 口令 · 病历号 · 医保卡号 · 人名  ——  全部替换为加密占位符，向量库与审计零明文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效果验证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隐私防护有效性：攻击实验与结果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13 篇合成办公语料 · 41 个敏感实体实例（含国际前缀/全角/分段卡号/PEM/JWT/IPv6 等边界格式）· 17 个业务数字负样本 · 可一键复现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65960"/>
          <a:ext cx="1091153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029200"/>
                <a:gridCol w="2773375"/>
              </a:tblGrid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实验（威胁）</a:t>
                      </a:r>
                    </a:p>
                  </a:txBody>
                  <a:tcPr>
                    <a:solidFill>
                      <a:srgbClr val="0E7A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0E7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>
                    <a:solidFill>
                      <a:srgbClr val="0E7A4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黑盒 · 出网泄露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脱敏召回率 / 明文泄露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7A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100%  /  0 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黑盒 · 误伤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业务数字误报率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7A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0%（0/17）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可用性 · 往返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还原正确率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7A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100%（13/13）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黑盒主动 · 还原劫持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植入字面量占位符劫持成功率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7A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/ 500 轮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黑盒主动 · 提示注入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模型可见上下文中的真实 PII 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7A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白盒 · 持久化扫描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落盘文件明文 PII 命中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7A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白盒 · 审计预览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审计掩码后明文 PII 命中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7A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白盒 · 无密钥还原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strict 模式是否泄露明文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E7A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53212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关键结论：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出网零明文 ⇒ 模型信息论上无法泄露它没见过的数据；nonce ⇒ 还原环节不可被植入劫持（碰撞率≈5.9×10⁻⁷）；Fernet+DPAPI ⇒ 拿走磁盘文件、无密钥也无法恢复明文。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核心创新 · 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物理副作用的四层纵深防御</a:t>
            </a:r>
          </a:p>
        </p:txBody>
      </p:sp>
      <p:sp>
        <p:nvSpPr>
          <p:cNvPr id="5" name="Oval 4"/>
          <p:cNvSpPr/>
          <p:nvPr/>
        </p:nvSpPr>
        <p:spPr>
          <a:xfrm>
            <a:off x="1610829" y="1691640"/>
            <a:ext cx="512064" cy="512064"/>
          </a:xfrm>
          <a:prstGeom prst="ellipse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10829" y="16916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2453563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697480"/>
            <a:ext cx="208780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路径沙箱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38328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realpath+commonpath 越界校验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文件名 basename 化，杜绝 ../ 穿越</a:t>
            </a:r>
          </a:p>
        </p:txBody>
      </p:sp>
      <p:sp>
        <p:nvSpPr>
          <p:cNvPr id="10" name="Chevron 9"/>
          <p:cNvSpPr/>
          <p:nvPr/>
        </p:nvSpPr>
        <p:spPr>
          <a:xfrm>
            <a:off x="3111931" y="3383280"/>
            <a:ext cx="329184" cy="365760"/>
          </a:xfrm>
          <a:prstGeom prst="chevron">
            <a:avLst/>
          </a:prstGeom>
          <a:solidFill>
            <a:srgbClr val="D3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0153" y="1691640"/>
            <a:ext cx="512064" cy="512064"/>
          </a:xfrm>
          <a:prstGeom prst="ellipse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0153" y="16916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9403" y="2423160"/>
            <a:ext cx="2453563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2283" y="2697480"/>
            <a:ext cx="208780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权限分级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338328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完全控制 / 安全只读 / 彻底审计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只读与审计模式断开写盘</a:t>
            </a:r>
          </a:p>
        </p:txBody>
      </p:sp>
      <p:sp>
        <p:nvSpPr>
          <p:cNvPr id="16" name="Chevron 15"/>
          <p:cNvSpPr/>
          <p:nvPr/>
        </p:nvSpPr>
        <p:spPr>
          <a:xfrm>
            <a:off x="5931255" y="3383280"/>
            <a:ext cx="329184" cy="365760"/>
          </a:xfrm>
          <a:prstGeom prst="chevron">
            <a:avLst/>
          </a:prstGeom>
          <a:solidFill>
            <a:srgbClr val="D3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49477" y="1691640"/>
            <a:ext cx="512064" cy="512064"/>
          </a:xfrm>
          <a:prstGeom prst="ellipse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9477" y="16916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2423160"/>
            <a:ext cx="2453563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2697480"/>
            <a:ext cx="208780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命令白名单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9895" y="338328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仅 python/pip/git/echo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shlex + shell=False + 子命令级校验（封堵内联代码/安装入口）</a:t>
            </a:r>
          </a:p>
        </p:txBody>
      </p:sp>
      <p:sp>
        <p:nvSpPr>
          <p:cNvPr id="22" name="Chevron 21"/>
          <p:cNvSpPr/>
          <p:nvPr/>
        </p:nvSpPr>
        <p:spPr>
          <a:xfrm>
            <a:off x="8750579" y="3383280"/>
            <a:ext cx="329184" cy="365760"/>
          </a:xfrm>
          <a:prstGeom prst="chevron">
            <a:avLst/>
          </a:prstGeom>
          <a:solidFill>
            <a:srgbClr val="D3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68801" y="1691640"/>
            <a:ext cx="512064" cy="512064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68801" y="16916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051" y="2423160"/>
            <a:ext cx="2453563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0931" y="2697480"/>
            <a:ext cx="208780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熔断审批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219" y="338328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高危操作挂起后台线程</a:t>
            </a:r>
          </a:p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强制人工二次确认，超时自动驳回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02920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实测拦截验证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tasklist 不在白名单 → 拒绝执行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python -c 内联代码 / pip install → 子命令级拒绝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echo 命令含 &gt; 重定向 / ../ 穿越 → 参数级拦截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读取/写入 C:\Windows → 越界判定拒绝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安全只读模式下任何写盘 → 权限拦截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核心创新 · 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高危操作：熔断挂起，人类安全员拍板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独立审批弹窗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检测到越界写盘 / 删除 / 命令执行时，后台写盘线程强行阻塞，等待人工决策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透明展示上下文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弹窗展示申请工具、目标路径与即将执行的命令/写入内容，杜绝“盲批”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授权 / 驳回双通道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驳回则工具不执行并如实反馈模型；授权才放行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超时安全兜底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5 分钟无响应自动按驳回处理，并关闭残留弹窗防误导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审批入审计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批准/驳回均记入哈希链，critical 级告警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828800"/>
            <a:ext cx="5074920" cy="300071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b_审批弹窗_含待审内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956816"/>
            <a:ext cx="4818888" cy="26062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4884379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图 2  隐盾安全决策网关拦截弹窗（含待审命令/内容）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核心创新 · 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全链路审计黑匣子：可追溯 · 不可篡改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120640" cy="47243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审计面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82495"/>
            <a:ext cx="4864607" cy="42448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3364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图 3  审计面板：统计概览 / 哈希链状态 / 事件筛选 / 一键导出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9164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HMAC-SHA256 哈希链</a:t>
            </a: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每条日志哈希覆盖自身+前一条，篡改即校验失败并告警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全事件覆盖</a:t>
            </a: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LLM 输入输出 / 工具调用 / 脱敏还原 / 审批决策，逐条留痕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审计自身不泄露</a:t>
            </a: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落盘前统一掩码，只存脱敏预览与长度，杜绝二次泄露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密钥与数据分离</a:t>
            </a: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审计 HMAC 密钥存用户目录，与被保护日志不同盘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报告导出</a:t>
            </a:r>
            <a:r>
              <a:rPr sz="12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   JSON / HTML 一键导出，含哈希链可视化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核心创新 · 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脱敏 RAG：机密文档本地检索，向量库零明文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889699" cy="1371600"/>
          </a:xfrm>
          <a:prstGeom prst="roundRect">
            <a:avLst>
              <a:gd name="adj" fmla="val 8000"/>
            </a:avLst>
          </a:prstGeom>
          <a:solidFill>
            <a:srgbClr val="0E7A4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965960"/>
            <a:ext cx="17068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机密文档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1" y="2560320"/>
            <a:ext cx="17433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PDF/Word/Excel/TXT</a:t>
            </a:r>
          </a:p>
        </p:txBody>
      </p:sp>
      <p:sp>
        <p:nvSpPr>
          <p:cNvPr id="8" name="Chevron 7"/>
          <p:cNvSpPr/>
          <p:nvPr/>
        </p:nvSpPr>
        <p:spPr>
          <a:xfrm>
            <a:off x="2548067" y="2331720"/>
            <a:ext cx="329184" cy="329184"/>
          </a:xfrm>
          <a:prstGeom prst="chevron">
            <a:avLst/>
          </a:prstGeom>
          <a:solidFill>
            <a:srgbClr val="6B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95539" y="1783080"/>
            <a:ext cx="1889699" cy="1371600"/>
          </a:xfrm>
          <a:prstGeom prst="roundRect">
            <a:avLst>
              <a:gd name="adj" fmla="val 8000"/>
            </a:avLst>
          </a:prstGeom>
          <a:solidFill>
            <a:srgbClr val="0E7A4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6979" y="1965960"/>
            <a:ext cx="17068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逐块脱敏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8691" y="2560320"/>
            <a:ext cx="17433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入库前实体占位符化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3526" y="2331720"/>
            <a:ext cx="329184" cy="329184"/>
          </a:xfrm>
          <a:prstGeom prst="chevron">
            <a:avLst/>
          </a:prstGeom>
          <a:solidFill>
            <a:srgbClr val="6B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50998" y="1783080"/>
            <a:ext cx="1889699" cy="1371600"/>
          </a:xfrm>
          <a:prstGeom prst="roundRect">
            <a:avLst>
              <a:gd name="adj" fmla="val 8000"/>
            </a:avLst>
          </a:prstGeom>
          <a:solidFill>
            <a:srgbClr val="E8590C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2438" y="1965960"/>
            <a:ext cx="17068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向量化入库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4150" y="2560320"/>
            <a:ext cx="17433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只存占位符文本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8985" y="2331720"/>
            <a:ext cx="329184" cy="329184"/>
          </a:xfrm>
          <a:prstGeom prst="chevron">
            <a:avLst/>
          </a:prstGeom>
          <a:solidFill>
            <a:srgbClr val="6B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06457" y="1783080"/>
            <a:ext cx="1889699" cy="1371600"/>
          </a:xfrm>
          <a:prstGeom prst="roundRect">
            <a:avLst>
              <a:gd name="adj" fmla="val 8000"/>
            </a:avLst>
          </a:prstGeom>
          <a:solidFill>
            <a:srgbClr val="0E7A4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7897" y="1965960"/>
            <a:ext cx="17068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语义检索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609" y="2560320"/>
            <a:ext cx="17433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KB_ 前缀隔离</a:t>
            </a:r>
          </a:p>
        </p:txBody>
      </p:sp>
      <p:sp>
        <p:nvSpPr>
          <p:cNvPr id="20" name="Chevron 19"/>
          <p:cNvSpPr/>
          <p:nvPr/>
        </p:nvSpPr>
        <p:spPr>
          <a:xfrm>
            <a:off x="9314444" y="2331720"/>
            <a:ext cx="329184" cy="329184"/>
          </a:xfrm>
          <a:prstGeom prst="chevron">
            <a:avLst/>
          </a:prstGeom>
          <a:solidFill>
            <a:srgbClr val="6B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1916" y="1783080"/>
            <a:ext cx="1889699" cy="1371600"/>
          </a:xfrm>
          <a:prstGeom prst="roundRect">
            <a:avLst>
              <a:gd name="adj" fmla="val 8000"/>
            </a:avLst>
          </a:prstGeom>
          <a:solidFill>
            <a:srgbClr val="0E7A4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3356" y="1965960"/>
            <a:ext cx="17068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还原呈现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5068" y="2560320"/>
            <a:ext cx="17433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回答自动还原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11880"/>
            <a:ext cx="10911535" cy="2286000"/>
          </a:xfrm>
          <a:prstGeom prst="roundRect">
            <a:avLst>
              <a:gd name="adj" fmla="val 5000"/>
            </a:avLst>
          </a:prstGeom>
          <a:solidFill>
            <a:srgbClr val="E7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84048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为什么安全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文档在向量化前逐块过脱敏引擎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向量库中只存占位符，真实隐私永不落盘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即使接云端 API，检索片段也是脱敏态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检索结果全局重命名，避免占位符冲突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886200"/>
            <a:ext cx="484632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0</a:t>
            </a:r>
          </a:p>
          <a:p>
            <a:pPr algn="ctr"/>
            <a:r>
              <a:rPr sz="14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向量库实测残留真实敏感数据 = 0</a:t>
            </a:r>
          </a:p>
          <a:p>
            <a:pPr algn="ct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（逐 chunk 扫描验证）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核心创新 · 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脱敏 RAG 知识库 · 实测闭环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94960" cy="397221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知识库入库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819656"/>
            <a:ext cx="5138928" cy="35398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718717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① 3 篇文档入库（入库即逐块脱敏），向量库零明文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394960" cy="3915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_知识库检索回答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819656"/>
            <a:ext cx="5138928" cy="34860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5662304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② 检索命中占位符 → 输出层还原真实值呈现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6364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闭环要点：</a:t>
            </a:r>
            <a:r>
              <a:rPr sz="130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模型全程只接触占位符；真实值仅在本地输出层还原，云端/向量库/审计均无明文。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功能实测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全链路演示：脱敏 → 审批 → 写盘 → 还原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029200" cy="479912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隐私对话演示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82495"/>
            <a:ext cx="4773168" cy="43118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08465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图 4  实测：模型调用工具、审批放行、文件创建、回复还原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691640"/>
            <a:ext cx="53949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演示指令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“把客户张伟的手机号/身份证/邮箱保存到 客户信息.txt”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1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用户输入含 4 类 PII，网关先脱敏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2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云端模型只收到占位符（零明文出网）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3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模型自主发起 create_local_file 工具调用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4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策略引擎熔断 → 弹出人工审批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5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安全员授权 → 沙箱内文件真实创建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6  </a:t>
            </a:r>
            <a:r>
              <a:rPr sz="1350" b="0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回复中的占位符自动还原明文呈现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54406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磁盘文件逐字校验一致 · 全程审计留痕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安全工程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红队 → 修复 → 回归：自我攻击式质量闭环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148840"/>
            <a:ext cx="36576" cy="566928"/>
          </a:xfrm>
          <a:prstGeom prst="rect">
            <a:avLst/>
          </a:prstGeom>
          <a:solidFill>
            <a:srgbClr val="D3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673352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红队对抗测试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1226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两轮红队：动态攻击验证 + 通读 15 个核心模块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" y="3136392"/>
            <a:ext cx="36576" cy="566928"/>
          </a:xfrm>
          <a:prstGeom prst="rect">
            <a:avLst/>
          </a:prstGeom>
          <a:solidFill>
            <a:srgbClr val="D3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660904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分级问题清单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9981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P0–P3 严重度分级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含可复现证据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666744"/>
            <a:ext cx="457200" cy="457200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667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" y="4123944"/>
            <a:ext cx="36576" cy="566928"/>
          </a:xfrm>
          <a:prstGeom prst="rect">
            <a:avLst/>
          </a:prstGeom>
          <a:solidFill>
            <a:srgbClr val="D3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648456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逐项修复加固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08736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20+ 项修复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含调用方一致性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654296"/>
            <a:ext cx="457200" cy="457200"/>
          </a:xfrm>
          <a:prstGeom prst="ellipse">
            <a:avLst/>
          </a:prstGeom>
          <a:solidFill>
            <a:srgbClr val="0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542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636008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回归测试固化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0749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用例沉淀为测试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防复发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16916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安全内核级问题（节选，均可 git 追溯）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126480" y="2084831"/>
          <a:ext cx="539495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39"/>
                <a:gridCol w="1417320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核心问题</a:t>
                      </a:r>
                    </a:p>
                  </a:txBody>
                  <a:tcPr>
                    <a:solidFill>
                      <a:srgbClr val="0E7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提交</a:t>
                      </a:r>
                    </a:p>
                  </a:txBody>
                  <a:tcPr>
                    <a:solidFill>
                      <a:srgbClr val="0E7A4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命令执行 shell=True+黑名单可绕过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A5C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357907f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沙箱默认放行任意绝对路径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A5C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357907f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审批共用单 Event，点一个放行全部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A5C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e17fd83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工作流绕过隐私网关，原文直发云端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A5C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357907f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审计还原后落盘，泄露明文 PII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A5C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a79645c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占位符可预测，被植入字面量劫持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A5C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a79645c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3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映射表明文落盘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A5C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9150bf9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126480" y="544068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E8590C"/>
                </a:solidFill>
                <a:latin typeface="微软雅黑"/>
                <a:ea typeface="微软雅黑"/>
                <a:cs typeface="微软雅黑"/>
              </a:rPr>
              <a:t>诚实披露：</a:t>
            </a:r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实测发现 7B 本地模型工具调用可靠性问题（幻觉谎称已保存），多层防御保证零实际写盘，已作为已知局限写入报告。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质量与交付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全量回归通过 · 一键安装包就绪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8 个测试套件 · 全部通过（含攻防评测 9 项实验）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48640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94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隐私引擎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103120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实体/脱敏/还原/nonce/strict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2103120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548640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2194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审计黑匣子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788920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哈希链/防篡改/一致性 14/14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788920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548640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2194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记忆管理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474720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摘要/跨轮还原/序列化 6/6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474720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60520"/>
            <a:ext cx="548640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2194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工作流 + 知识库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160520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执行/审批链/导出；入库检索零明文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4160520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46320"/>
            <a:ext cx="548640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46320"/>
            <a:ext cx="2194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白名单（新增）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846320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16 项高危入口全拦截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4846320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532120"/>
            <a:ext cx="548640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532120"/>
            <a:ext cx="2194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微软雅黑"/>
                <a:ea typeface="微软雅黑"/>
                <a:cs typeface="微软雅黑"/>
              </a:rPr>
              <a:t>取消 + 回归（新增）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5532120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取消 0.33s 返回；泄露 0 / 误伤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5532120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A4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1737360"/>
            <a:ext cx="4983480" cy="4206240"/>
          </a:xfrm>
          <a:prstGeom prst="roundRect">
            <a:avLst>
              <a:gd name="adj" fmla="val 5000"/>
            </a:avLst>
          </a:prstGeom>
          <a:solidFill>
            <a:srgbClr val="0A5C3B"/>
          </a:solidFill>
          <a:ln>
            <a:noFill/>
          </a:ln>
          <a:effectLst/>
          <a:effectLst>
            <a:outerShdw blurRad="101600" dist="25400" dir="5400000" rotWithShape="0">
              <a:srgbClr val="0B2A1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2057400"/>
            <a:ext cx="4434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99 MB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063240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FD3B4"/>
                </a:solidFill>
                <a:latin typeface="微软雅黑"/>
                <a:ea typeface="微软雅黑"/>
                <a:cs typeface="微软雅黑"/>
              </a:rPr>
              <a:t>一键安装包  ·  Windows 安装向导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3611880"/>
            <a:ext cx="4160520" cy="18288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3794760"/>
            <a:ext cx="4434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PySide6 + LangChain 全依赖自包含（PyInstaller）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装到用户目录，无需管理员权限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桌面/开始菜单快捷方式 + 卸载器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随附《使用说明》：本地/云端算力两步接入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585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72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FD3B4"/>
                </a:solidFill>
                <a:latin typeface="微软雅黑"/>
                <a:ea typeface="微软雅黑"/>
                <a:cs typeface="微软雅黑"/>
              </a:rP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一套让大模型安全处理涉密办公数据的端到端方案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188969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7EE2A8"/>
                </a:solidFill>
                <a:latin typeface="微软雅黑"/>
                <a:ea typeface="微软雅黑"/>
                <a:cs typeface="微软雅黑"/>
              </a:rPr>
              <a:t>1.6万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8896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FE8DA"/>
                </a:solidFill>
                <a:latin typeface="微软雅黑"/>
                <a:ea typeface="微软雅黑"/>
                <a:cs typeface="微软雅黑"/>
              </a:rPr>
              <a:t>行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539" y="2514600"/>
            <a:ext cx="188969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5539" y="3337560"/>
            <a:ext cx="18896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FE8DA"/>
                </a:solidFill>
                <a:latin typeface="微软雅黑"/>
                <a:ea typeface="微软雅黑"/>
                <a:cs typeface="微软雅黑"/>
              </a:rPr>
              <a:t>类实体脱敏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0998" y="2514600"/>
            <a:ext cx="188969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7EE2A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0998" y="3337560"/>
            <a:ext cx="18896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FE8DA"/>
                </a:solidFill>
                <a:latin typeface="微软雅黑"/>
                <a:ea typeface="微软雅黑"/>
                <a:cs typeface="微软雅黑"/>
              </a:rPr>
              <a:t>层纵深防御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457" y="2514600"/>
            <a:ext cx="188969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20+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457" y="3337560"/>
            <a:ext cx="18896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FE8DA"/>
                </a:solidFill>
                <a:latin typeface="微软雅黑"/>
                <a:ea typeface="微软雅黑"/>
                <a:cs typeface="微软雅黑"/>
              </a:rPr>
              <a:t>项安全修复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61916" y="2514600"/>
            <a:ext cx="188969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7EE2A8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1916" y="3337560"/>
            <a:ext cx="18896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FE8DA"/>
                </a:solidFill>
                <a:latin typeface="微软雅黑"/>
                <a:ea typeface="微软雅黑"/>
                <a:cs typeface="微软雅黑"/>
              </a:rPr>
              <a:t>套件回归通过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977639"/>
            <a:ext cx="10911535" cy="18288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5669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7EE2A8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▸  </a:t>
            </a:r>
            <a:r>
              <a:rPr sz="13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工具调用结果二次核验，杜绝幻觉式假成功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▸  </a:t>
            </a:r>
            <a:r>
              <a:rPr sz="13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审计链头外部锚定，抵御整体重算哈希链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▸  </a:t>
            </a:r>
            <a:r>
              <a:rPr sz="13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策略引擎规则可视化编辑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F0B45C"/>
                </a:solidFill>
                <a:latin typeface="微软雅黑"/>
                <a:ea typeface="微软雅黑"/>
                <a:cs typeface="微软雅黑"/>
              </a:rPr>
              <a:t>▸  </a:t>
            </a:r>
            <a:r>
              <a:rPr sz="1350" b="0">
                <a:solidFill>
                  <a:srgbClr val="EAF5EF"/>
                </a:solidFill>
                <a:latin typeface="微软雅黑"/>
                <a:ea typeface="微软雅黑"/>
                <a:cs typeface="微软雅黑"/>
              </a:rPr>
              <a:t>CI 接入 bandit/semgrep 静态安全扫描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484632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让本地 AI</a:t>
            </a:r>
          </a:p>
          <a:p>
            <a:pPr algn="r"/>
            <a:r>
              <a:rPr sz="2400" b="1">
                <a:solidFill>
                  <a:srgbClr val="7EE2A8"/>
                </a:solidFill>
                <a:latin typeface="微软雅黑"/>
                <a:ea typeface="微软雅黑"/>
                <a:cs typeface="微软雅黑"/>
              </a:rPr>
              <a:t>更安全 · 更智能 · 更可控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0936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9C86"/>
                </a:solidFill>
                <a:latin typeface="微软雅黑"/>
                <a:ea typeface="微软雅黑"/>
                <a:cs typeface="微软雅黑"/>
              </a:rPr>
              <a:t>隐盾安全智能体 · Yindun Team · 2026    |    技术报告 · 仅供学习研究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