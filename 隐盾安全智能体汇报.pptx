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6" r:id="rId11"/>
    <p:sldId id="263" r:id="rId12"/>
    <p:sldId id="264" r:id="rId13"/>
    <p:sldId id="265" r:id="rId14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6" userDrawn="1">
          <p15:clr>
            <a:srgbClr val="A4A3A4"/>
          </p15:clr>
        </p15:guide>
        <p15:guide id="2" pos="28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826"/>
    <a:srgbClr val="EEF6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46"/>
        <p:guide pos="2893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开场不念目录。第一句话：涉密办公要用 AI，但敏感原文不能出本机——我们做的是让这件事可落地。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出发点很直接：涉密办公要用 AI，但敏感原文不能出本机。风险集中在四个环节：发给 AI 时原文出网、存到电脑里留下副本、历史记录越积越多、AI 动手时未经确认就写删改。我们对应做了四道本地控制：入口脱敏、脱敏日志加加密存储、会话加密加审计、审批加权限。右边这张图说明分工：你的数据先经过隐盾内核，模型只收到占位符；回答回来由本机还原。框架负责识别、脱敏、权限、审批、审计，模型只做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先总后分：上面一组是三组能力，回答“能做什么”；下面一组是四个目标，回答“做到什么程度”。三组能力分别是对话与资料、文件操作与审计、统一后台；四个目标分别是可用、不可见、可审计、可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Luhn，身份证看 18 位形状与出生日期，带分隔符的形态再过校验位；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链和锚点，徽标不是缓存；现场可以直接点一次盾牌图标验证。左下这张图是实测：删掉尾部 331 条后打开审计面板，锚点记录 5177 条、现有 4846 条，校验立即报“尾部被截断”；重建锚点必须人工确认，不会自动接受被删改的链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扩展性有三条边界。laya 是近一个月才火起来的决策模型，我们第一时间接进项目：用它判断动作本身危不危险，本机优先、局域网次之、正则兜底，来源如实标注；它只做建议、不参与放行。插件只有建议型和增强型能力，判定类钩子永久禁止，所以它是能力插座，不是权限后门。控制面只上报掩码事件与元数据，策略只能收紧，默认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张卡片分别是态势总览、事件台账、策略下发、统计分析。控制端不是新的模型能力，而是把端点已经落盘的掩码事件集中起来看：它看到的和端点本地审计落盘的内容一样，掩码态、链头、元数据，拿不到真值，也不代理模型流量。策略只能收紧：敏感路径取并集、审批下限取更严，豁免/放行/白名单不在通路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第一个创新是内存级脱敏网关：模型物理上看不见真值，机密性是架构保证，不是识别率保证；对已识别实体，出网明文 0 例。第二个是先判用途再判操作：先问这件事该不该做，再问操作对不对得上；收集个人信息去出售，在模型和工具之前就拒绝。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第三个创新是 laya 决策模型的快速适配：它是近一个月才火起来的决策模型，我们第一时间接进项目，用它判断动作本身危不危险；本机优先、局域网次之、正则兜底，只做建议、不参与放行。第四个是脱敏知识库：入库即逐块脱敏，向量库只存占位符，检索结果明确标注片段不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GIF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GIF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GIF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image" Target="../media/image4.png"/><Relationship Id="rId9" Type="http://schemas.openxmlformats.org/officeDocument/2006/relationships/slideLayout" Target="../slideLayouts/slideLayout7.xml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5.GIF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tags" Target="../tags/tag7.xml"/><Relationship Id="rId3" Type="http://schemas.openxmlformats.org/officeDocument/2006/relationships/image" Target="../media/image7.png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Relationship Id="rId7" Type="http://schemas.openxmlformats.org/officeDocument/2006/relationships/image" Target="../media/image8.png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image" Target="../media/image9.png"/><Relationship Id="rId12" Type="http://schemas.openxmlformats.org/officeDocument/2006/relationships/tags" Target="../tags/tag14.xml"/><Relationship Id="rId13" Type="http://schemas.openxmlformats.org/officeDocument/2006/relationships/tags" Target="../tags/tag15.xml"/><Relationship Id="rId14" Type="http://schemas.openxmlformats.org/officeDocument/2006/relationships/slideLayout" Target="../slideLayouts/slideLayout7.xml"/><Relationship Id="rId15" Type="http://schemas.openxmlformats.org/officeDocument/2006/relationships/notesSlide" Target="../notesSlides/notesSlide8.xml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png"/><Relationship Id="rId21" Type="http://schemas.openxmlformats.org/officeDocument/2006/relationships/image" Target="../media/image19.png"/><Relationship Id="rId22" Type="http://schemas.openxmlformats.org/officeDocument/2006/relationships/image" Target="../media/image20.png"/><Relationship Id="rId23" Type="http://schemas.openxmlformats.org/officeDocument/2006/relationships/image" Target="../media/image21.png"/><Relationship Id="rId24" Type="http://schemas.openxmlformats.org/officeDocument/2006/relationships/image" Target="../media/image22.png"/><Relationship Id="rId25" Type="http://schemas.openxmlformats.org/officeDocument/2006/relationships/image" Target="../media/image23.png"/><Relationship Id="rId26" Type="http://schemas.openxmlformats.org/officeDocument/2006/relationships/image" Target="../media/image24.png"/><Relationship Id="rId27" Type="http://schemas.openxmlformats.org/officeDocument/2006/relationships/image" Target="../media/image25.png"/><Relationship Id="rId28" Type="http://schemas.openxmlformats.org/officeDocument/2006/relationships/image" Target="../media/image26.png"/><Relationship Id="rId29" Type="http://schemas.openxmlformats.org/officeDocument/2006/relationships/image" Target="../media/image27.png"/><Relationship Id="rId30" Type="http://schemas.openxmlformats.org/officeDocument/2006/relationships/image" Target="../media/image28.png"/><Relationship Id="rId31" Type="http://schemas.openxmlformats.org/officeDocument/2006/relationships/image" Target="../media/image2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GIF"/><Relationship Id="rId2" Type="http://schemas.openxmlformats.org/officeDocument/2006/relationships/image" Target="../media/image11.GIF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GIF"/><Relationship Id="rId2" Type="http://schemas.openxmlformats.org/officeDocument/2006/relationships/image" Target="../media/image13.GIF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42288"/>
            <a:ext cx="8887968" cy="830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隐盾安全智能体</a:t>
            </a:r>
            <a:endParaRPr sz="54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429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面向数据隐私安全的 AI 协同办公桌面智能体</a:t>
            </a:r>
            <a:endParaRPr sz="24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D6EBE0"/>
                </a:solidFill>
                <a:latin typeface="楷体" panose="02010609060101010101" charset="-122"/>
                <a:ea typeface="楷体" panose="02010609060101010101" charset="-122"/>
              </a:rPr>
              <a:t>让 AI 看得见任务，看不见隐私</a:t>
            </a:r>
            <a:endParaRPr sz="2000" b="0">
              <a:solidFill>
                <a:srgbClr val="D6EBE0"/>
              </a:solidFill>
              <a:latin typeface="楷体" panose="02010609060101010101" charset="-122"/>
              <a:ea typeface="楷体" panose="02010609060101010101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581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星辰大海 团队</a:t>
            </a:r>
            <a:endParaRPr sz="19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50000"/>
              </a:lnSpc>
            </a:pPr>
            <a:r>
              <a:rPr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计算机科学与网络工程学院</a:t>
            </a:r>
            <a:endParaRPr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50000"/>
              </a:lnSpc>
            </a:pPr>
            <a:r>
              <a:rPr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指导老师：王艳        队长：余齐政</a:t>
            </a:r>
            <a:endParaRPr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50000"/>
              </a:lnSpc>
            </a:pPr>
            <a:r>
              <a:rPr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队员：孙良硕　薛晓晴　陈俊豪　张晶</a:t>
            </a:r>
            <a:endParaRPr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17000"/>
              </a:lnSpc>
            </a:pP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2026 年 10 月</a:t>
            </a:r>
            <a:endParaRPr sz="1900" b="1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6" name="Rounded Rectangle 35"/>
          <p:cNvSpPr/>
          <p:nvPr/>
        </p:nvSpPr>
        <p:spPr>
          <a:xfrm>
            <a:off x="5440680" y="2005965"/>
            <a:ext cx="3886835" cy="288290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涉密办公用 AI：敏感原文不出本机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882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四个泄露环节，对应四道本地控制；模型只收到占位符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86410" y="1810385"/>
            <a:ext cx="2283460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968" y="194767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发给 AI 时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2968" y="2286000"/>
            <a:ext cx="1947672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聊天内容会离开这台电脑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3296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968" y="2898648"/>
            <a:ext cx="1947672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入口脱敏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904490" y="1810385"/>
            <a:ext cx="2294890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1048" y="194767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存到电脑里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051048" y="2286000"/>
            <a:ext cx="1947672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缓存和日志可能留下原文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05104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51175" y="2898775"/>
            <a:ext cx="2107565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脱敏日志</a:t>
            </a:r>
            <a:r>
              <a:rPr lang="en-US"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lang="en-US"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加密存储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86410" y="3408680"/>
            <a:ext cx="2283460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2968" y="3545840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历史记录里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32968" y="3884168"/>
            <a:ext cx="1947672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会话、知识库越积越多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32968" y="44236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968" y="4496816"/>
            <a:ext cx="1947672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会话加密 + 审计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2904490" y="3408680"/>
            <a:ext cx="2294255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1048" y="3545840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AI 动手时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051175" y="3884295"/>
            <a:ext cx="2056130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未经确认就写、删、改文件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051048" y="44236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51048" y="4496816"/>
            <a:ext cx="1947672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审批 + 权限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440680" y="1688465"/>
            <a:ext cx="6245352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架构分工：真值止于本机，模型只做推理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559298" y="2106168"/>
            <a:ext cx="18288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本机可信域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559425" y="2503805"/>
            <a:ext cx="1222375" cy="94043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45988" y="2626614"/>
            <a:ext cx="859536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① 你的数据</a:t>
            </a:r>
            <a:endParaRPr sz="12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631815" y="2952750"/>
            <a:ext cx="1089025" cy="4133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indent="0" algn="ctr" fontAlgn="auto">
              <a:lnSpc>
                <a:spcPct val="115000"/>
              </a:lnSpc>
            </a:pPr>
            <a:r>
              <a:rPr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姓名</a:t>
            </a:r>
            <a:r>
              <a:rPr 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 / </a:t>
            </a:r>
            <a: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手机号</a:t>
            </a:r>
            <a:b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</a:br>
            <a:r>
              <a:rPr lang="en-US" altLang="zh-CN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/ </a:t>
            </a:r>
            <a: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地址</a:t>
            </a:r>
            <a:r>
              <a:rPr lang="en-US" altLang="zh-CN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等</a:t>
            </a:r>
            <a:endParaRPr lang="zh-CN" altLang="en-US" sz="105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7165975" y="2504440"/>
            <a:ext cx="1572895" cy="941070"/>
          </a:xfrm>
          <a:prstGeom prst="roundRect">
            <a:avLst>
              <a:gd name="adj" fmla="val 7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7288" y="2626360"/>
            <a:ext cx="138988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② 隐盾内核</a:t>
            </a:r>
            <a:endParaRPr sz="12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257288" y="2910840"/>
            <a:ext cx="1389888" cy="370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识别 · 脱敏 · 权限
审批 · 审计</a:t>
            </a:r>
            <a:endParaRPr sz="105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9835515" y="2503170"/>
            <a:ext cx="1901825" cy="91567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93935" y="2626360"/>
            <a:ext cx="1719072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③ 云端 / 本地模型</a:t>
            </a:r>
            <a:endParaRPr sz="12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926955" y="2988310"/>
            <a:ext cx="1719072" cy="161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只推理 · 只看见占位符</a:t>
            </a:r>
            <a:endParaRPr sz="105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815455" y="3711575"/>
            <a:ext cx="2298065" cy="42037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143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09435" y="3823970"/>
            <a:ext cx="2092325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④ 本机还原：占位符换回真值</a:t>
            </a:r>
            <a:endParaRPr sz="12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48" name="Connector 47"/>
          <p:cNvCxnSpPr/>
          <p:nvPr/>
        </p:nvCxnSpPr>
        <p:spPr>
          <a:xfrm>
            <a:off x="6781800" y="2952496"/>
            <a:ext cx="384048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8733536" y="2952496"/>
            <a:ext cx="1106170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8733536" y="2689733"/>
            <a:ext cx="100584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只发占位符</a:t>
            </a:r>
            <a:endParaRPr sz="12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51" name="Connector 50"/>
          <p:cNvCxnSpPr/>
          <p:nvPr/>
        </p:nvCxnSpPr>
        <p:spPr>
          <a:xfrm>
            <a:off x="10819511" y="3418840"/>
            <a:ext cx="0" cy="50292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52" name="Connector 51"/>
          <p:cNvCxnSpPr>
            <a:endCxn id="46" idx="3"/>
          </p:cNvCxnSpPr>
          <p:nvPr/>
        </p:nvCxnSpPr>
        <p:spPr>
          <a:xfrm flipH="1">
            <a:off x="9113266" y="3921760"/>
            <a:ext cx="1706245" cy="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9839960" y="4008120"/>
            <a:ext cx="1097915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返回仍是占位符</a:t>
            </a:r>
            <a:endParaRPr sz="12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54" name="Connector 53"/>
          <p:cNvCxnSpPr/>
          <p:nvPr/>
        </p:nvCxnSpPr>
        <p:spPr>
          <a:xfrm>
            <a:off x="9724136" y="2321560"/>
            <a:ext cx="0" cy="1874520"/>
          </a:xfrm>
          <a:prstGeom prst="line">
            <a:avLst/>
          </a:prstGeom>
          <a:ln w="12700">
            <a:solidFill>
              <a:srgbClr val="005826"/>
            </a:solidFill>
            <a:prstDash val="dash"/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9239758" y="2070608"/>
            <a:ext cx="969264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信任边界</a:t>
            </a:r>
            <a:endParaRPr sz="14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577840" y="4333240"/>
            <a:ext cx="3749039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框架负责：识别 · 脱敏 · 权限 · 审批 · 审计</a:t>
            </a:r>
            <a:endParaRPr sz="12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577840" y="4589272"/>
            <a:ext cx="3749039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模型负责：只做推理，只收到占位符</a:t>
            </a:r>
            <a:endParaRPr sz="12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512064" y="5130800"/>
            <a:ext cx="11173968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2064" y="5222240"/>
            <a:ext cx="11173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隐盾 = 面向涉密办公的本地化隐私防护桌面智能体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512064" y="5542280"/>
            <a:ext cx="1117396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数据进模型前脱敏，回答回本机还原；模型侧看不到姓名、文件内容与历史记录。</a:t>
            </a:r>
            <a:endParaRPr sz="14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12064" y="588772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2" name="TextBox 61"/>
          <p:cNvSpPr txBox="1"/>
          <p:nvPr/>
        </p:nvSpPr>
        <p:spPr>
          <a:xfrm>
            <a:off x="694944" y="6054344"/>
            <a:ext cx="694944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设计目标：可用 · 不可见 · 可审计 · 可部署</a:t>
            </a:r>
            <a:endParaRPr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589520" y="6070600"/>
            <a:ext cx="39319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适用：律所 / 医院 / 制造 / 政府外包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02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三组能力覆盖办公流程，四个目标定义交付标准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882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能力回答“能做什么”，目标回答“做到什么程度”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12064" y="165811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685544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一、三组能力 · 能做什么</a:t>
            </a:r>
            <a:endParaRPr sz="19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12064" y="2023871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" y="214172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288032"/>
            <a:ext cx="321868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01 对话与资料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3232" y="2758440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脱敏对话：27 类实体替换为占位符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13232" y="3248152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脱敏知识库：入库即脱敏，零明文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13232" y="3742944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检索结果标注「片段不是全文」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4288536" y="214172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9703" y="2288032"/>
            <a:ext cx="321868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02 文件操作与审计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489703" y="2758440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15 个文件与办公工具，覆盖常用目录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489703" y="3248152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写盘、删除、命令执行前熔断审批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489703" y="3742944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工具、审批、还原全部写入哈希链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8065008" y="214172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6176" y="2288032"/>
            <a:ext cx="321868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03 统一后台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266176" y="2758440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控制面只汇总掩码事件与元数据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266176" y="3248152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策略只能收紧，上报默认关闭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266176" y="3742944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插件：能力可扩展，判定权不外包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512064" y="453847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4565904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二、四个目标 · 做到什么程度</a:t>
            </a:r>
            <a:endParaRPr sz="19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512064" y="4904232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1206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可用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7665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2B/4B 量化模型 · CPU 可跑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334670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1129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不可见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51129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已识别实体出网明文 0 例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18134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4593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可审计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34593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工具 / 审批 / 还原全部留痕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01598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57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可部署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18057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标准安装包 + 单文件试用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03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8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模型全程看不见隐私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247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识别在本地、由规则完成；模型只负责推理，不负责判断哪些是隐私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privacy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095" y="1659255"/>
            <a:ext cx="6146800" cy="384238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30088"/>
            <a:ext cx="57607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完整流程：输入 → 发送 → 模型加载 → 回答还原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542405" y="1659255"/>
            <a:ext cx="5166360" cy="387096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5285" y="1787398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本地正则 + 精验，不调用模型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725285" y="2180590"/>
            <a:ext cx="4800600" cy="996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lang="en-US" sz="16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6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手机号看 11 位；银行卡过 Luhn；身份证看 18 位形状与出生日期，带分隔符的形态再过校验位；人名看姓氏表 ∩ 触发词窗口。</a:t>
            </a:r>
            <a:endParaRPr sz="16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725285" y="3456813"/>
            <a:ext cx="4800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用户看到</a:t>
            </a:r>
            <a:endParaRPr sz="1600" b="1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24675" y="3757930"/>
            <a:ext cx="4501515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>
                <a:solidFill>
                  <a:srgbClr val="1F2329"/>
                </a:solidFill>
                <a:latin typeface="Times New Roman" panose="02020603050405020304"/>
                <a:ea typeface="Times New Roman" panose="02020603050405020304"/>
              </a:rPr>
              <a:t>孙良硕 · 13700001111</a:t>
            </a:r>
            <a:endParaRPr sz="1600" b="1">
              <a:solidFill>
                <a:srgbClr val="1F2329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25285" y="4111117"/>
            <a:ext cx="4800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模型看到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924675" y="4415155"/>
            <a:ext cx="4501515" cy="2330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[NAME_0_</a:t>
            </a:r>
            <a:r>
              <a:rPr lang="en-US" altLang="zh-CN"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4y5v</a:t>
            </a:r>
            <a:r>
              <a:rPr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] · [PHONE_0_</a:t>
            </a:r>
            <a:r>
              <a:rPr lang="en-US" altLang="zh-CN"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me9f</a:t>
            </a:r>
            <a:r>
              <a:rPr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]</a:t>
            </a:r>
            <a:endParaRPr sz="1400"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725285" y="4958080"/>
            <a:ext cx="4800600" cy="3219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映射表加密、不进模型上下文；回答回本机才还原。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94005" y="5928360"/>
            <a:ext cx="11415395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6038088"/>
            <a:ext cx="1117396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对已识别实体，出网明文 0 例；识别靠规则，不靠模型。</a:t>
            </a:r>
            <a:endParaRPr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04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7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三层立体判断：先用途，再意图，最后操作风险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三层回答三个不同问题；判定权在人，不在模型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approval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10385"/>
            <a:ext cx="6255385" cy="390969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0149" y="5878703"/>
            <a:ext cx="5943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完整流程：写文件请求 → 弹窗 → 授权 → 执行成功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695440" y="1810385"/>
            <a:ext cx="5029200" cy="4393565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78320" y="1923288"/>
            <a:ext cx="329184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①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244080" y="1920240"/>
            <a:ext cx="18288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用途红线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244080" y="2238248"/>
            <a:ext cx="42519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内核确定性规则，不依赖模型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244080" y="2499360"/>
            <a:ext cx="4251960" cy="551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收集个人信息 + 出售/牟利 → 模型和工具之前直接拒绝；外发/公开 → 顶部红色警示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878320" y="3176016"/>
            <a:ext cx="329184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②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244080" y="3172968"/>
            <a:ext cx="18288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意图预判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244080" y="3501135"/>
            <a:ext cx="42519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内核规则 + 本地模型补充细节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244080" y="3752088"/>
            <a:ext cx="4251960" cy="551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意图 / 数据 / 去向 / 用途；模型只能加重，不能减轻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878320" y="4464303"/>
            <a:ext cx="329184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③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244080" y="4461256"/>
            <a:ext cx="18288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操作风险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244080" y="4779263"/>
            <a:ext cx="42519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laya 决策模型：本机 → 局域网 → 正则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244080" y="5040376"/>
            <a:ext cx="4251960" cy="2755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高危 / 中危 / 低危；只评动作本身，来源如实标注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878320" y="5473192"/>
            <a:ext cx="461772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8320" y="5687822"/>
            <a:ext cx="46177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B03A2E"/>
                </a:solidFill>
                <a:latin typeface="黑体" panose="02010609060101010101" charset="-122"/>
                <a:ea typeface="黑体" panose="02010609060101010101" charset="-122"/>
              </a:rPr>
              <a:t>用途触线时，「是否相符」不再发言。</a:t>
            </a:r>
            <a:endParaRPr sz="1600" b="1">
              <a:solidFill>
                <a:srgbClr val="B03A2E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05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32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审计黑匣子：每次使用都留痕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501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打开即校验、可追溯；不可写只是其中一个亮点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audit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492240" y="1810385"/>
            <a:ext cx="5166360" cy="46609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>
            <p:custDataLst>
              <p:tags r:id="rId2"/>
            </p:custDataLst>
          </p:nvPr>
        </p:nvSpPr>
        <p:spPr>
          <a:xfrm>
            <a:off x="6675120" y="1938528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打开即校验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>
            <p:custDataLst>
              <p:tags r:id="rId3"/>
            </p:custDataLst>
          </p:nvPr>
        </p:nvSpPr>
        <p:spPr>
          <a:xfrm>
            <a:off x="6675120" y="2284984"/>
            <a:ext cx="48006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每次展开面板都重跑链校验与锚点检查；徽标不是缓存。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4"/>
            </p:custDataLst>
          </p:nvPr>
        </p:nvSpPr>
        <p:spPr>
          <a:xfrm>
            <a:off x="6675120" y="2840736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每条可追溯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>
            <p:custDataLst>
              <p:tags r:id="rId5"/>
            </p:custDataLst>
          </p:nvPr>
        </p:nvSpPr>
        <p:spPr>
          <a:xfrm>
            <a:off x="6675120" y="3187192"/>
            <a:ext cx="4800600" cy="55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工具调用、隐私检测/还原、审批决策都在链上；只存脱敏预览。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TextBox 21"/>
          <p:cNvSpPr txBox="1"/>
          <p:nvPr>
            <p:custDataLst>
              <p:tags r:id="rId6"/>
            </p:custDataLst>
          </p:nvPr>
        </p:nvSpPr>
        <p:spPr>
          <a:xfrm>
            <a:off x="6675120" y="3920744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六种删改可发现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3" name="TextBox 22"/>
          <p:cNvSpPr txBox="1"/>
          <p:nvPr>
            <p:custDataLst>
              <p:tags r:id="rId7"/>
            </p:custDataLst>
          </p:nvPr>
        </p:nvSpPr>
        <p:spPr>
          <a:xfrm>
            <a:off x="6675120" y="4267200"/>
            <a:ext cx="4800600" cy="838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改中间、尾部截断、降级改写、删锚点等，均有回归用例。</a:t>
            </a:r>
            <a:b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</a:b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   </a:t>
            </a:r>
            <a:b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</a:b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 </a:t>
            </a:r>
            <a:r>
              <a:rPr lang="zh-CN" alt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例</a:t>
            </a:r>
            <a:r>
              <a:rPr lang="zh-CN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如：</a:t>
            </a:r>
            <a:endParaRPr lang="zh-CN"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675120" y="5595493"/>
            <a:ext cx="4800600" cy="713232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84848" y="5668645"/>
            <a:ext cx="4590288" cy="551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B47800"/>
                </a:solidFill>
                <a:latin typeface="黑体" panose="02010609060101010101" charset="-122"/>
                <a:ea typeface="黑体" panose="02010609060101010101" charset="-122"/>
              </a:rPr>
              <a:t>边界：能重写整台机器的攻击者超出防护目标。准确说法是“可发现”，不是“物理不可写”。</a:t>
            </a:r>
            <a:endParaRPr sz="1400" b="0">
              <a:solidFill>
                <a:srgbClr val="B4780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06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66355" y="4614545"/>
            <a:ext cx="2828290" cy="882650"/>
          </a:xfrm>
          <a:prstGeom prst="rect">
            <a:avLst/>
          </a:prstGeom>
        </p:spPr>
      </p:pic>
      <p:sp>
        <p:nvSpPr>
          <p:cNvPr id="28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万物皆插件：能力可以通过插件增加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aya 决策模型快速适配；控制端已可用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plugins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810" y="1613535"/>
            <a:ext cx="6128385" cy="3830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604129"/>
            <a:ext cx="539496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插件页：能力清单、运行状态与启停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771640" y="1613535"/>
            <a:ext cx="4867275" cy="3959225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7210" y="1743710"/>
            <a:ext cx="516636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aya 决策模型 · 快速适配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887210" y="2110486"/>
            <a:ext cx="51663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近一个月走红的决策模型，我们第一时间接进项目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887210" y="2402840"/>
            <a:ext cx="4783455" cy="645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150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判断动作本身危不危险，输出高/中/低危
· 本机优先 → 局域网</a:t>
            </a:r>
            <a:r>
              <a:rPr lang="zh-CN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其次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→ 正则回退，来源标明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887210" y="3348990"/>
            <a:ext cx="516636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插件只做加法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887210" y="3682365"/>
            <a:ext cx="4783455" cy="645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150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判定类钩子永久禁止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indent="0" algn="l" fontAlgn="auto">
              <a:lnSpc>
                <a:spcPct val="150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载荷净化 </a:t>
            </a: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超时隔离 </a:t>
            </a: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内核兜底 </a:t>
            </a: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启停即收回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887210" y="4616450"/>
            <a:ext cx="516636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控制面只收紧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887210" y="4949825"/>
            <a:ext cx="4783455" cy="322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150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控制端已交付：集中看掩码事件、下发更严策略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12064" y="600964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6119368"/>
            <a:ext cx="1117396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插件是“能力插座”，不是“权限后门”。</a:t>
            </a:r>
            <a:endParaRPr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07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8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9" name="Rectangle 15"/>
          <p:cNvSpPr/>
          <p:nvPr/>
        </p:nvSpPr>
        <p:spPr>
          <a:xfrm>
            <a:off x="7099300" y="1423035"/>
            <a:ext cx="4867275" cy="5031105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969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1121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939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9091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908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7060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969" cy="9144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841248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控制端：集中看掩码事件，策略只能收紧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310513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管理机统一看端点状态；控制面不接触明文，也不代理模型流量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12064" y="1645920"/>
            <a:ext cx="5394960" cy="233172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2064" y="1645920"/>
            <a:ext cx="54864" cy="23317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" y="170078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05826"/>
                </a:solidFill>
                <a:latin typeface="黑体"/>
                <a:ea typeface="黑体"/>
              </a:rPr>
              <a:t>① 态势总览</a:t>
            </a:r>
          </a:p>
        </p:txBody>
      </p:sp>
      <p:pic>
        <p:nvPicPr>
          <p:cNvPr id="33" name="Picture 32" descr="control_overview_car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17804" y="1956816"/>
            <a:ext cx="4983480" cy="17373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76656" y="372160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E7873"/>
                </a:solidFill>
                <a:latin typeface="黑体"/>
                <a:ea typeface="黑体"/>
              </a:rPr>
              <a:t>证据：在管端点 / 事件 / 高风险 / 链告警 同屏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1645920"/>
            <a:ext cx="5394960" cy="233172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35040" y="1645920"/>
            <a:ext cx="54864" cy="23317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1" y="170078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05826"/>
                </a:solidFill>
                <a:latin typeface="黑体"/>
                <a:ea typeface="黑体"/>
              </a:rPr>
              <a:t>② 事件台账</a:t>
            </a:r>
          </a:p>
        </p:txBody>
      </p:sp>
      <p:pic>
        <p:nvPicPr>
          <p:cNvPr id="38" name="Picture 37" descr="control_events_car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240779" y="1956816"/>
            <a:ext cx="4983480" cy="17373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199631" y="372160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E7873"/>
                </a:solidFill>
                <a:latin typeface="黑体"/>
                <a:ea typeface="黑体"/>
              </a:rPr>
              <a:t>证据：按端点、类型、级别检索；只显示掩码态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2064" y="4069080"/>
            <a:ext cx="5394960" cy="233172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12064" y="4069080"/>
            <a:ext cx="54864" cy="23317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412394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05826"/>
                </a:solidFill>
                <a:latin typeface="黑体"/>
                <a:ea typeface="黑体"/>
              </a:rPr>
              <a:t>③ 策略下发</a:t>
            </a:r>
          </a:p>
        </p:txBody>
      </p:sp>
      <p:pic>
        <p:nvPicPr>
          <p:cNvPr id="43" name="Picture 42" descr="control_policy_car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17804" y="4379976"/>
            <a:ext cx="4983480" cy="173736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76656" y="61447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E7873"/>
                </a:solidFill>
                <a:latin typeface="黑体"/>
                <a:ea typeface="黑体"/>
              </a:rPr>
              <a:t>证据：敏感路径取并集，审批只能更严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35040" y="4069080"/>
            <a:ext cx="5394960" cy="233172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35040" y="4069080"/>
            <a:ext cx="54864" cy="23317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99631" y="412394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05826"/>
                </a:solidFill>
                <a:latin typeface="黑体"/>
                <a:ea typeface="黑体"/>
              </a:rPr>
              <a:t>④ 统计分析</a:t>
            </a:r>
          </a:p>
        </p:txBody>
      </p:sp>
      <p:pic>
        <p:nvPicPr>
          <p:cNvPr id="48" name="Picture 47" descr="control_stats_car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240779" y="4379976"/>
            <a:ext cx="4983480" cy="173736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199631" y="614476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E7873"/>
                </a:solidFill>
                <a:latin typeface="黑体"/>
                <a:ea typeface="黑体"/>
              </a:rPr>
              <a:t>证据：趋势 / 类型 / 分布 / 端点活跃度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" y="6473952"/>
            <a:ext cx="9692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02C13"/>
                </a:solidFill>
                <a:latin typeface="黑体"/>
                <a:ea typeface="黑体"/>
              </a:rPr>
              <a:t>控制面看到的 = 端点本地审计落盘的内容（掩码态），不多一个字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83112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07A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四个创新（一）：网关与用途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每一项配一段真实操作，先看它解决什么问题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11810" y="1737360"/>
            <a:ext cx="5394960" cy="4613275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1810" y="1737360"/>
            <a:ext cx="76200" cy="4613275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3692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①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内存级脱敏网关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08050" y="2205990"/>
            <a:ext cx="482219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入口处完成替换：真值只在本机内存，模型上下文只有占位符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9" name="Picture 18" descr="06_网关占位符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785" y="2647950"/>
            <a:ext cx="5099050" cy="31877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74649" y="5969127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证据：审计里 LLM 输入只有 [NAME_0_x]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31255" y="1737360"/>
            <a:ext cx="5436235" cy="458597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1730" y="1737360"/>
            <a:ext cx="76200" cy="458597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3692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②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先判用途，再判操作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694932" y="2204339"/>
            <a:ext cx="461772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用途触线时直接拒绝：不调用模型，也不给审批放行机会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26" name="Picture 25" descr="07_用途红线拒绝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425" y="2651760"/>
            <a:ext cx="5099685" cy="31877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95059" y="5969127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证据：个人信息 + 出售/牟利 → 模型前拒绝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08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9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四个创新（二）：分级与知识库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aya 第一时间适配；知识库入库即脱敏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11810" y="1614170"/>
            <a:ext cx="5394960" cy="4363085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1810" y="1614170"/>
            <a:ext cx="76200" cy="4363085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74040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③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78992" y="173736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aya 决策模型：</a:t>
            </a:r>
            <a:r>
              <a:rPr lang="zh-CN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高度契合</a:t>
            </a:r>
            <a:endParaRPr lang="zh-CN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23417" y="2066544"/>
            <a:ext cx="461772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alt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决策模型与我们的项目高度适配，第一时间适配并</a:t>
            </a:r>
            <a:r>
              <a:rPr lang="zh-CN" alt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优化</a:t>
            </a:r>
            <a:endParaRPr lang="zh-CN" altLang="en-US"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9" name="Picture 18" descr="08_laya决策模型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215" y="2447290"/>
            <a:ext cx="4847590" cy="30302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635752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证据：本机→局域网→正则；</a:t>
            </a:r>
            <a:r>
              <a:rPr lang="en-US"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Laya </a:t>
            </a:r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只做建议、不参与放行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17285" y="1614170"/>
            <a:ext cx="5450205" cy="4363085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1730" y="1614170"/>
            <a:ext cx="76200" cy="4363085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74040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④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839712" y="173736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脱敏知识库：入库即脱敏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684137" y="2066544"/>
            <a:ext cx="461772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向量库只存占位符；检索标注“片段不是全文”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26" name="Picture 25" descr="demo_kb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280" y="2446020"/>
            <a:ext cx="4897755" cy="306133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635752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证据：入库即脱敏；向量库零明文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09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12064" y="6120003"/>
            <a:ext cx="11173968" cy="3840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184011"/>
            <a:ext cx="1088136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场景：律所 / 医院 / 制造 / 政府外包　</a:t>
            </a:r>
            <a:r>
              <a:rPr lang="en-US" sz="16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            </a:t>
            </a:r>
            <a:r>
              <a:rPr sz="16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　边界：控制面演示级原型；识别率 268/280</a:t>
            </a:r>
            <a:endParaRPr sz="16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1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676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敬请各位老师批评指正</a:t>
            </a:r>
            <a:endParaRPr sz="44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D6EBE0"/>
                </a:solidFill>
                <a:latin typeface="楷体" panose="02010609060101010101" charset="-122"/>
                <a:ea typeface="楷体" panose="02010609060101010101" charset="-122"/>
              </a:rPr>
              <a:t>隐私保护不该是使用约定，而应是架构约束</a:t>
            </a:r>
            <a:endParaRPr sz="2000" b="0">
              <a:solidFill>
                <a:srgbClr val="D6EBE0"/>
              </a:solidFill>
              <a:latin typeface="楷体" panose="02010609060101010101" charset="-122"/>
              <a:ea typeface="楷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27048" y="4948936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识别覆盖</a:t>
            </a:r>
            <a:endParaRPr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27048" y="5312664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27 类敏感实体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4948936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架构承诺</a:t>
            </a:r>
            <a:endParaRPr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0" y="5312664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已识别实体 0 明文出网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616952" y="4948936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当前版本</a:t>
            </a:r>
            <a:endParaRPr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16952" y="5312664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V3.6.20 · 2026.10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隐盾 · 面向数据隐私安全的 AI 协同办公桌面智能体</a:t>
            </a:r>
            <a:endParaRPr sz="16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2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3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4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5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6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7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8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9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10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11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12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13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14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15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2771</Words>
  <Application>WPS 演示</Application>
  <PresentationFormat>On-screen Show (4:3)</PresentationFormat>
  <Paragraphs>394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2" baseType="lpstr">
      <vt:lpstr>Arial</vt:lpstr>
      <vt:lpstr>宋体</vt:lpstr>
      <vt:lpstr>Wingdings</vt:lpstr>
      <vt:lpstr>Arial</vt:lpstr>
      <vt:lpstr>黑体</vt:lpstr>
      <vt:lpstr>楷体</vt:lpstr>
      <vt:lpstr>Times New Roman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Andy</cp:lastModifiedBy>
  <cp:revision>5</cp:revision>
  <dcterms:created xsi:type="dcterms:W3CDTF">2013-01-27T09:14:00Z</dcterms:created>
  <dcterms:modified xsi:type="dcterms:W3CDTF">2026-10-24T15:20:01Z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0542AC6E2416461EAA692F434C9AA738_12</vt:lpwstr>
  </property>
  <property fmtid="{D5CDD505-2E9C-101B-9397-08002B2CF9AE}" pid="3" name="KSOProductBuildVer">
    <vt:lpwstr>2052-12.1.0.28043</vt:lpwstr>
  </property>
</Properties>
</file>