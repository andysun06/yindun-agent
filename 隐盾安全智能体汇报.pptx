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1"/>
    <p:sldId id="263" r:id="rId12"/>
    <p:sldId id="264" r:id="rId13"/>
    <p:sldId id="265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28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78"/>
        <p:guide pos="289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张卡片分别是态势总览、事件台账、策略下发、统计分析。控制端不是新的模型能力，而是把端点已经落盘的掩码事件集中起来看：它看到的和端点本地审计落盘的内容一样，掩码态、链头、元数据，拿不到真值，也不代理模型流量。策略只能收紧：敏感路径取并集、审批下限取更严，豁免/放行/白名单不在通路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GIF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4.png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3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GIF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image" Target="../media/image6.png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7.xml"/><Relationship Id="rId24" Type="http://schemas.openxmlformats.org/officeDocument/2006/relationships/tags" Target="../tags/tag26.xml"/><Relationship Id="rId23" Type="http://schemas.openxmlformats.org/officeDocument/2006/relationships/image" Target="../media/image9.png"/><Relationship Id="rId22" Type="http://schemas.openxmlformats.org/officeDocument/2006/relationships/tags" Target="../tags/tag25.xml"/><Relationship Id="rId21" Type="http://schemas.openxmlformats.org/officeDocument/2006/relationships/tags" Target="../tags/tag24.xml"/><Relationship Id="rId20" Type="http://schemas.openxmlformats.org/officeDocument/2006/relationships/tags" Target="../tags/tag23.xml"/><Relationship Id="rId2" Type="http://schemas.openxmlformats.org/officeDocument/2006/relationships/tags" Target="../tags/tag8.xml"/><Relationship Id="rId19" Type="http://schemas.openxmlformats.org/officeDocument/2006/relationships/tags" Target="../tags/tag22.xml"/><Relationship Id="rId18" Type="http://schemas.openxmlformats.org/officeDocument/2006/relationships/tags" Target="../tags/tag21.xml"/><Relationship Id="rId17" Type="http://schemas.openxmlformats.org/officeDocument/2006/relationships/image" Target="../media/image8.png"/><Relationship Id="rId16" Type="http://schemas.openxmlformats.org/officeDocument/2006/relationships/tags" Target="../tags/tag20.xml"/><Relationship Id="rId15" Type="http://schemas.openxmlformats.org/officeDocument/2006/relationships/tags" Target="../tags/tag19.xml"/><Relationship Id="rId14" Type="http://schemas.openxmlformats.org/officeDocument/2006/relationships/tags" Target="../tags/tag18.xml"/><Relationship Id="rId13" Type="http://schemas.openxmlformats.org/officeDocument/2006/relationships/tags" Target="../tags/tag17.xml"/><Relationship Id="rId12" Type="http://schemas.openxmlformats.org/officeDocument/2006/relationships/tags" Target="../tags/tag16.xml"/><Relationship Id="rId11" Type="http://schemas.openxmlformats.org/officeDocument/2006/relationships/image" Target="../media/image7.png"/><Relationship Id="rId10" Type="http://schemas.openxmlformats.org/officeDocument/2006/relationships/tags" Target="../tags/tag15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1" Type="http://schemas.openxmlformats.org/officeDocument/2006/relationships/image" Target="../media/image10.GIF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1" Type="http://schemas.openxmlformats.org/officeDocument/2006/relationships/image" Target="../media/image12.GI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指导老师：王艳        队长：余齐政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17000"/>
              </a:lnSpc>
            </a:p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2026 年 1</a:t>
            </a:r>
            <a:r>
              <a:rPr lang="en-US"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1</a:t>
            </a: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月</a:t>
            </a:r>
            <a:endParaRPr sz="19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发给 AI 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入口脱敏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存到电脑里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加密存储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历史记录里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AI 动手时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本机可信域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① 你的数据</a:t>
            </a:r>
            <a:endParaRPr sz="12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② 隐盾内核</a:t>
            </a:r>
            <a:endParaRPr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只发占位符</a:t>
            </a:r>
            <a:endParaRPr sz="12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信任边界</a:t>
            </a:r>
            <a:endParaRPr sz="14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01 对话与资料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脱敏对话：27 类实体替换为占位符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02 文件操作与审计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03 统一后台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可用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不可见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可审计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可部署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7096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56813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用户看到</a:t>
            </a:r>
            <a:endParaRPr sz="16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57930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Times New Roman" panose="02020603050405020304"/>
                <a:ea typeface="Times New Roman" panose="02020603050405020304"/>
              </a:rPr>
              <a:t>孙良硕 · 13700001111</a:t>
            </a:r>
            <a:endParaRPr sz="1600" b="1">
              <a:solidFill>
                <a:srgbClr val="1F2329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11117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模型看到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15155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4y5v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me9f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</a:t>
            </a:r>
            <a:endParaRPr sz="1400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495808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用途红线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意图预判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操作风险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laya 决策模型：本机 → 局域网 → 正则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黑体" panose="02010609060101010101" charset="-122"/>
                <a:ea typeface="黑体" panose="02010609060101010101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340" y="1898015"/>
            <a:ext cx="5985510" cy="374078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38576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打开即校验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每条可追溯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六种删改可发现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2580" y="5861685"/>
            <a:ext cx="11336020" cy="527685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5965190"/>
            <a:ext cx="1063879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0">
                <a:solidFill>
                  <a:srgbClr val="B47800"/>
                </a:solidFill>
                <a:latin typeface="黑体" panose="02010609060101010101" charset="-122"/>
                <a:ea typeface="黑体" panose="02010609060101010101" charset="-122"/>
              </a:rPr>
              <a:t>边界：能重写整台机器的攻击者超出防护目标。准确说法是“可发现”，不是“物理不可写”。</a:t>
            </a:r>
            <a:endParaRPr sz="1600" b="0">
              <a:solidFill>
                <a:srgbClr val="B4780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771640" y="1613535"/>
            <a:ext cx="4867275" cy="39592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7210" y="174371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 · 快速适配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87210" y="211048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87210" y="2402840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判断动作本身危不危险，输出高/中/低危
· 本机优先 → 局域网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87210" y="334899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插件只做加法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7210" y="3682365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启停即收回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87210" y="461645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控制面只收紧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87210" y="4949825"/>
            <a:ext cx="4783455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控制端：集中看掩码事件，策略只能收紧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310513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管理机统一看端点状态；控制面不接触明文，也不代理模型流量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Rectangle 29"/>
          <p:cNvSpPr/>
          <p:nvPr>
            <p:custDataLst>
              <p:tags r:id="rId1"/>
            </p:custDataLst>
          </p:nvPr>
        </p:nvSpPr>
        <p:spPr>
          <a:xfrm>
            <a:off x="511810" y="1666240"/>
            <a:ext cx="55473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>
            <p:custDataLst>
              <p:tags r:id="rId2"/>
            </p:custDataLst>
          </p:nvPr>
        </p:nvSpPr>
        <p:spPr>
          <a:xfrm>
            <a:off x="512064" y="166624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>
            <p:custDataLst>
              <p:tags r:id="rId3"/>
            </p:custDataLst>
          </p:nvPr>
        </p:nvSpPr>
        <p:spPr>
          <a:xfrm>
            <a:off x="676656" y="172110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① 态势总览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33" name="Picture 32" descr="control_overview_car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21004" y="1977136"/>
            <a:ext cx="4983480" cy="1737360"/>
          </a:xfrm>
          <a:prstGeom prst="rect">
            <a:avLst/>
          </a:prstGeom>
        </p:spPr>
      </p:pic>
      <p:sp>
        <p:nvSpPr>
          <p:cNvPr id="34" name="TextBox 33"/>
          <p:cNvSpPr txBox="1"/>
          <p:nvPr>
            <p:custDataLst>
              <p:tags r:id="rId6"/>
            </p:custDataLst>
          </p:nvPr>
        </p:nvSpPr>
        <p:spPr>
          <a:xfrm>
            <a:off x="676656" y="374192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证据：在管端点 / 事件 / 高风险 / 链告警 同屏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Rectangle 34"/>
          <p:cNvSpPr/>
          <p:nvPr>
            <p:custDataLst>
              <p:tags r:id="rId7"/>
            </p:custDataLst>
          </p:nvPr>
        </p:nvSpPr>
        <p:spPr>
          <a:xfrm>
            <a:off x="6217920" y="1666240"/>
            <a:ext cx="550799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>
            <p:custDataLst>
              <p:tags r:id="rId8"/>
            </p:custDataLst>
          </p:nvPr>
        </p:nvSpPr>
        <p:spPr>
          <a:xfrm>
            <a:off x="6217920" y="166624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>
            <p:custDataLst>
              <p:tags r:id="rId9"/>
            </p:custDataLst>
          </p:nvPr>
        </p:nvSpPr>
        <p:spPr>
          <a:xfrm>
            <a:off x="6382511" y="172110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② 事件台账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38" name="Picture 37" descr="control_events_car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626859" y="1977136"/>
            <a:ext cx="4983480" cy="1737360"/>
          </a:xfrm>
          <a:prstGeom prst="rect">
            <a:avLst/>
          </a:prstGeom>
        </p:spPr>
      </p:pic>
      <p:sp>
        <p:nvSpPr>
          <p:cNvPr id="39" name="TextBox 38"/>
          <p:cNvSpPr txBox="1"/>
          <p:nvPr>
            <p:custDataLst>
              <p:tags r:id="rId12"/>
            </p:custDataLst>
          </p:nvPr>
        </p:nvSpPr>
        <p:spPr>
          <a:xfrm>
            <a:off x="6382511" y="374192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证据：按端点、类型、级别检索；只显示掩码态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ectangle 39"/>
          <p:cNvSpPr/>
          <p:nvPr>
            <p:custDataLst>
              <p:tags r:id="rId13"/>
            </p:custDataLst>
          </p:nvPr>
        </p:nvSpPr>
        <p:spPr>
          <a:xfrm>
            <a:off x="511810" y="4185920"/>
            <a:ext cx="55473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>
            <p:custDataLst>
              <p:tags r:id="rId14"/>
            </p:custDataLst>
          </p:nvPr>
        </p:nvSpPr>
        <p:spPr>
          <a:xfrm>
            <a:off x="512064" y="418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>
            <p:custDataLst>
              <p:tags r:id="rId15"/>
            </p:custDataLst>
          </p:nvPr>
        </p:nvSpPr>
        <p:spPr>
          <a:xfrm>
            <a:off x="676656" y="424078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③ 策略下发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43" name="Picture 42" descr="control_policy_car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921004" y="4496816"/>
            <a:ext cx="4983480" cy="1737360"/>
          </a:xfrm>
          <a:prstGeom prst="rect">
            <a:avLst/>
          </a:prstGeom>
        </p:spPr>
      </p:pic>
      <p:sp>
        <p:nvSpPr>
          <p:cNvPr id="44" name="TextBox 43"/>
          <p:cNvSpPr txBox="1"/>
          <p:nvPr>
            <p:custDataLst>
              <p:tags r:id="rId18"/>
            </p:custDataLst>
          </p:nvPr>
        </p:nvSpPr>
        <p:spPr>
          <a:xfrm>
            <a:off x="676656" y="626160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证据：敏感路径取并集，审批只能更严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Rectangle 44"/>
          <p:cNvSpPr/>
          <p:nvPr>
            <p:custDataLst>
              <p:tags r:id="rId19"/>
            </p:custDataLst>
          </p:nvPr>
        </p:nvSpPr>
        <p:spPr>
          <a:xfrm>
            <a:off x="6217920" y="4185920"/>
            <a:ext cx="550799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>
            <p:custDataLst>
              <p:tags r:id="rId20"/>
            </p:custDataLst>
          </p:nvPr>
        </p:nvSpPr>
        <p:spPr>
          <a:xfrm>
            <a:off x="6217920" y="418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>
            <p:custDataLst>
              <p:tags r:id="rId21"/>
            </p:custDataLst>
          </p:nvPr>
        </p:nvSpPr>
        <p:spPr>
          <a:xfrm>
            <a:off x="6382511" y="424078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④ 统计分析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48" name="Picture 47" descr="control_stats_car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626859" y="4496816"/>
            <a:ext cx="4983480" cy="1737360"/>
          </a:xfrm>
          <a:prstGeom prst="rect">
            <a:avLst/>
          </a:prstGeom>
        </p:spPr>
      </p:pic>
      <p:sp>
        <p:nvSpPr>
          <p:cNvPr id="49" name="TextBox 48"/>
          <p:cNvSpPr txBox="1"/>
          <p:nvPr>
            <p:custDataLst>
              <p:tags r:id="rId24"/>
            </p:custDataLst>
          </p:nvPr>
        </p:nvSpPr>
        <p:spPr>
          <a:xfrm>
            <a:off x="6382511" y="626160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证据：趋势 / 类型 / 分布 / 端点活跃度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183112" y="649224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07A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877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796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内存级脱敏网关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313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877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796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先判用途，再判操作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297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08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" y="189788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9484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高度契合</a:t>
            </a:r>
            <a:endParaRPr lang="zh-CN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22402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375" y="2604770"/>
            <a:ext cx="5062855" cy="3164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93547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73951" y="189788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④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9484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22402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975" y="2603500"/>
            <a:ext cx="5059045" cy="31623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93547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09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27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V3.6.20 · 2026.1</a:t>
            </a:r>
            <a:r>
              <a:rPr lang="en-US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1</a:t>
            </a:r>
            <a:endParaRPr lang="en-US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7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8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9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0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1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2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3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4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5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6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7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8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9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0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1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2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3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4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5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6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2635</Words>
  <Application>WPS 演示</Application>
  <PresentationFormat>On-screen Show (4:3)</PresentationFormat>
  <Paragraphs>388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Arial</vt:lpstr>
      <vt:lpstr>黑体</vt:lpstr>
      <vt:lpstr>楷体</vt:lpstr>
      <vt:lpstr>Times New Roman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17</cp:revision>
  <dcterms:created xsi:type="dcterms:W3CDTF">2013-01-27T09:14:00Z</dcterms:created>
  <dcterms:modified xsi:type="dcterms:W3CDTF">2026-10-24T16:21:11Z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