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开场不念目录。第一句话：AI 越普及，用户越会把敏感数据交给智能体，我们做的是让这件事变得敢用。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我们做隐盾的初衷很现实：AI 越普及，用户越会把个人信息、敏感文件甚至企业核心数据交给智能体；一旦在传输、存储或处理中泄露、被滥用，损失难以估量。一个值得信赖的智能体不仅要聪明，更要让人敢用。我们把脱敏做进模型入口：数据进模型前换成占位符，回答回本机再还原。这张图里，框架负责识别、脱敏、权限、审批、审计；模型只负责推理，而且只看见占位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功能按三组讲：对话与资料、文件操作与审计、统一后台。普通功能不单独占页，重点看后面三个关键动作。预期目标四个：可用——本机 2B/4B 量化模型，不需要 GPU；不可见——对已识别实体，出网明文 0 例；可审计——每次操作留痕；可部署——两个免安装 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先看脱敏对话。用户输入的是姓名、手机号、身份证这些真值；发送前，本地规则先做正则粗筛，再用程序化校验器精验——手机号看位数，银行卡过 Luhn，身份证看 18 位形状与出生日期，带分隔符的形态再过校验位；人名看姓氏表和触发词窗口。这一步不调用任何模型。模型真正收到的是占位符；回答回来，本机再把占位符换回真值。映射表加密、不进模型上下文，所以模型服务方拿到的只是一段占位符文本。对已经识别出来的实体，出网明文是 0 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批弹窗有三层。第一层是用途红线，内核确定性规则，在模型和工具之前执行：收集个人信息去出售或牟利，直接拒绝；外发或公开，顶部红色警示。第二层是意图预判，回答想干什么、涉及什么数据、去哪、什么用途，模型只能加重不能减轻。第三层是操作风险，laya 按本机、局域网、正则三级给高/中/低危，并标明来源，只评动作本身。三层都只是建议，放行由人决定。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审计不是普通日志。每次打开面板都会重新校验 HMAC 链和锚点，徽标不是缓存；现场可以直接点一次盾牌图标验证。每条工具调用、隐私检测、审批决策都在链上；审计里只存脱敏预览。改中间、尾部截断、降级改写、删锚点这些手法都能被发现。但能重写整台机器的人，我们挡不住，所以准确说是可发现，不是不可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扩展性有三条边界。laya 是近一个月才火起来的决策模型，我们第一时间接进项目：用它判断动作本身危不危险，本机优先、局域网次之、正则兜底，来源如实标注；它只做建议、不参与放行。插件只有建议型和增强型能力，判定类钩子永久禁止，所以它是能力插座，不是权限后门。控制面只上报掩码事件与元数据，策略只能收紧，默认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第一个创新是内存级脱敏网关：模型物理上看不见真值，机密性是架构保证，不是识别率保证；对已识别实体，出网明文 0 例。第二个是先判用途再判操作：先问这件事该不该做，再问操作对不对得上；收集个人信息去出售，在模型和工具之前就拒绝。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第三个创新是 laya 决策模型的快速适配：它是近一个月才火起来的决策模型，我们第一时间接进项目，用它判断动作本身危不危险；本机优先、局域网次之、正则兜底，只做建议、不参与放行。第四个是脱敏知识库：入库即逐块脱敏，向量库只存占位符，检索结果明确标注片段不是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隐私保护不该是使用约定，而应是架构约束。谢谢各位评委。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15568"/>
            <a:ext cx="12191695" cy="2715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5064" y="1572768"/>
            <a:ext cx="88879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黑体"/>
                <a:ea typeface="黑体"/>
              </a:rPr>
              <a:t>隐盾安全智能体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2542032"/>
            <a:ext cx="88879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黑体"/>
                <a:ea typeface="黑体"/>
              </a:rPr>
              <a:t>面向数据隐私安全的 AI 协同办公桌面智能体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5064" y="3127248"/>
            <a:ext cx="8887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D6EBE0"/>
                </a:solidFill>
                <a:latin typeface="楷体"/>
                <a:ea typeface="楷体"/>
              </a:rPr>
              <a:t>让 AI 看得见任务，看不见隐私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8728" y="4599432"/>
            <a:ext cx="5111496" cy="1143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4059936"/>
            <a:ext cx="6099048" cy="2761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1800"/>
              </a:spcAft>
            </a:pPr>
            <a:r>
              <a:rPr sz="1900" b="1">
                <a:solidFill>
                  <a:srgbClr val="005826"/>
                </a:solidFill>
                <a:latin typeface="黑体"/>
                <a:ea typeface="黑体"/>
              </a:rPr>
              <a:t>星辰大海 团队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1F2329"/>
                </a:solidFill>
                <a:latin typeface="黑体"/>
                <a:ea typeface="黑体"/>
              </a:rPr>
              <a:t>计算机科学与网络工程学院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1F2329"/>
                </a:solidFill>
                <a:latin typeface="黑体"/>
                <a:ea typeface="黑体"/>
              </a:rPr>
              <a:t>指导老师：王艳        队长：余齐政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1F2329"/>
                </a:solidFill>
                <a:latin typeface="黑体"/>
                <a:ea typeface="黑体"/>
              </a:rPr>
              <a:t>队员：孙良硕　薛晓晴　陈俊豪　张晶</a:t>
            </a:r>
          </a:p>
          <a:p>
            <a:pPr algn="ctr">
              <a:lnSpc>
                <a:spcPct val="117000"/>
              </a:lnSpc>
            </a:pPr>
            <a:r>
              <a:rPr sz="1900" b="0">
                <a:solidFill>
                  <a:srgbClr val="1F2329"/>
                </a:solidFill>
                <a:latin typeface="黑体"/>
                <a:ea typeface="黑体"/>
              </a:rPr>
              <a:t/>
            </a:r>
          </a:p>
          <a:p>
            <a:pPr algn="ctr">
              <a:lnSpc>
                <a:spcPct val="117000"/>
              </a:lnSpc>
            </a:pPr>
            <a:r>
              <a:rPr sz="1900" b="1">
                <a:solidFill>
                  <a:srgbClr val="5B6975"/>
                </a:solidFill>
                <a:latin typeface="黑体"/>
                <a:ea typeface="黑体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AI 越好用，越不能把原文交出去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四个常见泄露点 + 一张图：哪些由框架做，哪些交给模型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783080"/>
            <a:ext cx="2240280" cy="12344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11095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发给 AI 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58568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329"/>
                </a:solidFill>
                <a:latin typeface="黑体"/>
                <a:ea typeface="黑体"/>
              </a:rPr>
              <a:t>聊天内容会离开这台电脑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1783080"/>
            <a:ext cx="2240280" cy="12344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088" y="1911095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存到电脑里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258568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329"/>
                </a:solidFill>
                <a:latin typeface="黑体"/>
                <a:ea typeface="黑体"/>
              </a:rPr>
              <a:t>缓存和日志可能留下原文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3200400"/>
            <a:ext cx="2240280" cy="12344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2841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历史记录里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75887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329"/>
                </a:solidFill>
                <a:latin typeface="黑体"/>
                <a:ea typeface="黑体"/>
              </a:rPr>
              <a:t>会话、知识库越积越多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3784" y="3200400"/>
            <a:ext cx="2240280" cy="12344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332841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AI 动手时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3675887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329"/>
                </a:solidFill>
                <a:latin typeface="黑体"/>
                <a:ea typeface="黑体"/>
              </a:rPr>
              <a:t>未经确认就写、删、改文件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1737360"/>
            <a:ext cx="6245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架构分工：真值止于本机，模型只做推理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0116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2C13"/>
                </a:solidFill>
                <a:latin typeface="黑体"/>
                <a:ea typeface="黑体"/>
              </a:rPr>
              <a:t>本机可信域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2212848"/>
            <a:ext cx="4023360" cy="1627632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59552" y="2395728"/>
            <a:ext cx="93268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D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2468880"/>
            <a:ext cx="8595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329"/>
                </a:solidFill>
                <a:latin typeface="黑体"/>
                <a:ea typeface="黑体"/>
              </a:rPr>
              <a:t>① 你的数据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2724912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975"/>
                </a:solidFill>
                <a:latin typeface="黑体"/>
                <a:ea typeface="黑体"/>
              </a:rPr>
              <a:t>姓名 / 文件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76288" y="2331720"/>
            <a:ext cx="1572768" cy="841248"/>
          </a:xfrm>
          <a:prstGeom prst="roundRect">
            <a:avLst>
              <a:gd name="adj" fmla="val 7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241401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黑体"/>
                <a:ea typeface="黑体"/>
              </a:rPr>
              <a:t>② 隐盾内核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67919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D6EBE0"/>
                </a:solidFill>
                <a:latin typeface="黑体"/>
                <a:ea typeface="黑体"/>
              </a:rPr>
              <a:t>识别 · 脱敏 · 权限
审批 · 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2331720"/>
            <a:ext cx="1901952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058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2414016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2C13"/>
                </a:solidFill>
                <a:latin typeface="黑体"/>
                <a:ea typeface="黑体"/>
              </a:rPr>
              <a:t>③ 云端 / 本地模型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67919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975"/>
                </a:solidFill>
                <a:latin typeface="黑体"/>
                <a:ea typeface="黑体"/>
              </a:rPr>
              <a:t>只推理 · 只看见占位符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310128"/>
            <a:ext cx="2148840" cy="3931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0058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3383280"/>
            <a:ext cx="20025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1">
                <a:solidFill>
                  <a:srgbClr val="002C13"/>
                </a:solidFill>
                <a:latin typeface="黑体"/>
                <a:ea typeface="黑体"/>
              </a:rPr>
              <a:t>④ 本机还原：占位符换回真值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92240" y="2752344"/>
            <a:ext cx="384048" cy="0"/>
          </a:xfrm>
          <a:prstGeom prst="line">
            <a:avLst/>
          </a:prstGeom>
          <a:ln w="15875">
            <a:solidFill>
              <a:srgbClr val="005826"/>
            </a:solidFill>
            <a:tailEnd type="triangle" w="med" len="med"/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8449056" y="2752344"/>
            <a:ext cx="1197864" cy="0"/>
          </a:xfrm>
          <a:prstGeom prst="line">
            <a:avLst/>
          </a:prstGeom>
          <a:ln w="15875">
            <a:solidFill>
              <a:srgbClr val="005826"/>
            </a:solidFill>
            <a:tailEnd type="triangle" w="med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8540496" y="241401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5826"/>
                </a:solidFill>
                <a:latin typeface="黑体"/>
                <a:ea typeface="黑体"/>
              </a:rPr>
              <a:t>只发占位符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597896" y="3172968"/>
            <a:ext cx="0" cy="338328"/>
          </a:xfrm>
          <a:prstGeom prst="line">
            <a:avLst/>
          </a:prstGeom>
          <a:ln w="13970">
            <a:solidFill>
              <a:srgbClr val="005826"/>
            </a:solidFill>
            <a:tailEnd type="triangle" w="med" len="med"/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9464040" y="3511296"/>
            <a:ext cx="1133856" cy="0"/>
          </a:xfrm>
          <a:prstGeom prst="line">
            <a:avLst/>
          </a:prstGeom>
          <a:ln w="13970">
            <a:solidFill>
              <a:srgbClr val="005826"/>
            </a:solidFill>
            <a:tailEnd type="triangl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9601200" y="320040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975"/>
                </a:solidFill>
                <a:latin typeface="黑体"/>
                <a:ea typeface="黑体"/>
              </a:rPr>
              <a:t>返回仍是占位符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546336" y="2267712"/>
            <a:ext cx="0" cy="1444751"/>
          </a:xfrm>
          <a:prstGeom prst="line">
            <a:avLst/>
          </a:prstGeom>
          <a:ln w="12700">
            <a:solidFill>
              <a:srgbClr val="005826"/>
            </a:solidFill>
            <a:prstDash val="dash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9070848" y="20116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05826"/>
                </a:solidFill>
                <a:latin typeface="黑体"/>
                <a:ea typeface="黑体"/>
              </a:rPr>
              <a:t>信任边界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3977639"/>
            <a:ext cx="6245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C13"/>
                </a:solidFill>
                <a:latin typeface="黑体"/>
                <a:ea typeface="黑体"/>
              </a:rPr>
              <a:t>框架负责：识别 · 脱敏 · 权限 · 审批 · 审计；模型只做推理。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4206240"/>
            <a:ext cx="6245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975"/>
                </a:solidFill>
                <a:latin typeface="黑体"/>
                <a:ea typeface="黑体"/>
              </a:rPr>
              <a:t>模型只收到占位符，真值不离开本机。适用：律所 / 医院 / 制造 / 政府外包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4526280"/>
            <a:ext cx="11173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隐盾 = 面向涉密办公的本地化隐私防护桌面智能体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4892040"/>
            <a:ext cx="111739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975"/>
                </a:solidFill>
                <a:latin typeface="黑体"/>
                <a:ea typeface="黑体"/>
              </a:rPr>
              <a:t>数据进模型前脱敏，回答回本机还原。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" y="5715000"/>
            <a:ext cx="11173968" cy="612648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" y="5852160"/>
            <a:ext cx="11173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2C13"/>
                </a:solidFill>
                <a:latin typeface="黑体"/>
                <a:ea typeface="黑体"/>
              </a:rPr>
              <a:t>不是「少用 AI」，而是「放心用 AI」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三个能力，四个目标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先看三个能力，再看四个目标；普通功能不单独占页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1719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5826"/>
                </a:solidFill>
                <a:latin typeface="黑体"/>
                <a:ea typeface="黑体"/>
              </a:rPr>
              <a:t>三个能力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1993392"/>
            <a:ext cx="3566160" cy="26060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031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01 对话与资料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54203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脱敏对话：27 类实体替换为占位符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18211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脱敏知识库：入库即脱敏，向量库零明文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82219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检索结果标注「片段不是全文」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1993392"/>
            <a:ext cx="3566160" cy="26060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21031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02 文件操作与审计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54203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15 个文件/办公工具，覆盖桌面/文档/下载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18211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写盘、删除、命令执行前熔断审批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82219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工具调用、审批、还原全部写入哈希链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993392"/>
            <a:ext cx="3566160" cy="260604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1031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03 统一后台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4203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控制面只汇总掩码事件与元数据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8211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策略只能收紧，上报默认关闭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22191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· 插件：能力可扩展，判定权不外包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8006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5826"/>
                </a:solidFill>
                <a:latin typeface="黑体"/>
                <a:ea typeface="黑体"/>
              </a:rPr>
              <a:t>四个目标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5102352"/>
            <a:ext cx="2670048" cy="123444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可用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5412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6EBE0"/>
                </a:solidFill>
                <a:latin typeface="黑体"/>
                <a:ea typeface="黑体"/>
              </a:rPr>
              <a:t>2B/4B 量化模型 · CPU 可跑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74136" y="5102352"/>
            <a:ext cx="2670048" cy="123444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不可见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5412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6EBE0"/>
                </a:solidFill>
                <a:latin typeface="黑体"/>
                <a:ea typeface="黑体"/>
              </a:rPr>
              <a:t>已识别实体出网明文 0 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5102352"/>
            <a:ext cx="2670048" cy="123444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可审计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5412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6EBE0"/>
                </a:solidFill>
                <a:latin typeface="黑体"/>
                <a:ea typeface="黑体"/>
              </a:rPr>
              <a:t>工具 / 审批 / 还原全部留痕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5102352"/>
            <a:ext cx="2670048" cy="123444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4584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可部署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5541264"/>
            <a:ext cx="23957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6EBE0"/>
                </a:solidFill>
                <a:latin typeface="黑体"/>
                <a:ea typeface="黑体"/>
              </a:rPr>
              <a:t>两个免安装 exe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模型全程看不见隐私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识别在本地、由规则完成；模型只负责推理，不负责判断哪些是隐私</a:t>
            </a:r>
          </a:p>
        </p:txBody>
      </p:sp>
      <p:pic>
        <p:nvPicPr>
          <p:cNvPr id="14" name="Picture 13" descr="demo_privacy_h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11655"/>
            <a:ext cx="5760720" cy="3600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50468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黑体"/>
                <a:ea typeface="黑体"/>
              </a:rPr>
              <a:t>完整流程：输入 → 发送 → 模型加载 → 回答还原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10512"/>
            <a:ext cx="5166360" cy="3749039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385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本地正则 + 精验，不调用模型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31720"/>
            <a:ext cx="480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329"/>
                </a:solidFill>
                <a:latin typeface="黑体"/>
                <a:ea typeface="黑体"/>
              </a:rPr>
              <a:t>手机号看 11 位；银行卡过 Luhn；身份证看 18 位形状与出生日期，带分隔符的形态再过校验位；人名看姓氏表 ∩ 触发词窗口。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01568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975"/>
                </a:solidFill>
                <a:latin typeface="黑体"/>
                <a:ea typeface="黑体"/>
              </a:rPr>
              <a:t>用户看到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3016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Times New Roman"/>
              </a:rPr>
              <a:t>孙良硕 · 13700001111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05072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5826"/>
                </a:solidFill>
                <a:latin typeface="黑体"/>
                <a:ea typeface="黑体"/>
              </a:rPr>
              <a:t>模型看到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3367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5826"/>
                </a:solidFill>
                <a:latin typeface="Times New Roman"/>
                <a:ea typeface="Times New Roman"/>
              </a:rPr>
              <a:t>[NAME_0_o6g8] · [PHONE_0_gm1z]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63440"/>
            <a:ext cx="4800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6975"/>
                </a:solidFill>
                <a:latin typeface="黑体"/>
                <a:ea typeface="黑体"/>
              </a:rPr>
              <a:t>映射表加密、不进模型上下文；回答回本机才还原。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5806440"/>
            <a:ext cx="11173968" cy="5029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916168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黑体"/>
                <a:ea typeface="黑体"/>
              </a:rPr>
              <a:t>对已识别实体，出网明文 0 例；识别靠规则，不靠模型。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三层立体判断：先用途，再意图，最后操作风险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三层回答三个不同问题；判定权在人，不在模型</a:t>
            </a:r>
          </a:p>
        </p:txBody>
      </p:sp>
      <p:pic>
        <p:nvPicPr>
          <p:cNvPr id="14" name="Picture 13" descr="demo_approval_h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" y="1810512"/>
            <a:ext cx="5939942" cy="37124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59612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黑体"/>
                <a:ea typeface="黑体"/>
              </a:rPr>
              <a:t>完整流程：写文件请求 → 弹窗 → 授权 → 执行成功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1810512"/>
            <a:ext cx="5029200" cy="406908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93852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用途红线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212848"/>
            <a:ext cx="4251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2C13"/>
                </a:solidFill>
                <a:latin typeface="黑体"/>
                <a:ea typeface="黑体"/>
              </a:rPr>
              <a:t>内核确定性规则，不依赖模型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46888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收集个人信息 + 出售/牟利 → 模型和工具之前直接拒绝；外发/公开 → 顶部红色警示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54096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035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意图预判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328415"/>
            <a:ext cx="4251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2C13"/>
                </a:solidFill>
                <a:latin typeface="黑体"/>
                <a:ea typeface="黑体"/>
              </a:rPr>
              <a:t>内核规则 + 本地模型补充细节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8444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意图 / 数据 / 去向 / 用途；模型只能加重，不能减轻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169663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51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操作风险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443983"/>
            <a:ext cx="4251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2C13"/>
                </a:solidFill>
                <a:latin typeface="黑体"/>
                <a:ea typeface="黑体"/>
              </a:rPr>
              <a:t>laya 决策模型：本机 → 局域网 → 正则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700016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高危 / 中危 / 低危；只评动作本身，来源如实标注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5376672"/>
            <a:ext cx="4617720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546811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B03A2E"/>
                </a:solidFill>
                <a:latin typeface="黑体"/>
                <a:ea typeface="黑体"/>
              </a:rPr>
              <a:t>用途触线时，「是否相符」不再发言。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审计黑匣子：每次使用都留痕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打开即校验、可追溯；不可写只是其中一个亮点</a:t>
            </a:r>
          </a:p>
        </p:txBody>
      </p:sp>
      <p:pic>
        <p:nvPicPr>
          <p:cNvPr id="14" name="Picture 13" descr="demo_audit_h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11655"/>
            <a:ext cx="5760720" cy="3600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50468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黑体"/>
                <a:ea typeface="黑体"/>
              </a:rPr>
              <a:t>完整流程：对话完成 → 打开审计 → 滚动查看事件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10512"/>
            <a:ext cx="5166360" cy="3749039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385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打开即校验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9424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每次展开面板都重跑链校验与锚点检查；徽标不是缓存。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7121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每条可追溯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82112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工具调用、隐私检测/还原、审批决策都在链上；只存脱敏预览。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03904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六种删改可发现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改中间、尾部截断、降级改写、删锚点等，均有回归用例。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681728"/>
            <a:ext cx="4800600" cy="713232"/>
          </a:xfrm>
          <a:prstGeom prst="rect">
            <a:avLst/>
          </a:prstGeom>
          <a:solidFill>
            <a:srgbClr val="FCF8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754880"/>
            <a:ext cx="4590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B47800"/>
                </a:solidFill>
                <a:latin typeface="黑体"/>
                <a:ea typeface="黑体"/>
              </a:rPr>
              <a:t>边界：能重写整台机器的攻击者超出防护目标。准确说法是“可发现”，不是“物理不可写”。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万物皆插件：能力可以通过插件增加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laya 决策模型快速适配；控制端已可用</a:t>
            </a:r>
          </a:p>
        </p:txBody>
      </p:sp>
      <p:pic>
        <p:nvPicPr>
          <p:cNvPr id="14" name="Picture 13" descr="demo_plugins_h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11654"/>
            <a:ext cx="5394960" cy="3371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266944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黑体"/>
                <a:ea typeface="黑体"/>
              </a:rPr>
              <a:t>插件页：能力清单、运行状态与启停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810512"/>
            <a:ext cx="5532120" cy="370332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laya 决策模型 · 快速适配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31136"/>
            <a:ext cx="5166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C13"/>
                </a:solidFill>
                <a:latin typeface="黑体"/>
                <a:ea typeface="黑体"/>
              </a:rPr>
              <a:t>近一个月走红的决策模型，我们第一时间接进项目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23744"/>
            <a:ext cx="5166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F2329"/>
                </a:solidFill>
                <a:latin typeface="黑体"/>
                <a:ea typeface="黑体"/>
              </a:rPr>
              <a:t>· 判断动作本身危不危险，输出高/中/低危
· 本机优先 → 局域网 → 正则回退，来源标明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插件只做加法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38728"/>
            <a:ext cx="5166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黑体"/>
                <a:ea typeface="黑体"/>
              </a:rPr>
              <a:t>· 判定类钩子永久禁止：approve / mask / bypass / whitelist
· 载荷净化 · 超时隔离 · 内核兜底 · 启停即收回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60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5826"/>
                </a:solidFill>
                <a:latin typeface="黑体"/>
                <a:ea typeface="黑体"/>
              </a:rPr>
              <a:t>控制面只收紧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53128"/>
            <a:ext cx="5166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黑体"/>
                <a:ea typeface="黑体"/>
              </a:rPr>
              <a:t>· 控制端已交付：集中看掩码事件、下发更严策略
· 默认关闭；每次上报都写本地审计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749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2C13"/>
                </a:solidFill>
                <a:latin typeface="黑体"/>
                <a:ea typeface="黑体"/>
              </a:rPr>
              <a:t>laya 只做建议、不参与放行；适配层做成插件。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5760720"/>
            <a:ext cx="11173968" cy="5029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5870448"/>
            <a:ext cx="11173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黑体"/>
                <a:ea typeface="黑体"/>
              </a:rPr>
              <a:t>插件是“能力插座”，不是“权限后门”。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四个创新（一）：网关与用途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每一项配一段真实操作，先看它解决什么问题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737360"/>
            <a:ext cx="5394960" cy="411480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737360"/>
            <a:ext cx="73152" cy="411480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8470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8288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内存级脱敏网关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15798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黑体"/>
                <a:ea typeface="黑体"/>
              </a:rPr>
              <a:t>入口处完成替换：真值只在本机内存，模型上下文只有占位符</a:t>
            </a:r>
          </a:p>
        </p:txBody>
      </p:sp>
      <p:pic>
        <p:nvPicPr>
          <p:cNvPr id="19" name="Picture 18" descr="06_网关占位符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" y="2670048"/>
            <a:ext cx="4564684" cy="2852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544" y="5559552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7873"/>
                </a:solidFill>
                <a:latin typeface="黑体"/>
                <a:ea typeface="黑体"/>
              </a:rPr>
              <a:t>证据：审计里 LLM 输入只有 [NAME_0_x]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3" y="1737360"/>
            <a:ext cx="5394960" cy="411480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3" y="1737360"/>
            <a:ext cx="73152" cy="411480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18470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18288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先判用途，再判操作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15798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黑体"/>
                <a:ea typeface="黑体"/>
              </a:rPr>
              <a:t>用途触线时直接拒绝：不调用模型，也不给审批放行机会</a:t>
            </a:r>
          </a:p>
        </p:txBody>
      </p:sp>
      <p:pic>
        <p:nvPicPr>
          <p:cNvPr id="26" name="Picture 25" descr="07_用途红线拒绝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21" y="2670048"/>
            <a:ext cx="4564684" cy="2852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4264" y="5559552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7873"/>
                </a:solidFill>
                <a:latin typeface="黑体"/>
                <a:ea typeface="黑体"/>
              </a:rPr>
              <a:t>证据：个人信息 + 出售/牟利 → 模型前拒绝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主要功能与目标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975"/>
                </a:solidFill>
                <a:latin typeface="Times New Roman"/>
                <a:ea typeface="Times New Roman"/>
              </a:rPr>
              <a:t>设计与技术实现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</a:rPr>
              <a:t>创新与应用前景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91440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黑体"/>
                <a:ea typeface="黑体"/>
              </a:rPr>
              <a:t>四个创新（二）：分级与知识库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426464"/>
            <a:ext cx="111739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黑体"/>
                <a:ea typeface="黑体"/>
              </a:rPr>
              <a:t>laya 第一时间适配；知识库入库即脱敏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737360"/>
            <a:ext cx="5394960" cy="411480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737360"/>
            <a:ext cx="73152" cy="411480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8470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8288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laya 决策模型：第一时间适配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15798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黑体"/>
                <a:ea typeface="黑体"/>
              </a:rPr>
              <a:t>近一个月走红，我们第一时间接进项目</a:t>
            </a:r>
          </a:p>
        </p:txBody>
      </p:sp>
      <p:pic>
        <p:nvPicPr>
          <p:cNvPr id="19" name="Picture 18" descr="08_laya决策模型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" y="2670048"/>
            <a:ext cx="4564684" cy="2852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544" y="5559552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7873"/>
                </a:solidFill>
                <a:latin typeface="黑体"/>
                <a:ea typeface="黑体"/>
              </a:rPr>
              <a:t>证据：本机→局域网→正则；只做建议、不参与放行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3" y="1737360"/>
            <a:ext cx="5394960" cy="411480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3" y="1737360"/>
            <a:ext cx="73152" cy="411480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18470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Times New Roman"/>
                <a:ea typeface="Times New Roman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18288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黑体"/>
                <a:ea typeface="黑体"/>
              </a:rPr>
              <a:t>脱敏知识库：入库即脱敏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15798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黑体"/>
                <a:ea typeface="黑体"/>
              </a:rPr>
              <a:t>向量库只存占位符；检索标注“片段不是全文”</a:t>
            </a:r>
          </a:p>
        </p:txBody>
      </p:sp>
      <p:pic>
        <p:nvPicPr>
          <p:cNvPr id="26" name="Picture 25" descr="demo_kb_hi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21" y="2670048"/>
            <a:ext cx="4564684" cy="2852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4264" y="5559552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7873"/>
                </a:solidFill>
                <a:latin typeface="黑体"/>
                <a:ea typeface="黑体"/>
              </a:rPr>
              <a:t>证据：入库即脱敏；向量库零明文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/>
                <a:ea typeface="Times New Roman"/>
              </a:rPr>
              <a:t>09 /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5961888"/>
            <a:ext cx="11173968" cy="384048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025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C13"/>
                </a:solidFill>
                <a:latin typeface="黑体"/>
                <a:ea typeface="黑体"/>
              </a:rPr>
              <a:t>场景：律所 / 医院 / 制造 / 政府外包　　边界：控制面演示级原型；识别率 264/280（经验值）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73936"/>
            <a:ext cx="12191695" cy="267004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5064" y="2395728"/>
            <a:ext cx="888796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黑体"/>
                <a:ea typeface="黑体"/>
              </a:rPr>
              <a:t>敬请各位老师批评指正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456432"/>
            <a:ext cx="88879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D6EBE0"/>
                </a:solidFill>
                <a:latin typeface="楷体"/>
                <a:ea typeface="楷体"/>
              </a:rPr>
              <a:t>隐私保护不该是使用约定，而应是架构约束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97433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B6975"/>
                </a:solidFill>
                <a:latin typeface="Times New Roman"/>
                <a:ea typeface="Times New Roman"/>
              </a:rPr>
              <a:t>识别覆盖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52669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27 类敏感实体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97433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B6975"/>
                </a:solidFill>
                <a:latin typeface="Times New Roman"/>
                <a:ea typeface="Times New Roman"/>
              </a:rPr>
              <a:t>架构承诺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2669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已识别实体 0 明文出网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497433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B6975"/>
                </a:solidFill>
                <a:latin typeface="Times New Roman"/>
                <a:ea typeface="Times New Roman"/>
              </a:rPr>
              <a:t>当前版本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52669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5826"/>
                </a:solidFill>
                <a:latin typeface="Times New Roman"/>
                <a:ea typeface="Times New Roman"/>
              </a:rPr>
              <a:t>V3.6.20 · 2026.10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6099048"/>
            <a:ext cx="8887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B6975"/>
                </a:solidFill>
                <a:latin typeface="Times New Roman"/>
                <a:ea typeface="Times New Roman"/>
              </a:rPr>
              <a:t>隐盾 · 面向数据隐私安全的 AI 协同办公桌面智能体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