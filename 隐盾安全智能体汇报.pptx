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开场不念目录。第一句话：AI 越普及，用户越会把敏感数据交给智能体，我们做的是让这件事变得敢用。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我们做隐盾的初衷很现实：AI 越普及，用户越会把个人信息、敏感文件甚至企业核心数据交给智能体；一旦在传输、存储或处理中泄露、被滥用，损失难以估量。一个值得信赖的智能体不仅要聪明，更要让人敢用。我们把脱敏做进模型入口：数据进模型前换成占位符，回答回本机再还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功能按三组讲：对话与资料、文件操作与审计、统一后台。普通功能不单独占页，重点看后面三个关键动作。预期目标四个：可用——本机 2B/4B 量化模型，不需要 GPU；不可见——对已识别实体，出网明文 0 例；可审计——每次操作留痕；可部署——两个免安装 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过校验位，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按本机、局域网、正则三级，每级标明来源，只做建议。插件只有建议型和增强型能力，判定类钩子永久禁止，所以它是能力插座，不是权限后门。控制面只上报掩码事件与元数据，策略只能收紧，默认关闭；它是管理能力，不是新的泄露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最后是四个创新。第一，内存级脱敏网关，机密性是架构保证，不是识别率保证；对已识别实体，出网明文 0 例。第二，先判用途再判操作，收集个人信息去出售，在模型和工具之前就拒绝。第三，laya 三级加插件只做加法：能力可以扩展，判定权不外包。第四，可验证交付：39 个套件、双 exe，打包后校验资产等于源码。场景先做律所、医院、制造和政府外包；边界也如实说，控制面还是演示级原型，识别率是经验值。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3258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8FD3B4"/>
                </a:solidFill>
                <a:latin typeface="微软雅黑"/>
                <a:ea typeface="微软雅黑"/>
              </a:rPr>
              <a:t>庆园杯 · 正式答辩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789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微软雅黑"/>
                <a:ea typeface="微软雅黑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D6E4F0"/>
                </a:solidFill>
                <a:latin typeface="微软雅黑"/>
                <a:ea typeface="微软雅黑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0156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8FD3B4"/>
                </a:solidFill>
                <a:latin typeface="微软雅黑"/>
                <a:ea typeface="微软雅黑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133087"/>
            <a:ext cx="3840480" cy="12700"/>
          </a:xfrm>
          <a:prstGeom prst="rect">
            <a:avLst/>
          </a:prstGeom>
          <a:solidFill>
            <a:srgbClr val="8FD3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370832"/>
            <a:ext cx="6217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C9D8E6"/>
                </a:solidFill>
                <a:latin typeface="微软雅黑"/>
                <a:ea typeface="微软雅黑"/>
              </a:rPr>
              <a:t>星辰大海 团队 · 计算机科学与网络工程学院
指导老师：王艳     队长：余齐政
队员：孙良硕  薛晓晴  陈俊豪  张晶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989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FA3B8"/>
                </a:solidFill>
                <a:latin typeface="Consolas"/>
                <a:ea typeface="Consolas"/>
              </a:rPr>
              <a:t>2026 年 10 月 · V3.6.20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59893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FD3B4"/>
                </a:solidFill>
                <a:latin typeface="Consolas"/>
                <a:ea typeface="Consolas"/>
              </a:rPr>
              <a:t>0 例明文出网  ·  264/280 留出集  ·  39 个套件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163"/>
                </a:solidFill>
                <a:latin typeface="微软雅黑"/>
                <a:ea typeface="微软雅黑"/>
              </a:rPr>
              <a:t>01  作品简介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6324F"/>
                </a:solidFill>
                <a:latin typeface="微软雅黑"/>
                <a:ea typeface="微软雅黑"/>
              </a:rPr>
              <a:t>AI 越普及，越要让人敢用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>
                <a:solidFill>
                  <a:srgbClr val="5B6B7C"/>
                </a:solidFill>
                <a:latin typeface="微软雅黑"/>
                <a:ea typeface="微软雅黑"/>
              </a:rPr>
              <a:t>不是少用 AI，而是让数据在进入模型之前就失去明文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隐盾安全智能体 · 正式答辩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02 / 08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248716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019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微软雅黑"/>
                <a:ea typeface="微软雅黑"/>
              </a:rPr>
              <a:t>用户原文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67712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姓名、手机号、身份证
都是真值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9816" y="2331720"/>
            <a:ext cx="237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B6B7C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4992" y="1783080"/>
            <a:ext cx="2487168" cy="1554480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9019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A5C38"/>
                </a:solidFill>
                <a:latin typeface="微软雅黑"/>
                <a:ea typeface="微软雅黑"/>
              </a:rPr>
              <a:t>本地规则脱敏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2267712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0A5C38"/>
                </a:solidFill>
                <a:latin typeface="微软雅黑"/>
                <a:ea typeface="微软雅黑"/>
              </a:rPr>
              <a:t>正则粗筛 + 程序化精验
不调用任何模型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2331720"/>
            <a:ext cx="237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B6B7C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6" y="1783080"/>
            <a:ext cx="2487168" cy="155448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019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6324F"/>
                </a:solidFill>
                <a:latin typeface="微软雅黑"/>
                <a:ea typeface="微软雅黑"/>
              </a:rPr>
              <a:t>模型推理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67712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6324F"/>
                </a:solidFill>
                <a:latin typeface="微软雅黑"/>
                <a:ea typeface="微软雅黑"/>
              </a:rPr>
              <a:t>本地 Ollama 或云端 API
只见 [NAME_0_x] 等占位符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95944" y="2331720"/>
            <a:ext cx="237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5B6B7C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19" y="1783080"/>
            <a:ext cx="2487168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7424" y="19019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微软雅黑"/>
                <a:ea typeface="微软雅黑"/>
              </a:rPr>
              <a:t>本机还原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2267712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回答里的占位符
换回真值再显示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566160"/>
            <a:ext cx="5074920" cy="17780"/>
          </a:xfrm>
          <a:prstGeom prst="rect">
            <a:avLst/>
          </a:prstGeom>
          <a:solidFill>
            <a:srgbClr val="C436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639312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C4362F"/>
                </a:solidFill>
                <a:latin typeface="微软雅黑"/>
                <a:ea typeface="微软雅黑"/>
              </a:rPr>
              <a:t>明文只在本机：脱敏前与还原后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27648" y="3566160"/>
            <a:ext cx="2926080" cy="17780"/>
          </a:xfrm>
          <a:prstGeom prst="rect">
            <a:avLst/>
          </a:prstGeom>
          <a:solidFill>
            <a:srgbClr val="C436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7648" y="363931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C4362F"/>
                </a:solidFill>
                <a:latin typeface="微软雅黑"/>
                <a:ea typeface="微软雅黑"/>
              </a:rPr>
              <a:t>模型侧无明文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224528"/>
            <a:ext cx="3429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A5C38"/>
                </a:solidFill>
                <a:latin typeface="微软雅黑"/>
                <a:ea typeface="微软雅黑"/>
              </a:rPr>
              <a:t>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498848"/>
            <a:ext cx="3474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27 类实体；正则粗筛 + 校验位/位数/姓氏窗口精验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4224528"/>
            <a:ext cx="3429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A5C38"/>
                </a:solidFill>
                <a:latin typeface="微软雅黑"/>
                <a:ea typeface="微软雅黑"/>
              </a:rPr>
              <a:t>还原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498848"/>
            <a:ext cx="3474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映射表 Fernet 加密、主密钥 DPAPI 保护，不进模型上下文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36992" y="4224528"/>
            <a:ext cx="3429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A5C38"/>
                </a:solidFill>
                <a:latin typeface="微软雅黑"/>
                <a:ea typeface="微软雅黑"/>
              </a:rPr>
              <a:t>目标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6992" y="4498848"/>
            <a:ext cx="3474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律所 / 医院 / 制造企业 / 政府外包：既要用 AI，又不能交原文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440680"/>
            <a:ext cx="11057839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577840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6324F"/>
                </a:solidFill>
                <a:latin typeface="微软雅黑"/>
                <a:ea typeface="微软雅黑"/>
              </a:rPr>
              <a:t>一句话：不是少用 AI，而是让模型只看见占位符。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961888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识别靠规则，还原在本机，审计留痕。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163"/>
                </a:solidFill>
                <a:latin typeface="微软雅黑"/>
                <a:ea typeface="微软雅黑"/>
              </a:rPr>
              <a:t>02  主要功能与预期目标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6324F"/>
                </a:solidFill>
                <a:latin typeface="微软雅黑"/>
                <a:ea typeface="微软雅黑"/>
              </a:rPr>
              <a:t>三组能力，四个目标：可用、不可见、可审计、可部署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>
                <a:solidFill>
                  <a:srgbClr val="5B6B7C"/>
                </a:solidFill>
                <a:latin typeface="微软雅黑"/>
                <a:ea typeface="微软雅黑"/>
              </a:rPr>
              <a:t>普通功能不单独占页；把时间留给能证明差异的三个关键动作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隐盾安全智能体 · 正式答辩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03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916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A163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93392"/>
            <a:ext cx="3337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6324F"/>
                </a:solidFill>
                <a:latin typeface="微软雅黑"/>
                <a:ea typeface="微软雅黑"/>
              </a:rPr>
              <a:t>对话与资料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688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· 脱敏对话：27 类实体在内存中替换为占位符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8211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· 脱敏知识库：入库即脱敏，向量库零明文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89534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· 检索结果标注“片段不是全文”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96511" y="1691640"/>
            <a:ext cx="10972" cy="32461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5968" y="16916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A163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1993392"/>
            <a:ext cx="3337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6324F"/>
                </a:solidFill>
                <a:latin typeface="微软雅黑"/>
                <a:ea typeface="微软雅黑"/>
              </a:rPr>
              <a:t>文件操作与审计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24688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· 15 个文件/办公工具，默认可读写范围覆盖桌面/文档/下载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318211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· 写盘、删除、命令执行前熔断审批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89534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· 每次工具调用、审批、还原都写入哈希链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45551" y="1691640"/>
            <a:ext cx="10972" cy="32461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7" y="16916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A163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7" y="1993392"/>
            <a:ext cx="3337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6324F"/>
                </a:solidFill>
                <a:latin typeface="微软雅黑"/>
                <a:ea typeface="微软雅黑"/>
              </a:rPr>
              <a:t>统一后台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7" y="2468880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· 企业控制面：只汇总掩码事件与元数据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7" y="318211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· 策略只能收紧，端点上报默认关闭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7" y="389534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· 插件体系：能力可扩展，判定权不外包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138928"/>
            <a:ext cx="11057839" cy="100584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266944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A5C38"/>
                </a:solidFill>
                <a:latin typeface="微软雅黑"/>
                <a:ea typeface="微软雅黑"/>
              </a:rPr>
              <a:t>可用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5412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3"/>
                </a:solidFill>
                <a:latin typeface="微软雅黑"/>
                <a:ea typeface="微软雅黑"/>
              </a:rPr>
              <a:t>2B/4B 量化模型 · CPU 可跑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1296" y="5266944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A5C38"/>
                </a:solidFill>
                <a:latin typeface="微软雅黑"/>
                <a:ea typeface="微软雅黑"/>
              </a:rPr>
              <a:t>不可见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11296" y="55412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3"/>
                </a:solidFill>
                <a:latin typeface="微软雅黑"/>
                <a:ea typeface="微软雅黑"/>
              </a:rPr>
              <a:t>已识别实体出网明文 0 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5266944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A5C38"/>
                </a:solidFill>
                <a:latin typeface="微软雅黑"/>
                <a:ea typeface="微软雅黑"/>
              </a:rPr>
              <a:t>可审计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55412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3"/>
                </a:solidFill>
                <a:latin typeface="微软雅黑"/>
                <a:ea typeface="微软雅黑"/>
              </a:rPr>
              <a:t>工具 / 审批 / 还原全部留痕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4272" y="5266944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A5C38"/>
                </a:solidFill>
                <a:latin typeface="微软雅黑"/>
                <a:ea typeface="微软雅黑"/>
              </a:rPr>
              <a:t>可部署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4272" y="55412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3"/>
                </a:solidFill>
                <a:latin typeface="微软雅黑"/>
                <a:ea typeface="微软雅黑"/>
              </a:rPr>
              <a:t>两个免安装 exe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163"/>
                </a:solidFill>
                <a:latin typeface="微软雅黑"/>
                <a:ea typeface="微软雅黑"/>
              </a:rPr>
              <a:t>02  主要功能 · 脱敏对话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6324F"/>
                </a:solidFill>
                <a:latin typeface="微软雅黑"/>
                <a:ea typeface="微软雅黑"/>
              </a:rPr>
              <a:t>模型全程看不见真值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>
                <a:solidFill>
                  <a:srgbClr val="5B6B7C"/>
                </a:solidFill>
                <a:latin typeface="微软雅黑"/>
                <a:ea typeface="微软雅黑"/>
              </a:rPr>
              <a:t>识别在本地、由规则完成；模型只负责推理，不负责判断哪些是隐私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隐盾安全智能体 · 正式答辩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04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A5C38"/>
                </a:solidFill>
                <a:latin typeface="微软雅黑"/>
                <a:ea typeface="微软雅黑"/>
              </a:rPr>
              <a:t>本地正则 + 程序化精验，不调用模型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4709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微软雅黑"/>
                <a:ea typeface="微软雅黑"/>
              </a:rPr>
              <a:t>手机号看 11 位；银行卡过 Luhn；身份证过 GB11643 校验位；人名看“姓氏表 ∩ 触发词窗口”。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761488"/>
            <a:ext cx="4709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微软雅黑"/>
                <a:ea typeface="微软雅黑"/>
              </a:rPr>
              <a:t>规则可扩展：自定义敏感词表（字面词 + 正则）、自定义姓名/通讯录、行业词表插件。项目代号、客户名单、内部术语都能加。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913632"/>
            <a:ext cx="4663440" cy="658368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023360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5B6B7C"/>
                </a:solidFill>
                <a:latin typeface="微软雅黑"/>
                <a:ea typeface="微软雅黑"/>
              </a:rPr>
              <a:t>用户看到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4215384"/>
            <a:ext cx="4434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Consolas"/>
                <a:ea typeface="Consolas"/>
              </a:rPr>
              <a:t>孙良硕  ·  13700001111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45152"/>
            <a:ext cx="4663440" cy="658368"/>
          </a:xfrm>
          <a:prstGeom prst="rect">
            <a:avLst/>
          </a:prstGeom>
          <a:solidFill>
            <a:srgbClr val="E9F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754880"/>
            <a:ext cx="4434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5C38"/>
                </a:solidFill>
                <a:latin typeface="微软雅黑"/>
                <a:ea typeface="微软雅黑"/>
              </a:rPr>
              <a:t>模型看到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946904"/>
            <a:ext cx="4434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A5C38"/>
                </a:solidFill>
                <a:latin typeface="Consolas"/>
                <a:ea typeface="Consolas"/>
              </a:rPr>
              <a:t>[NAME_0_o6g8]  ·  [PHONE_0_gm1z]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77840"/>
            <a:ext cx="4709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映射表不进模型上下文；回答回到本机才还原。对已识别实体，出网明文 0 例。</a:t>
            </a:r>
          </a:p>
        </p:txBody>
      </p:sp>
      <p:pic>
        <p:nvPicPr>
          <p:cNvPr id="18" name="Picture 17" descr="conv_p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635944"/>
            <a:ext cx="5989320" cy="217793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23560" y="3950208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图 1  真实客户端：发送后先过隐私网关，回答回到本机还原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23560" y="4315968"/>
            <a:ext cx="5989320" cy="1298448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79008" y="4425696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5B6B7C"/>
                </a:solidFill>
                <a:latin typeface="微软雅黑"/>
                <a:ea typeface="微软雅黑"/>
              </a:rPr>
              <a:t>审计预览 · 模型输入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9008" y="4663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A5C38"/>
                </a:solidFill>
                <a:latin typeface="Consolas"/>
                <a:ea typeface="Consolas"/>
              </a:rPr>
              <a:t>乙方联系人为 [NAME_0_o6g8]，联系电话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9008" y="502920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只有占位符，不含真值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5705856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图 2  审计预览：模型输入/输出只有占位符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163"/>
                </a:solidFill>
                <a:latin typeface="微软雅黑"/>
                <a:ea typeface="微软雅黑"/>
              </a:rPr>
              <a:t>03  设计方案及技术实现 · 审批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6324F"/>
                </a:solidFill>
                <a:latin typeface="微软雅黑"/>
                <a:ea typeface="微软雅黑"/>
              </a:rPr>
              <a:t>先判用途，再判操作，最后才放行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>
                <a:solidFill>
                  <a:srgbClr val="5B6B7C"/>
                </a:solidFill>
                <a:latin typeface="微软雅黑"/>
                <a:ea typeface="微软雅黑"/>
              </a:rPr>
              <a:t>三层回答三个不同问题；判定权始终在人，不在模型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隐盾安全智能体 · 正式答辩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05 / 08</a:t>
            </a:r>
          </a:p>
        </p:txBody>
      </p:sp>
      <p:pic>
        <p:nvPicPr>
          <p:cNvPr id="8" name="Picture 7" descr="approval_layer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70964"/>
            <a:ext cx="4160520" cy="42853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309360"/>
            <a:ext cx="4160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B6B7C"/>
                </a:solidFill>
                <a:latin typeface="微软雅黑"/>
                <a:ea typeface="微软雅黑"/>
              </a:rPr>
              <a:t>图 3  审批弹窗界面（演示数据）：先“正在研判”，再给出用途红线与建议</a:t>
            </a:r>
          </a:p>
        </p:txBody>
      </p:sp>
      <p:sp>
        <p:nvSpPr>
          <p:cNvPr id="10" name="Oval 9"/>
          <p:cNvSpPr/>
          <p:nvPr/>
        </p:nvSpPr>
        <p:spPr>
          <a:xfrm>
            <a:off x="5074920" y="1645920"/>
            <a:ext cx="256032" cy="256032"/>
          </a:xfrm>
          <a:prstGeom prst="ellipse">
            <a:avLst/>
          </a:prstGeom>
          <a:solidFill>
            <a:srgbClr val="16A163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16276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6324F"/>
                </a:solidFill>
                <a:latin typeface="微软雅黑"/>
                <a:ea typeface="微软雅黑"/>
              </a:rPr>
              <a:t>用途红线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1920240"/>
            <a:ext cx="6080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5C38"/>
                </a:solidFill>
                <a:latin typeface="微软雅黑"/>
                <a:ea typeface="微软雅黑"/>
              </a:rPr>
              <a:t>内核确定性规则，不依赖模型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2194560"/>
            <a:ext cx="61264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收集个人信息 + 出售/牟利 → 模型和工具之前直接拒绝；+ 外发/公开 → 弹窗顶部红色警示</a:t>
            </a:r>
          </a:p>
        </p:txBody>
      </p:sp>
      <p:sp>
        <p:nvSpPr>
          <p:cNvPr id="14" name="Oval 13"/>
          <p:cNvSpPr/>
          <p:nvPr/>
        </p:nvSpPr>
        <p:spPr>
          <a:xfrm>
            <a:off x="5074920" y="2971800"/>
            <a:ext cx="256032" cy="256032"/>
          </a:xfrm>
          <a:prstGeom prst="ellipse">
            <a:avLst/>
          </a:prstGeom>
          <a:solidFill>
            <a:srgbClr val="16A163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295351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6324F"/>
                </a:solidFill>
                <a:latin typeface="微软雅黑"/>
                <a:ea typeface="微软雅黑"/>
              </a:rPr>
              <a:t>意图预判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246120"/>
            <a:ext cx="6080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5C38"/>
                </a:solidFill>
                <a:latin typeface="微软雅黑"/>
                <a:ea typeface="微软雅黑"/>
              </a:rPr>
              <a:t>内核规则 + 本地模型补充细节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520440"/>
            <a:ext cx="61264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意图 / 数据 / 去向 / 用途；模型只能加重，不能减轻；模型不可用就不硬凑结论</a:t>
            </a:r>
          </a:p>
        </p:txBody>
      </p:sp>
      <p:sp>
        <p:nvSpPr>
          <p:cNvPr id="18" name="Oval 17"/>
          <p:cNvSpPr/>
          <p:nvPr/>
        </p:nvSpPr>
        <p:spPr>
          <a:xfrm>
            <a:off x="5074920" y="4297679"/>
            <a:ext cx="256032" cy="256032"/>
          </a:xfrm>
          <a:prstGeom prst="ellipse">
            <a:avLst/>
          </a:prstGeom>
          <a:solidFill>
            <a:srgbClr val="16A163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4279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6324F"/>
                </a:solidFill>
                <a:latin typeface="微软雅黑"/>
                <a:ea typeface="微软雅黑"/>
              </a:rPr>
              <a:t>操作风险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572000"/>
            <a:ext cx="6080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5C38"/>
                </a:solidFill>
                <a:latin typeface="微软雅黑"/>
                <a:ea typeface="微软雅黑"/>
              </a:rPr>
              <a:t>laya 三级：本机 → 局域网 → 正则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4846320"/>
            <a:ext cx="61264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高危 / 中危 / 低危；只评动作本身，不评价请求用途，来源如实标注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5742432"/>
            <a:ext cx="6492240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5852160"/>
            <a:ext cx="6492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4362F"/>
                </a:solidFill>
                <a:latin typeface="微软雅黑"/>
                <a:ea typeface="微软雅黑"/>
              </a:rPr>
              <a:t>用途触线时，「是否相符」不再发言——避免用“相符”给危险请求背书。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163"/>
                </a:solidFill>
                <a:latin typeface="微软雅黑"/>
                <a:ea typeface="微软雅黑"/>
              </a:rPr>
              <a:t>03  设计方案及技术实现 · 审计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6324F"/>
                </a:solidFill>
                <a:latin typeface="微软雅黑"/>
                <a:ea typeface="微软雅黑"/>
              </a:rPr>
              <a:t>审计不是“不可写”，是“可发现”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>
                <a:solidFill>
                  <a:srgbClr val="5B6B7C"/>
                </a:solidFill>
                <a:latin typeface="微软雅黑"/>
                <a:ea typeface="微软雅黑"/>
              </a:rPr>
              <a:t>HMAC-SHA256 哈希链 + 链锚点；每次打开面板都重新校验，不读缓存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隐盾安全智能体 · 正式答辩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06 / 08</a:t>
            </a:r>
          </a:p>
        </p:txBody>
      </p:sp>
      <p:pic>
        <p:nvPicPr>
          <p:cNvPr id="8" name="Picture 7" descr="audit_real_p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75637"/>
            <a:ext cx="3703320" cy="4457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309360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B6B7C"/>
                </a:solidFill>
                <a:latin typeface="微软雅黑"/>
                <a:ea typeface="微软雅黑"/>
              </a:rPr>
              <a:t>图 4  真实会话的审计面板：概览与链状态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645920"/>
            <a:ext cx="6995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6324F"/>
                </a:solidFill>
                <a:latin typeface="微软雅黑"/>
                <a:ea typeface="微软雅黑"/>
              </a:rPr>
              <a:t>打开即校验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956816"/>
            <a:ext cx="6995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每次展开审计面板都重跑 verify_chain_detail 与 anchor_health；徽标不是缓存结果。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697480"/>
            <a:ext cx="6995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6324F"/>
                </a:solidFill>
                <a:latin typeface="微软雅黑"/>
                <a:ea typeface="微软雅黑"/>
              </a:rPr>
              <a:t>每条可追溯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008376"/>
            <a:ext cx="6995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工具调用、隐私检测/还原、审批决策、模型输入输出都在链上；只存脱敏预览。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749039"/>
            <a:ext cx="6995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6324F"/>
                </a:solidFill>
                <a:latin typeface="微软雅黑"/>
                <a:ea typeface="微软雅黑"/>
              </a:rPr>
              <a:t>六种删改可发现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059935"/>
            <a:ext cx="6995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1F2933"/>
                </a:solidFill>
                <a:latin typeface="微软雅黑"/>
                <a:ea typeface="微软雅黑"/>
              </a:rPr>
              <a:t>改中间条目、尾部截断、同长度改写、降级改写、删锚点、批内断链，均有回归用例。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5074920"/>
            <a:ext cx="6903720" cy="841248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193792"/>
            <a:ext cx="6629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A9761B"/>
                </a:solidFill>
                <a:latin typeface="微软雅黑"/>
                <a:ea typeface="微软雅黑"/>
              </a:rPr>
              <a:t>边界如实说：能重写整台机器的攻击者超出防护目标（等价用户本人）。纯本地审计挡不住这一层，所以准确说法是“可发现”，不是“物理不可写”。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163"/>
                </a:solidFill>
                <a:latin typeface="微软雅黑"/>
                <a:ea typeface="微软雅黑"/>
              </a:rPr>
              <a:t>03  设计方案及技术实现 · 扩展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6324F"/>
                </a:solidFill>
                <a:latin typeface="微软雅黑"/>
                <a:ea typeface="微软雅黑"/>
              </a:rPr>
              <a:t>能力可以加，判定权不外包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>
                <a:solidFill>
                  <a:srgbClr val="5B6B7C"/>
                </a:solidFill>
                <a:latin typeface="微软雅黑"/>
                <a:ea typeface="微软雅黑"/>
              </a:rPr>
              <a:t>laya 只做建议、插件只做加法、控制面只能收紧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隐盾安全智能体 · 正式答辩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7C"/>
                </a:solidFill>
                <a:latin typeface="微软雅黑"/>
                <a:ea typeface="微软雅黑"/>
              </a:rPr>
              <a:t>07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64208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微软雅黑"/>
                <a:ea typeface="微软雅黑"/>
              </a:rPr>
              <a:t>laya 三级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75104"/>
            <a:ext cx="3337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5C38"/>
                </a:solidFill>
                <a:latin typeface="微软雅黑"/>
                <a:ea typeface="微软雅黑"/>
              </a:rPr>
              <a:t>按数据边界由近及远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59152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933"/>
                </a:solidFill>
                <a:latin typeface="微软雅黑"/>
                <a:ea typeface="微软雅黑"/>
              </a:rPr>
              <a:t>· 本机 laya 模型：数据不出机器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072384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933"/>
                </a:solidFill>
                <a:latin typeface="微软雅黑"/>
                <a:ea typeface="微软雅黑"/>
              </a:rPr>
              <a:t>· 局域网 laya 服务：出机器不出内网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85616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933"/>
                </a:solidFill>
                <a:latin typeface="微软雅黑"/>
                <a:ea typeface="微软雅黑"/>
              </a:rPr>
              <a:t>· 正则规则：全离线，规则空则如实说未给出结论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498848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933"/>
                </a:solidFill>
                <a:latin typeface="微软雅黑"/>
                <a:ea typeface="微软雅黑"/>
              </a:rPr>
              <a:t>· 每级写明来源；模型不可用自动回落，不冒充“模型结论”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96511" y="1664208"/>
            <a:ext cx="10972" cy="361188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1664208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微软雅黑"/>
                <a:ea typeface="微软雅黑"/>
              </a:rPr>
              <a:t>插件只做加法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1975104"/>
            <a:ext cx="3337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5C38"/>
                </a:solidFill>
                <a:latin typeface="微软雅黑"/>
                <a:ea typeface="微软雅黑"/>
              </a:rPr>
              <a:t>7 个内置插件 · 5 类公开钩子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2359152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933"/>
                </a:solidFill>
                <a:latin typeface="微软雅黑"/>
                <a:ea typeface="微软雅黑"/>
              </a:rPr>
              <a:t>· 只能多识别、多解析、多导出、多模板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072384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933"/>
                </a:solidFill>
                <a:latin typeface="微软雅黑"/>
                <a:ea typeface="微软雅黑"/>
              </a:rPr>
              <a:t>· approve / mask / bypass / whitelist / write_audit 等判定类钩子永久禁止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3785616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933"/>
                </a:solidFill>
                <a:latin typeface="微软雅黑"/>
                <a:ea typeface="微软雅黑"/>
              </a:rPr>
              <a:t>· 载荷净化 · 超时隔离 · 内核兜底 · 启停即收回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45551" y="1664208"/>
            <a:ext cx="10972" cy="361188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5007" y="1664208"/>
            <a:ext cx="3337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微软雅黑"/>
                <a:ea typeface="微软雅黑"/>
              </a:rPr>
              <a:t>控制面只收紧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7" y="1975104"/>
            <a:ext cx="3337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5C38"/>
                </a:solidFill>
                <a:latin typeface="微软雅黑"/>
                <a:ea typeface="微软雅黑"/>
              </a:rPr>
              <a:t>企业后台 · 演示级原型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7" y="2359152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933"/>
                </a:solidFill>
                <a:latin typeface="微软雅黑"/>
                <a:ea typeface="微软雅黑"/>
              </a:rPr>
              <a:t>· 只上报掩码事件与元数据，提示词与回答不经过控制面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7" y="3072384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933"/>
                </a:solidFill>
                <a:latin typeface="微软雅黑"/>
                <a:ea typeface="微软雅黑"/>
              </a:rPr>
              <a:t>· 策略只能收紧：敏感路径并集、审批下限取更严、插件取交集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7" y="3785616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933"/>
                </a:solidFill>
                <a:latin typeface="微软雅黑"/>
                <a:ea typeface="微软雅黑"/>
              </a:rPr>
              <a:t>· 默认关闭；每次上报成功/失败都写本地审计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413248"/>
            <a:ext cx="11057839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559552"/>
            <a:ext cx="7680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A5C38"/>
                </a:solidFill>
                <a:latin typeface="微软雅黑"/>
                <a:ea typeface="微软雅黑"/>
              </a:rPr>
              <a:t>插件是“能力插座”，不是“权限后门”。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61888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能力可以扩展，安全边界不外包：脱敏、审批、审计、沙箱的判定始终在内核。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FD3B4"/>
                </a:solidFill>
                <a:latin typeface="微软雅黑"/>
                <a:ea typeface="微软雅黑"/>
              </a:rPr>
              <a:t>04  创新及应用前景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微软雅黑"/>
                <a:ea typeface="微软雅黑"/>
              </a:rPr>
              <a:t>四个创新，四个能落地的场景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11057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>
                <a:solidFill>
                  <a:srgbClr val="C9D8E6"/>
                </a:solidFill>
                <a:latin typeface="微软雅黑"/>
                <a:ea typeface="微软雅黑"/>
              </a:rPr>
              <a:t>每一项都给一句可验证的证据；边界也如实说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19088"/>
            <a:ext cx="11057839" cy="10972"/>
          </a:xfrm>
          <a:prstGeom prst="rect">
            <a:avLst/>
          </a:prstGeom>
          <a:solidFill>
            <a:srgbClr val="2C4A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FA3B8"/>
                </a:solidFill>
                <a:latin typeface="微软雅黑"/>
                <a:ea typeface="微软雅黑"/>
              </a:rPr>
              <a:t>隐盾安全智能体 · 正式答辩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A3B8"/>
                </a:solidFill>
                <a:latin typeface="微软雅黑"/>
                <a:ea typeface="微软雅黑"/>
              </a:rPr>
              <a:t>08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FD3B4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16002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内存级脱敏网关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911095"/>
            <a:ext cx="5897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9D8E6"/>
                </a:solidFill>
                <a:latin typeface="微软雅黑"/>
                <a:ea typeface="微软雅黑"/>
              </a:rPr>
              <a:t>机密性是架构保证，不依赖识别率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185416"/>
            <a:ext cx="5897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FD3B4"/>
                </a:solidFill>
                <a:latin typeface="微软雅黑"/>
                <a:ea typeface="微软雅黑"/>
              </a:rPr>
              <a:t>证据：已识别实体出网明文 0 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651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FD3B4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62432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先判用途，再判操作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935224"/>
            <a:ext cx="5897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9D8E6"/>
                </a:solidFill>
                <a:latin typeface="微软雅黑"/>
                <a:ea typeface="微软雅黑"/>
              </a:rPr>
              <a:t>审批不再只问“对不对得上”，先问“该不该做”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209544"/>
            <a:ext cx="5897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FD3B4"/>
                </a:solidFill>
                <a:latin typeface="微软雅黑"/>
                <a:ea typeface="微软雅黑"/>
              </a:rPr>
              <a:t>证据：个人信息 + 出售/牟利 → 模型前拒绝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6758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FD3B4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48456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laya 三级 + 插件只做加法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959352"/>
            <a:ext cx="5897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9D8E6"/>
                </a:solidFill>
                <a:latin typeface="微软雅黑"/>
                <a:ea typeface="微软雅黑"/>
              </a:rPr>
              <a:t>安全能力可按数据边界扩展，判定权永不外包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33672"/>
            <a:ext cx="5897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FD3B4"/>
                </a:solidFill>
                <a:latin typeface="微软雅黑"/>
                <a:ea typeface="微软雅黑"/>
              </a:rPr>
              <a:t>证据：7 个插件；判定类钩子永久禁止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7000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FD3B4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672584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可验证交付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83480"/>
            <a:ext cx="5897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9D8E6"/>
                </a:solidFill>
                <a:latin typeface="微软雅黑"/>
                <a:ea typeface="微软雅黑"/>
              </a:rPr>
              <a:t>测试通过不是安全证明，但每一步都能复核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257800"/>
            <a:ext cx="5897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FD3B4"/>
                </a:solidFill>
                <a:latin typeface="微软雅黑"/>
                <a:ea typeface="微软雅黑"/>
              </a:rPr>
              <a:t>证据：39 个套件；verify_archive 0 问题；双 exe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1627632"/>
            <a:ext cx="10972" cy="3977639"/>
          </a:xfrm>
          <a:prstGeom prst="rect">
            <a:avLst/>
          </a:prstGeom>
          <a:solidFill>
            <a:srgbClr val="2C4A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1627632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FD3B4"/>
                </a:solidFill>
                <a:latin typeface="微软雅黑"/>
                <a:ea typeface="微软雅黑"/>
              </a:rPr>
              <a:t>应用场景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1938528"/>
            <a:ext cx="42062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律所：合同审查 / 卷宗归档
医院：病历摘要 / 科研整理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2788920"/>
            <a:ext cx="42062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制造：供应商合同 / 报价单
政府外包：涉密文档流转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3675887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8FD3B4"/>
                </a:solidFill>
                <a:latin typeface="微软雅黑"/>
                <a:ea typeface="微软雅黑"/>
              </a:rPr>
              <a:t>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3977639"/>
            <a:ext cx="42062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C9D8E6"/>
                </a:solidFill>
                <a:latin typeface="微软雅黑"/>
                <a:ea typeface="微软雅黑"/>
              </a:rPr>
              <a:t>控制面是演示级原型：RBAC / TLS / 多租户是下一步；识别率是经验值（留出集 264/280），未覆盖 16 例公开。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577840"/>
            <a:ext cx="11057839" cy="10972"/>
          </a:xfrm>
          <a:prstGeom prst="rect">
            <a:avLst/>
          </a:prstGeom>
          <a:solidFill>
            <a:srgbClr val="2C4A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571500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隐私保护不该是使用约定，而应是架构约束。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30207" y="614476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A3B8"/>
                </a:solidFill>
                <a:latin typeface="Consolas"/>
                <a:ea typeface="Consolas"/>
              </a:rPr>
              <a:t>V3.6.20 ·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