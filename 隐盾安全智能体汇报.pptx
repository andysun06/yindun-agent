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开场不念目录。第一句话：涉密办公要用 AI，但敏感原文不能出本机——我们做的是让这件事可落地。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出发点很直接：涉密办公要用 AI，但敏感原文不能出本机。风险集中在四个环节：发给 AI 时原文出网、存到电脑里留下副本、历史记录越积越多、AI 动手时未经确认就写删改。我们对应做了四道本地控制：入口脱敏、脱敏日志加加密存储、会话加密加审计、审批加权限。右边这张图说明分工：你的数据先经过隐盾内核，模型只收到占位符；回答回来由本机还原。框架负责识别、脱敏、权限、审批、审计，模型只做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先总后分：上面一组是三组能力，回答“能做什么”；下面一组是四个目标，回答“做到什么程度”。三组能力分别是对话与资料、文件操作与审计、统一后台；四个目标分别是可用、不可见、可审计、可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Luhn，身份证看 18 位形状与出生日期，带分隔符的形态再过校验位；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扩展性有三条边界。laya 是近一个月才火起来的决策模型，我们第一时间接进项目：用它判断动作本身危不危险，本机优先、局域网次之、正则兜底，来源如实标注；它只做建议、不参与放行。插件只有建议型和增强型能力，判定类钩子永久禁止，所以它是能力插座，不是权限后门。控制面只上报掩码事件与元数据，策略只能收紧，默认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第一个创新是内存级脱敏网关：模型物理上看不见真值，机密性是架构保证，不是识别率保证；对已识别实体，出网明文 0 例。第二个是先判用途再判操作：先问这件事该不该做，再问操作对不对得上；收集个人信息去出售，在模型和工具之前就拒绝。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第三个创新是 laya 决策模型的快速适配：它是近一个月才火起来的决策模型，我们第一时间接进项目，用它判断动作本身危不危险；本机优先、局域网次之、正则兜底，只做建议、不参与放行。第四个是脱敏知识库：入库即逐块脱敏，向量库只存占位符，检索结果明确标注片段不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72768"/>
            <a:ext cx="88879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黑体"/>
                <a:ea typeface="黑体"/>
              </a:rPr>
              <a:t>隐盾安全智能体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黑体"/>
                <a:ea typeface="黑体"/>
              </a:rPr>
              <a:t>面向数据隐私安全的 AI 协同办公桌面智能体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让 AI 看得见任务，看不见隐私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761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星辰大海 团队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计算机科学与网络工程学院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指导老师：王艳        队长：余齐政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队员：孙良硕　薛晓晴　陈俊豪　张晶</a:t>
            </a:r>
          </a:p>
          <a:p>
            <a:pPr algn="ctr">
              <a:lnSpc>
                <a:spcPct val="117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/>
            </a: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黑体"/>
                <a:ea typeface="黑体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涉密办公用 AI：敏感原文不出本机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四个泄露环节，对应四道本地控制；模型只收到占位符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1810512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1947672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发给 AI 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286000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聊天内容会离开这台电脑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898648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入口脱敏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43784" y="1810512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0088" y="1947672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存到电脑里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8" y="2286000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缓存和日志可能留下原文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9008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0088" y="2898648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脱敏日志 + 加密存储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" y="3383280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52044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历史记录里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858768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会话、知识库越积越多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3982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471416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会话加密 + 审计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43784" y="3383280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90088" y="352044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AI 动手时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90088" y="3858768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未经确认就写、删、改文件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90088" y="43982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0088" y="4471416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审批 + 权限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1737360"/>
            <a:ext cx="6245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架构分工：真值止于本机，模型只做推理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04688" y="202996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02C13"/>
                </a:solidFill>
                <a:latin typeface="黑体"/>
                <a:ea typeface="黑体"/>
              </a:rPr>
              <a:t>本机可信域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2231136"/>
            <a:ext cx="4023360" cy="2542032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559552" y="2542032"/>
            <a:ext cx="93268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96128" y="2615184"/>
            <a:ext cx="8595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F2329"/>
                </a:solidFill>
                <a:latin typeface="黑体"/>
                <a:ea typeface="黑体"/>
              </a:rPr>
              <a:t>① 你的数据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8" y="2871216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姓名 / 文件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76288" y="2468880"/>
            <a:ext cx="1572768" cy="914400"/>
          </a:xfrm>
          <a:prstGeom prst="roundRect">
            <a:avLst>
              <a:gd name="adj" fmla="val 7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67728" y="2560320"/>
            <a:ext cx="1389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黑体"/>
                <a:ea typeface="黑体"/>
              </a:rPr>
              <a:t>② 隐盾内核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67728" y="2834640"/>
            <a:ext cx="13898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>
                <a:solidFill>
                  <a:srgbClr val="D6EBE0"/>
                </a:solidFill>
                <a:latin typeface="黑体"/>
                <a:ea typeface="黑体"/>
              </a:rPr>
              <a:t>识别 · 脱敏 · 权限
审批 · 审计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46920" y="2468880"/>
            <a:ext cx="190195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38360" y="2560320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002C13"/>
                </a:solidFill>
                <a:latin typeface="黑体"/>
                <a:ea typeface="黑体"/>
              </a:rPr>
              <a:t>③ 云端 / 本地模型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2834640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只推理 · 只看见占位符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0" y="3675887"/>
            <a:ext cx="2148840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143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88352" y="3758184"/>
            <a:ext cx="20025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002C13"/>
                </a:solidFill>
                <a:latin typeface="黑体"/>
                <a:ea typeface="黑体"/>
              </a:rPr>
              <a:t>④ 本机还原：占位符换回真值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492240" y="2916936"/>
            <a:ext cx="384048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8449056" y="2916936"/>
            <a:ext cx="1197864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8540496" y="257860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05826"/>
                </a:solidFill>
                <a:latin typeface="黑体"/>
                <a:ea typeface="黑体"/>
              </a:rPr>
              <a:t>只发占位符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597896" y="3383280"/>
            <a:ext cx="0" cy="50292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52" name="Connector 51"/>
          <p:cNvCxnSpPr/>
          <p:nvPr/>
        </p:nvCxnSpPr>
        <p:spPr>
          <a:xfrm flipH="1">
            <a:off x="9464040" y="3886200"/>
            <a:ext cx="1133856" cy="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9601200" y="3493008"/>
            <a:ext cx="9326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返回仍是占位符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546336" y="2286000"/>
            <a:ext cx="0" cy="1874520"/>
          </a:xfrm>
          <a:prstGeom prst="line">
            <a:avLst/>
          </a:prstGeom>
          <a:ln w="12700">
            <a:solidFill>
              <a:srgbClr val="005826"/>
            </a:solidFill>
            <a:prstDash val="dash"/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9070848" y="2029968"/>
            <a:ext cx="9692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05826"/>
                </a:solidFill>
                <a:latin typeface="黑体"/>
                <a:ea typeface="黑体"/>
              </a:rPr>
              <a:t>信任边界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0" y="4297680"/>
            <a:ext cx="37490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框架负责：识别 · 脱敏 · 权限 · 审批 · 审计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4553712"/>
            <a:ext cx="3749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975"/>
                </a:solidFill>
                <a:latin typeface="黑体"/>
                <a:ea typeface="黑体"/>
              </a:rPr>
              <a:t>模型负责：只做推理，只收到占位符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2064" y="4983480"/>
            <a:ext cx="11173968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2064" y="5074920"/>
            <a:ext cx="11173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隐盾 = 面向涉密办公的本地化隐私防护桌面智能体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2064" y="5394960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B6975"/>
                </a:solidFill>
                <a:latin typeface="黑体"/>
                <a:ea typeface="黑体"/>
              </a:rPr>
              <a:t>数据进模型前脱敏，回答回本机还原；模型侧看不到姓名、文件内容与历史记录。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12064" y="571500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944" y="5861304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2C13"/>
                </a:solidFill>
                <a:latin typeface="黑体"/>
                <a:ea typeface="黑体"/>
              </a:rPr>
              <a:t>设计目标：可用 · 不可见 · 可审计 · 可部署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89520" y="5897880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适用：律所 / 医院 / 制造 / 政府外包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三组能力覆盖办公流程，四个目标定义交付标准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能力回答“能做什么”，目标回答“做到什么程度”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1907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74650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一、三组能力 · 能做什么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2084831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" y="221284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359152"/>
            <a:ext cx="32186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01 对话与资料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788920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脱敏对话：27 类实体替换为占位符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319272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脱敏知识库：入库即脱敏，零明文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849624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检索结果标注「片段不是全文」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8536" y="221284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9703" y="2359152"/>
            <a:ext cx="32186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02 文件操作与审计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9703" y="2788920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15 个文件与办公工具，覆盖常用目录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9703" y="3319272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写盘、删除、命令执行前熔断审批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9703" y="3849624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工具、审批、还原全部写入哈希链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5008" y="221284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6176" y="2359152"/>
            <a:ext cx="32186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03 统一后台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6" y="2788920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控制面只汇总掩码事件与元数据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6176" y="3319272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策略只能收紧，上报默认关闭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6" y="3849624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插件：能力可扩展，判定权不外包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2064" y="455371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458114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二、四个目标 · 做到什么程度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" y="4919472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1206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可用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2B/4B 量化模型 · CPU 可跑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4670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1129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不可见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129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已识别实体出网明文 0 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8134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4593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可审计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4593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工具 / 审批 / 还原全部留痕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1598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57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可部署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057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客户端 + 控制端，免安装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模型全程看不见隐私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识别在本地、由规则完成；模型只负责推理，不负责判断哪些是隐私</a:t>
            </a:r>
          </a:p>
        </p:txBody>
      </p:sp>
      <p:pic>
        <p:nvPicPr>
          <p:cNvPr id="14" name="Picture 13" descr="demo_privacy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完整流程：输入 → 发送 → 模型加载 → 回答还原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本地正则 + 精验，不调用模型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31720"/>
            <a:ext cx="4800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手机号看 11 位；银行卡过 Luhn；身份证看 18 位形状与出生日期，带分隔符的形态再过校验位；人名看姓氏表 ∩ 触发词窗口。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401568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975"/>
                </a:solidFill>
                <a:latin typeface="黑体"/>
                <a:ea typeface="黑体"/>
              </a:rPr>
              <a:t>用户看到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301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Times New Roman"/>
              </a:rPr>
              <a:t>孙良硕 · 13700001111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005072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5826"/>
                </a:solidFill>
                <a:latin typeface="黑体"/>
                <a:ea typeface="黑体"/>
              </a:rPr>
              <a:t>模型看到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233672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Times New Roman"/>
                <a:ea typeface="Times New Roman"/>
              </a:rPr>
              <a:t>[NAME_0_o6g8] · [PHONE_0_gm1z]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663440"/>
            <a:ext cx="48006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6975"/>
                </a:solidFill>
                <a:latin typeface="黑体"/>
                <a:ea typeface="黑体"/>
              </a:rPr>
              <a:t>映射表加密、不进模型上下文；回答回本机才还原。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580644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91616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黑体"/>
                <a:ea typeface="黑体"/>
              </a:rPr>
              <a:t>对已识别实体，出网明文 0 例；识别靠规则，不靠模型。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三层立体判断：先用途，再意图，最后操作风险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三层回答三个不同问题；判定权在人，不在模型</a:t>
            </a:r>
          </a:p>
        </p:txBody>
      </p:sp>
      <p:pic>
        <p:nvPicPr>
          <p:cNvPr id="14" name="Picture 13" descr="demo_approval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" y="1810512"/>
            <a:ext cx="5939942" cy="37124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961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完整流程：写文件请求 → 弹窗 → 授权 → 执行成功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1810512"/>
            <a:ext cx="5029200" cy="406908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1938528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920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用途红线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212848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内核确定性规则，不依赖模型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468880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收集个人信息 + 出售/牟利 → 模型和工具之前直接拒绝；外发/公开 → 顶部红色警示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054096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意图预判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328415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内核规则 + 本地模型补充细节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584448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意图 / 数据 / 去向 / 用途；模型只能加重，不能减轻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169663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51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操作风险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443983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决策模型：本机 → 局域网 → 正则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700016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高危 / 中危 / 低危；只评动作本身，来源如实标注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5376672"/>
            <a:ext cx="461772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546811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B03A2E"/>
                </a:solidFill>
                <a:latin typeface="黑体"/>
                <a:ea typeface="黑体"/>
              </a:rPr>
              <a:t>用途触线时，「是否相符」不再发言。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审计黑匣子：每次使用都留痕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打开即校验、可追溯；不可写只是其中一个亮点</a:t>
            </a:r>
          </a:p>
        </p:txBody>
      </p:sp>
      <p:pic>
        <p:nvPicPr>
          <p:cNvPr id="14" name="Picture 13" descr="demo_audit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完整流程：对话完成 → 打开审计 → 滚动查看事件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打开即校验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249424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每次展开面板都重跑链校验与锚点检查；徽标不是缓存。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871216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每条可追溯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182112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工具调用、隐私检测/还原、审批决策都在链上；只存脱敏预览。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803904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六种删改可发现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改中间、尾部截断、降级改写、删锚点等，均有回归用例。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4681728"/>
            <a:ext cx="4800600" cy="713232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4848" y="4754880"/>
            <a:ext cx="45902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B47800"/>
                </a:solidFill>
                <a:latin typeface="黑体"/>
                <a:ea typeface="黑体"/>
              </a:rPr>
              <a:t>边界：能重写整台机器的攻击者超出防护目标。准确说法是“可发现”，不是“物理不可写”。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万物皆插件：能力可以通过插件增加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决策模型快速适配；控制端已可用</a:t>
            </a:r>
          </a:p>
        </p:txBody>
      </p:sp>
      <p:pic>
        <p:nvPicPr>
          <p:cNvPr id="14" name="Picture 13" descr="demo_plugins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4"/>
            <a:ext cx="5394960" cy="33718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266944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插件页：能力清单、运行状态与启停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810512"/>
            <a:ext cx="5532120" cy="37033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92024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 · 快速适配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231136"/>
            <a:ext cx="5166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近一个月走红的决策模型，我们第一时间接进项目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523744"/>
            <a:ext cx="5166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· 判断动作本身危不危险，输出高/中/低危
· 本机优先 → 局域网 → 正则回退，来源标明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2461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插件只做加法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5387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判定类钩子永久禁止：approve / mask / bypass / whitelist
· 载荷净化 · 超时隔离 · 内核兜底 · 启停即收回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控制面只收紧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4531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控制端已交付：集中看掩码事件、下发更严策略
· 默认关闭；每次上报都写本地审计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749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只做建议、不参与放行；适配层做成插件。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576072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587044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黑体"/>
                <a:ea typeface="黑体"/>
              </a:rPr>
              <a:t>插件是“能力插座”，不是“权限后门”。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四个创新（一）：网关与用途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每一项配一段真实操作，先看它解决什么问题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内存级脱敏网关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入口处完成替换：真值只在本机内存，模型上下文只有占位符</a:t>
            </a:r>
          </a:p>
        </p:txBody>
      </p:sp>
      <p:pic>
        <p:nvPicPr>
          <p:cNvPr id="19" name="Picture 18" descr="06_网关占位符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证据：审计里 LLM 输入只有 [NAME_0_x]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先判用途，再判操作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用途触线时直接拒绝：不调用模型，也不给审批放行机会</a:t>
            </a:r>
          </a:p>
        </p:txBody>
      </p:sp>
      <p:pic>
        <p:nvPicPr>
          <p:cNvPr id="26" name="Picture 25" descr="07_用途红线拒绝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证据：个人信息 + 出售/牟利 → 模型前拒绝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四个创新（二）：分级与知识库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第一时间适配；知识库入库即脱敏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决策模型：第一时间适配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近一个月走红，我们第一时间接进项目</a:t>
            </a:r>
          </a:p>
        </p:txBody>
      </p:sp>
      <p:pic>
        <p:nvPicPr>
          <p:cNvPr id="19" name="Picture 18" descr="08_laya决策模型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证据：本机→局域网→正则；只做建议、不参与放行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脱敏知识库：入库即脱敏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向量库只存占位符；检索标注“片段不是全文”</a:t>
            </a:r>
          </a:p>
        </p:txBody>
      </p:sp>
      <p:pic>
        <p:nvPicPr>
          <p:cNvPr id="26" name="Picture 25" descr="demo_kb_hi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证据：入库即脱敏；向量库零明文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09 /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5961888"/>
            <a:ext cx="11173968" cy="3840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025896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场景：律所 / 医院 / 制造 / 政府外包　　边界：控制面演示级原型；识别率 264/280（经验值）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黑体"/>
                <a:ea typeface="黑体"/>
              </a:rPr>
              <a:t>敬请各位老师批评指正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隐私保护不该是使用约定，而应是架构约束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识别覆盖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27 类敏感实体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架构承诺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已识别实体 0 明文出网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2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当前版本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V3.6.20 · 2026.10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Times New Roman"/>
                <a:ea typeface="Times New Roman"/>
              </a:rPr>
              <a:t>隐盾 · 面向数据隐私安全的 AI 协同办公桌面智能体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