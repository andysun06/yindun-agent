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6" r:id="rId11"/>
    <p:sldId id="263" r:id="rId12"/>
    <p:sldId id="264" r:id="rId13"/>
    <p:sldId id="265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3" userDrawn="1">
          <p15:clr>
            <a:srgbClr val="A4A3A4"/>
          </p15:clr>
        </p15:guide>
        <p15:guide id="2" pos="28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26"/>
    <a:srgbClr val="EEF6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3"/>
        <p:guide pos="289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链和锚点，徽标不是缓存；现场可以直接点一次盾牌图标验证。左下这张图是实测：删掉尾部 331 条后打开审计面板，锚点记录 5177 条、现有 4846 条，校验立即报“尾部被截断”；重建锚点必须人工确认，不会自动接受被删改的链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张卡片分别是态势总览、事件台账、策略下发、统计分析。控制端不是新的模型能力，而是把端点已经落盘的掩码事件集中起来看：它看到的和端点本地审计落盘的内容一样，掩码态、链头、元数据，拿不到真值，也不代理模型流量。策略只能收紧：敏感路径取并集、审批下限取更严，豁免/放行/白名单不在通路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image" Target="../media/image4.png"/><Relationship Id="rId9" Type="http://schemas.openxmlformats.org/officeDocument/2006/relationships/slideLayout" Target="../slideLayouts/slideLayout7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tags" Target="../tags/tag10.xml"/><Relationship Id="rId5" Type="http://schemas.openxmlformats.org/officeDocument/2006/relationships/image" Target="../media/image6.png"/><Relationship Id="rId6" Type="http://schemas.openxmlformats.org/officeDocument/2006/relationships/tags" Target="../tags/tag11.xml"/><Relationship Id="rId7" Type="http://schemas.openxmlformats.org/officeDocument/2006/relationships/tags" Target="../tags/tag12.xml"/><Relationship Id="rId8" Type="http://schemas.openxmlformats.org/officeDocument/2006/relationships/tags" Target="../tags/tag13.xml"/><Relationship Id="rId9" Type="http://schemas.openxmlformats.org/officeDocument/2006/relationships/tags" Target="../tags/tag14.xml"/><Relationship Id="rId10" Type="http://schemas.openxmlformats.org/officeDocument/2006/relationships/tags" Target="../tags/tag15.xml"/><Relationship Id="rId11" Type="http://schemas.openxmlformats.org/officeDocument/2006/relationships/image" Target="../media/image7.png"/><Relationship Id="rId12" Type="http://schemas.openxmlformats.org/officeDocument/2006/relationships/tags" Target="../tags/tag16.xml"/><Relationship Id="rId13" Type="http://schemas.openxmlformats.org/officeDocument/2006/relationships/tags" Target="../tags/tag17.xml"/><Relationship Id="rId14" Type="http://schemas.openxmlformats.org/officeDocument/2006/relationships/tags" Target="../tags/tag18.xml"/><Relationship Id="rId15" Type="http://schemas.openxmlformats.org/officeDocument/2006/relationships/tags" Target="../tags/tag19.xml"/><Relationship Id="rId16" Type="http://schemas.openxmlformats.org/officeDocument/2006/relationships/tags" Target="../tags/tag20.xml"/><Relationship Id="rId17" Type="http://schemas.openxmlformats.org/officeDocument/2006/relationships/image" Target="../media/image8.png"/><Relationship Id="rId18" Type="http://schemas.openxmlformats.org/officeDocument/2006/relationships/tags" Target="../tags/tag21.xml"/><Relationship Id="rId19" Type="http://schemas.openxmlformats.org/officeDocument/2006/relationships/tags" Target="../tags/tag22.xml"/><Relationship Id="rId20" Type="http://schemas.openxmlformats.org/officeDocument/2006/relationships/tags" Target="../tags/tag23.xml"/><Relationship Id="rId21" Type="http://schemas.openxmlformats.org/officeDocument/2006/relationships/tags" Target="../tags/tag24.xml"/><Relationship Id="rId22" Type="http://schemas.openxmlformats.org/officeDocument/2006/relationships/tags" Target="../tags/tag25.xml"/><Relationship Id="rId23" Type="http://schemas.openxmlformats.org/officeDocument/2006/relationships/image" Target="../media/image9.png"/><Relationship Id="rId24" Type="http://schemas.openxmlformats.org/officeDocument/2006/relationships/tags" Target="../tags/tag26.xml"/><Relationship Id="rId25" Type="http://schemas.openxmlformats.org/officeDocument/2006/relationships/slideLayout" Target="../slideLayouts/slideLayout7.xml"/><Relationship Id="rId2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1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GIF"/><Relationship Id="rId2" Type="http://schemas.openxmlformats.org/officeDocument/2006/relationships/image" Target="../media/image13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42288"/>
            <a:ext cx="8887968" cy="830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隐盾安全智能体</a:t>
            </a:r>
            <a:endParaRPr sz="5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面向数据隐私安全的 AI 协同办公桌面智能体</a:t>
            </a:r>
            <a:endParaRPr sz="2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让 AI 看得见任务，看不见隐私</a:t>
            </a:r>
            <a:endParaRPr sz="2000" b="1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581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星辰大海 团队</a:t>
            </a:r>
            <a:endParaRPr sz="19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计算机科学与网络工程学院</a:t>
            </a:r>
            <a:endParaRPr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指导老师：王艳      </a:t>
            </a:r>
            <a:r>
              <a:rPr lang="en-US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队长：余齐政</a:t>
            </a:r>
            <a:endParaRPr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队员：孙良硕　薛晓晴　陈俊豪　张晶</a:t>
            </a:r>
            <a:endParaRPr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7000"/>
              </a:lnSpc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 年 1</a:t>
            </a:r>
            <a:r>
              <a:rPr lang="en-US" sz="1900" b="1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900" b="1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月</a:t>
            </a:r>
            <a:endParaRPr sz="1900" b="1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Rounded Rectangle 35"/>
          <p:cNvSpPr/>
          <p:nvPr/>
        </p:nvSpPr>
        <p:spPr>
          <a:xfrm>
            <a:off x="5440680" y="2005965"/>
            <a:ext cx="3886835" cy="288290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涉密办公用 AI：敏感原文不出本机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四个泄露环节，对应四道本地控制；模型只收到占位符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6410" y="1810385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296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发给 AI 时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296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聊天内容会离开这台电脑</a:t>
            </a:r>
            <a:endParaRPr sz="13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29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2968" y="2898648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入口脱敏</a:t>
            </a:r>
            <a:endParaRPr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04490" y="1810385"/>
            <a:ext cx="229489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05104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存到电脑里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05104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缓存和日志可能留下原文</a:t>
            </a:r>
            <a:endParaRPr sz="13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05104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51175" y="2898775"/>
            <a:ext cx="2107565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脱敏日志</a:t>
            </a:r>
            <a:r>
              <a:rPr 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</a:t>
            </a:r>
            <a:r>
              <a:rPr 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加密存储</a:t>
            </a:r>
            <a:endParaRPr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6410" y="3408680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296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历史记录里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2968" y="3884168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会话、知识库越积越多</a:t>
            </a:r>
            <a:endParaRPr sz="13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296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296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会话加密 + 审计</a:t>
            </a:r>
            <a:endParaRPr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904490" y="3408680"/>
            <a:ext cx="2294255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05104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动手时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51175" y="3884295"/>
            <a:ext cx="2056130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未经确认就写、删、改文件</a:t>
            </a:r>
            <a:endParaRPr sz="13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5104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05104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审批 + 权限</a:t>
            </a:r>
            <a:endParaRPr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40680" y="1688465"/>
            <a:ext cx="6245352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架构分工：真值止于本机，模型只做推理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59298" y="2106168"/>
            <a:ext cx="18288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</a:rPr>
              <a:t>本机可信域</a:t>
            </a:r>
            <a:endParaRPr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59425" y="2503805"/>
            <a:ext cx="1222375" cy="9404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745988" y="2626614"/>
            <a:ext cx="85953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你的数据</a:t>
            </a:r>
            <a:endParaRPr sz="12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31815" y="2952750"/>
            <a:ext cx="1089025" cy="4133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indent="0" algn="ctr" fontAlgn="auto">
              <a:lnSpc>
                <a:spcPct val="115000"/>
              </a:lnSpc>
            </a:pPr>
            <a:r>
              <a:rPr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姓名</a:t>
            </a:r>
            <a:r>
              <a:rPr lang="en-US"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altLang="en-US"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手机号</a:t>
            </a:r>
            <a:br>
              <a:rPr lang="zh-CN" altLang="en-US"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en-US" altLang="zh-CN"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 </a:t>
            </a:r>
            <a:r>
              <a:rPr lang="zh-CN" altLang="en-US"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地址</a:t>
            </a:r>
            <a:r>
              <a:rPr lang="en-US" altLang="zh-CN"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</a:t>
            </a:r>
            <a:endParaRPr lang="zh-CN" altLang="en-US" sz="105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165975" y="2504440"/>
            <a:ext cx="1572895" cy="94107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257288" y="2626360"/>
            <a:ext cx="1389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隐盾内核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57288" y="2910840"/>
            <a:ext cx="1389888" cy="370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D6EB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识别 · 脱敏 · 权限
审批 · 审计</a:t>
            </a:r>
            <a:endParaRPr sz="1050" b="0">
              <a:solidFill>
                <a:srgbClr val="D6EB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9835515" y="2503170"/>
            <a:ext cx="1901825" cy="91567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893935" y="2626360"/>
            <a:ext cx="1719072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云端 / 本地模型</a:t>
            </a:r>
            <a:endParaRPr sz="12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926955" y="2988310"/>
            <a:ext cx="1719072" cy="16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只推理 · 只看见占位符</a:t>
            </a:r>
            <a:endParaRPr sz="105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815455" y="3711575"/>
            <a:ext cx="2298065" cy="42037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909435" y="3823970"/>
            <a:ext cx="209232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本机还原：占位符换回真值</a:t>
            </a:r>
            <a:endParaRPr sz="12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6781800" y="295249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733536" y="2952496"/>
            <a:ext cx="1106170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733536" y="2689733"/>
            <a:ext cx="10058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只发占位符</a:t>
            </a:r>
            <a:endParaRPr sz="12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10819511" y="341884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>
            <a:endCxn id="46" idx="3"/>
          </p:cNvCxnSpPr>
          <p:nvPr/>
        </p:nvCxnSpPr>
        <p:spPr>
          <a:xfrm flipH="1">
            <a:off x="9113266" y="3921760"/>
            <a:ext cx="1706245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839960" y="4008120"/>
            <a:ext cx="109791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返回仍是占位符</a:t>
            </a:r>
            <a:endParaRPr sz="12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724136" y="232156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239758" y="2070608"/>
            <a:ext cx="969264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信任边界</a:t>
            </a:r>
            <a:endParaRPr sz="14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577840" y="4333240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框架负责：识别 · 脱敏 · 权限 · 审批 · 审计</a:t>
            </a:r>
            <a:endParaRPr sz="12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577840" y="4589272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模型负责：只做推理，只收到占位符</a:t>
            </a:r>
            <a:endParaRPr sz="12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12064" y="513080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12064" y="5222240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隐盾 = 面向涉密办公的本地化隐私防护桌面智能体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12064" y="5542280"/>
            <a:ext cx="1117396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数据进模型前脱敏，回答回本机还原；模型侧看不到姓名、文件内容与历史记录。</a:t>
            </a:r>
            <a:endParaRPr sz="14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2064" y="588772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61"/>
          <p:cNvSpPr txBox="1"/>
          <p:nvPr/>
        </p:nvSpPr>
        <p:spPr>
          <a:xfrm>
            <a:off x="694944" y="6054344"/>
            <a:ext cx="694944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设计目标：可用 · 不可见 · 可审计 · 可部署</a:t>
            </a:r>
            <a:endParaRPr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589520" y="6070600"/>
            <a:ext cx="39319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适用：律所 / 医院 / 制造 / 政府外包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02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三组能力覆盖办公流程，四个目标定义交付标准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能力回答“能做什么”，目标回答“做到什么程度”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2064" y="16581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4944" y="168554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一、三组能力 · 能做什么</a:t>
            </a:r>
            <a:endParaRPr sz="19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12064" y="202387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12064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13232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对话与资料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脱敏对话：30 类实体替换为占位符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3232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脱敏知识库：入库即脱敏，零明文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3232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检索结果标注「片段不是全文」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288536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89703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文件操作与审计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89703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15 个文件与办公工具，覆盖常用目录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489703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写盘、删除、命令执行前熔断审批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489703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工具、审批、还原全部写入哈希链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065008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66176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统一后台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66176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控制面只汇总掩码事件与元数据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66176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策略只能收紧，上报默认关闭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66176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插件：能力可扩展，判定权不外包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12064" y="45384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94944" y="456590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二、四个目标 · 做到什么程度</a:t>
            </a:r>
            <a:endParaRPr sz="19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12064" y="490423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1206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可用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7665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2B/4B 量化模型 · CPU 可跑</a:t>
            </a:r>
            <a:endParaRPr sz="1400" b="0">
              <a:solidFill>
                <a:srgbClr val="D6EB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34670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不可见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51129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已识别实体出网明文 0 例</a:t>
            </a:r>
            <a:endParaRPr sz="1400" b="0">
              <a:solidFill>
                <a:srgbClr val="D6EB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18134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可审计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34593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 / 审批 / 还原全部留痕</a:t>
            </a:r>
            <a:endParaRPr sz="1400" b="0">
              <a:solidFill>
                <a:srgbClr val="D6EB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01598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可部署</a:t>
            </a:r>
            <a:endParaRPr sz="2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8057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标准安装包 + 单文件试用</a:t>
            </a:r>
            <a:endParaRPr sz="1400" b="0">
              <a:solidFill>
                <a:srgbClr val="D6EB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03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模型全程看不见隐私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247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识别在本地、由规则完成；模型只负责推理，不负责判断哪些是隐私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95" y="1659255"/>
            <a:ext cx="6146800" cy="38423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30088"/>
            <a:ext cx="5760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完整流程：输入 → 发送 → 模型加载 → 回答还原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42405" y="1659255"/>
            <a:ext cx="5166360" cy="389445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725285" y="178739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本地正则 + 精验，不调用模型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5285" y="2180590"/>
            <a:ext cx="4800600" cy="996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lang="en-US" sz="16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sz="16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手机号看 11 位；银行卡过 Luhn；身份证看 18 位形状与出生日期，带分隔符的形态再过校验位；人名看姓氏表 ∩ 触发词窗口。</a:t>
            </a:r>
            <a:endParaRPr sz="16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5285" y="3496818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用户看到</a:t>
            </a:r>
            <a:endParaRPr sz="1600" b="1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24675" y="3797935"/>
            <a:ext cx="450151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孙良硕 · 13700001111</a:t>
            </a:r>
            <a:endParaRPr sz="16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25285" y="4151122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模型看到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24675" y="4455160"/>
            <a:ext cx="4501515" cy="2330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[NAME_0_</a:t>
            </a:r>
            <a:r>
              <a:rPr lang="en-US" altLang="zh-CN" sz="14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4y5v</a:t>
            </a:r>
            <a:r>
              <a:rPr sz="14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] · [PHONE_0_</a:t>
            </a:r>
            <a:r>
              <a:rPr lang="en-US" altLang="zh-CN" sz="14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me9f</a:t>
            </a:r>
            <a:r>
              <a:rPr sz="14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]</a:t>
            </a:r>
            <a:endParaRPr sz="14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25285" y="5015230"/>
            <a:ext cx="4800600" cy="3219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映射表加密、不进模型上下文；回答回本机才还原。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94005" y="5928360"/>
            <a:ext cx="11415395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12064" y="603808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对已识别实体，出网明文 0 例；识别靠规则，不靠模型。</a:t>
            </a:r>
            <a:endParaRPr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04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7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三层立体判断：先用途，再意图，最后操作风险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三层回答三个不同问题；判定权在人，不在模型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0385"/>
            <a:ext cx="6255385" cy="39096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0149" y="5878703"/>
            <a:ext cx="5943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完整流程：写文件请求 → 弹窗 → 授权 → 执行成功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95440" y="1810385"/>
            <a:ext cx="5029200" cy="439356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78320" y="1923288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①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44080" y="1920240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用途红线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44080" y="2238248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</a:rPr>
              <a:t>内核确定性规则，不依赖模型</a:t>
            </a:r>
            <a:endParaRPr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44080" y="2499360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收集个人信息 + 出售/牟利 → 模型和工具之前直接拒绝；外发/公开 → 顶部红色警示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78320" y="3176016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②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244080" y="3172968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意图预判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244080" y="3501135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内核规则 + 本地模型补充细节</a:t>
            </a:r>
            <a:endParaRPr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44080" y="3752088"/>
            <a:ext cx="4251960" cy="275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意图 / 数据 / 去向 / 用途；模型只能加重，不能减轻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78320" y="4464303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③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44080" y="4461256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操作风险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44080" y="4779263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lang="zh-CN" alt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正则保证兜底</a:t>
            </a:r>
            <a:r>
              <a:rPr lang="en-US" altLang="zh-CN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</a:t>
            </a:r>
            <a:r>
              <a:rPr lang="zh-CN" alt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可选</a:t>
            </a:r>
            <a:r>
              <a:rPr lang="en-US" altLang="zh-CN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</a:t>
            </a:r>
            <a:r>
              <a:rPr lang="zh-CN" alt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扩展</a:t>
            </a:r>
            <a:r>
              <a:rPr lang="zh-CN" alt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协助判断</a:t>
            </a:r>
            <a:endParaRPr lang="zh-CN" altLang="en-US"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44080" y="5040376"/>
            <a:ext cx="4251960" cy="275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高危 / 中危 / 低危；只评动作本身，来源如实标注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878320" y="547319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878320" y="5687822"/>
            <a:ext cx="4617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B03A2E"/>
                </a:solidFill>
                <a:latin typeface="微软雅黑" panose="020B0503020204020204" charset="-122"/>
                <a:ea typeface="微软雅黑" panose="020B0503020204020204" charset="-122"/>
              </a:rPr>
              <a:t>用途触线时，「是否相符」不再发言。</a:t>
            </a:r>
            <a:endParaRPr sz="1600" b="1">
              <a:solidFill>
                <a:srgbClr val="B03A2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05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2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审计黑匣子：每次使用都留痕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501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打开即校验、可追溯；不可写只是其中一个亮点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340" y="1898015"/>
            <a:ext cx="5985510" cy="3740785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492240" y="1810385"/>
            <a:ext cx="5166360" cy="385762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2"/>
            </p:custDataLst>
          </p:nvPr>
        </p:nvSpPr>
        <p:spPr>
          <a:xfrm>
            <a:off x="6675120" y="193852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打开即校验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3"/>
            </p:custDataLst>
          </p:nvPr>
        </p:nvSpPr>
        <p:spPr>
          <a:xfrm>
            <a:off x="6675120" y="2284984"/>
            <a:ext cx="48006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每次展开面板都重跑链校验与锚点检查；徽标不是缓存。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4"/>
            </p:custDataLst>
          </p:nvPr>
        </p:nvSpPr>
        <p:spPr>
          <a:xfrm>
            <a:off x="6675120" y="2840736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每条可追溯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5"/>
            </p:custDataLst>
          </p:nvPr>
        </p:nvSpPr>
        <p:spPr>
          <a:xfrm>
            <a:off x="6675120" y="3187192"/>
            <a:ext cx="48006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工具调用、隐私检测/还原、审批决策都在链上；只存脱敏预览。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6"/>
            </p:custDataLst>
          </p:nvPr>
        </p:nvSpPr>
        <p:spPr>
          <a:xfrm>
            <a:off x="6675120" y="3920744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六种删改可发现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7"/>
            </p:custDataLst>
          </p:nvPr>
        </p:nvSpPr>
        <p:spPr>
          <a:xfrm>
            <a:off x="6675120" y="4267200"/>
            <a:ext cx="48006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改中间、尾部截断、降级改写、删锚点等，均有回归用例。</a:t>
            </a:r>
            <a:b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b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</a:t>
            </a:r>
            <a:r>
              <a:rPr lang="zh-CN" alt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</a:t>
            </a:r>
            <a:r>
              <a:rPr lang="zh-CN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如：</a:t>
            </a:r>
            <a:endParaRPr lang="zh-CN"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2580" y="5861685"/>
            <a:ext cx="11336020" cy="527685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650" y="5965190"/>
            <a:ext cx="10638790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600" b="0">
                <a:solidFill>
                  <a:srgbClr val="B478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边界：能重写整台机器的攻击者超出防护目标。准确说法是“可发现”，不是“物理不可写”。</a:t>
            </a:r>
            <a:endParaRPr sz="1600" b="0">
              <a:solidFill>
                <a:srgbClr val="B478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06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6355" y="4614545"/>
            <a:ext cx="2828290" cy="882650"/>
          </a:xfrm>
          <a:prstGeom prst="rect">
            <a:avLst/>
          </a:prstGeom>
        </p:spPr>
      </p:pic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万物皆插件：能力可以通过插件增加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aya 决策模型快速适配；控制端已可用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10" y="1613535"/>
            <a:ext cx="6128385" cy="383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604129"/>
            <a:ext cx="53949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插件页：能力清单、运行状态与启停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771640" y="1613535"/>
            <a:ext cx="4867275" cy="395922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87210" y="174371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</a:t>
            </a:r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aya 决策模型 · </a:t>
            </a:r>
            <a:r>
              <a:rPr lang="zh-CN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扩展插件</a:t>
            </a:r>
            <a:endParaRPr lang="zh-CN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87210" y="2110486"/>
            <a:ext cx="51663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近一个月走红的决策模型，我们第一时间接进项目</a:t>
            </a:r>
            <a:endParaRPr sz="1400" b="1">
              <a:solidFill>
                <a:srgbClr val="002C1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87210" y="2402840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判断动作本身危不危险，输出高/中/低危
</a:t>
            </a: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本机优先 → 局域网</a:t>
            </a:r>
            <a:r>
              <a:rPr lang="zh-CN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其次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正则回退，来源标明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87210" y="334899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插件只做加法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87210" y="3682365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判定类钩子永久禁止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0" algn="l" fontAlgn="auto">
              <a:lnSpc>
                <a:spcPct val="150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载荷净化 </a:t>
            </a: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超时隔离 </a:t>
            </a: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内核兜底 </a:t>
            </a: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启停即收回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887210" y="461645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控制面只收紧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887210" y="4949825"/>
            <a:ext cx="4783455" cy="32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控制端已交付：集中看掩码事件、下发更严策略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12064" y="60096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611936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插件是“能力插座”，不是“权限后门”。</a:t>
            </a:r>
            <a:endParaRPr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07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969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1121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939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9091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908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7060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969" cy="9144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1248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控制端：集中看掩码事件，策略只能收紧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310513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管理机统一看端点状态；控制面不接触明文，也不代理模型流量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ectangle 29"/>
          <p:cNvSpPr/>
          <p:nvPr>
            <p:custDataLst>
              <p:tags r:id="rId1"/>
            </p:custDataLst>
          </p:nvPr>
        </p:nvSpPr>
        <p:spPr>
          <a:xfrm>
            <a:off x="511810" y="1666240"/>
            <a:ext cx="554736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>
            <p:custDataLst>
              <p:tags r:id="rId2"/>
            </p:custDataLst>
          </p:nvPr>
        </p:nvSpPr>
        <p:spPr>
          <a:xfrm>
            <a:off x="512064" y="166624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>
            <p:custDataLst>
              <p:tags r:id="rId3"/>
            </p:custDataLst>
          </p:nvPr>
        </p:nvSpPr>
        <p:spPr>
          <a:xfrm>
            <a:off x="676656" y="1721104"/>
            <a:ext cx="512064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态势总览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3" name="Picture 32" descr="control_overview_car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921004" y="1977136"/>
            <a:ext cx="4983480" cy="1737360"/>
          </a:xfrm>
          <a:prstGeom prst="rect">
            <a:avLst/>
          </a:prstGeom>
        </p:spPr>
      </p:pic>
      <p:sp>
        <p:nvSpPr>
          <p:cNvPr id="34" name="TextBox 33"/>
          <p:cNvSpPr txBox="1"/>
          <p:nvPr>
            <p:custDataLst>
              <p:tags r:id="rId6"/>
            </p:custDataLst>
          </p:nvPr>
        </p:nvSpPr>
        <p:spPr>
          <a:xfrm>
            <a:off x="676656" y="374192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证据：在管端点 / 事件 / 高风险 / 链告警 同屏</a:t>
            </a:r>
            <a:endParaRPr sz="1400" b="0">
              <a:solidFill>
                <a:srgbClr val="6E787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ectangle 34"/>
          <p:cNvSpPr/>
          <p:nvPr>
            <p:custDataLst>
              <p:tags r:id="rId7"/>
            </p:custDataLst>
          </p:nvPr>
        </p:nvSpPr>
        <p:spPr>
          <a:xfrm>
            <a:off x="6217920" y="1666240"/>
            <a:ext cx="550799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35"/>
          <p:cNvSpPr/>
          <p:nvPr>
            <p:custDataLst>
              <p:tags r:id="rId8"/>
            </p:custDataLst>
          </p:nvPr>
        </p:nvSpPr>
        <p:spPr>
          <a:xfrm>
            <a:off x="6217920" y="166624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>
            <p:custDataLst>
              <p:tags r:id="rId9"/>
            </p:custDataLst>
          </p:nvPr>
        </p:nvSpPr>
        <p:spPr>
          <a:xfrm>
            <a:off x="6382511" y="1721104"/>
            <a:ext cx="512064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事件台账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8" name="Picture 37" descr="control_events_car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626859" y="1977136"/>
            <a:ext cx="4983480" cy="1737360"/>
          </a:xfrm>
          <a:prstGeom prst="rect">
            <a:avLst/>
          </a:prstGeom>
        </p:spPr>
      </p:pic>
      <p:sp>
        <p:nvSpPr>
          <p:cNvPr id="39" name="TextBox 38"/>
          <p:cNvSpPr txBox="1"/>
          <p:nvPr>
            <p:custDataLst>
              <p:tags r:id="rId12"/>
            </p:custDataLst>
          </p:nvPr>
        </p:nvSpPr>
        <p:spPr>
          <a:xfrm>
            <a:off x="6382511" y="374192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</a:rPr>
              <a:t>证据：按端点、类型、级别检索；只显示掩码态</a:t>
            </a:r>
            <a:endParaRPr sz="1400" b="0">
              <a:solidFill>
                <a:srgbClr val="6E787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ectangle 39"/>
          <p:cNvSpPr/>
          <p:nvPr>
            <p:custDataLst>
              <p:tags r:id="rId13"/>
            </p:custDataLst>
          </p:nvPr>
        </p:nvSpPr>
        <p:spPr>
          <a:xfrm>
            <a:off x="511810" y="4185920"/>
            <a:ext cx="554736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>
            <p:custDataLst>
              <p:tags r:id="rId14"/>
            </p:custDataLst>
          </p:nvPr>
        </p:nvSpPr>
        <p:spPr>
          <a:xfrm>
            <a:off x="512064" y="418592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>
            <p:custDataLst>
              <p:tags r:id="rId15"/>
            </p:custDataLst>
          </p:nvPr>
        </p:nvSpPr>
        <p:spPr>
          <a:xfrm>
            <a:off x="676656" y="4240784"/>
            <a:ext cx="512064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策略下发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43" name="Picture 42" descr="control_policy_car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921004" y="4496816"/>
            <a:ext cx="4983480" cy="1737360"/>
          </a:xfrm>
          <a:prstGeom prst="rect">
            <a:avLst/>
          </a:prstGeom>
        </p:spPr>
      </p:pic>
      <p:sp>
        <p:nvSpPr>
          <p:cNvPr id="44" name="TextBox 43"/>
          <p:cNvSpPr txBox="1"/>
          <p:nvPr>
            <p:custDataLst>
              <p:tags r:id="rId18"/>
            </p:custDataLst>
          </p:nvPr>
        </p:nvSpPr>
        <p:spPr>
          <a:xfrm>
            <a:off x="676656" y="626160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</a:rPr>
              <a:t>证据：敏感路径取并集，审批只能更严</a:t>
            </a:r>
            <a:endParaRPr sz="1400" b="0">
              <a:solidFill>
                <a:srgbClr val="6E787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>
            <p:custDataLst>
              <p:tags r:id="rId19"/>
            </p:custDataLst>
          </p:nvPr>
        </p:nvSpPr>
        <p:spPr>
          <a:xfrm>
            <a:off x="6217920" y="4185920"/>
            <a:ext cx="5507990" cy="233172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ectangle 45"/>
          <p:cNvSpPr/>
          <p:nvPr>
            <p:custDataLst>
              <p:tags r:id="rId20"/>
            </p:custDataLst>
          </p:nvPr>
        </p:nvSpPr>
        <p:spPr>
          <a:xfrm>
            <a:off x="6217920" y="4185920"/>
            <a:ext cx="54864" cy="23317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>
            <p:custDataLst>
              <p:tags r:id="rId21"/>
            </p:custDataLst>
          </p:nvPr>
        </p:nvSpPr>
        <p:spPr>
          <a:xfrm>
            <a:off x="6382511" y="4240784"/>
            <a:ext cx="512064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统计分析</a:t>
            </a:r>
            <a:endParaRPr sz="1600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48" name="Picture 47" descr="control_stats_car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6626859" y="4496816"/>
            <a:ext cx="4983480" cy="1737360"/>
          </a:xfrm>
          <a:prstGeom prst="rect">
            <a:avLst/>
          </a:prstGeom>
        </p:spPr>
      </p:pic>
      <p:sp>
        <p:nvSpPr>
          <p:cNvPr id="49" name="TextBox 48"/>
          <p:cNvSpPr txBox="1"/>
          <p:nvPr>
            <p:custDataLst>
              <p:tags r:id="rId24"/>
            </p:custDataLst>
          </p:nvPr>
        </p:nvSpPr>
        <p:spPr>
          <a:xfrm>
            <a:off x="6382511" y="626160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证据：趋势 / 类型 / 分布 / 端点活跃度</a:t>
            </a:r>
            <a:endParaRPr sz="1400" b="0">
              <a:solidFill>
                <a:srgbClr val="6E787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</a:t>
            </a:r>
            <a:r>
              <a:rPr lang="en-US"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8</a:t>
            </a:r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四个创新（一）：网关与用途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</a:rPr>
              <a:t>每一项配一段真实操作，先看它解决什么问题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737360"/>
            <a:ext cx="5394960" cy="461327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1810" y="1737360"/>
            <a:ext cx="76200" cy="461327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13232" y="18877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①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8796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内存级脱敏网关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8050" y="2231390"/>
            <a:ext cx="482219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入口处完成替换：真值只在本机内存，模型上下文只有占位符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785" y="2647950"/>
            <a:ext cx="5099050" cy="3187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464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证据：审计里 LLM 输入只有 [NAME_0_x]</a:t>
            </a:r>
            <a:endParaRPr sz="1400" b="0">
              <a:solidFill>
                <a:srgbClr val="6E787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31255" y="1737360"/>
            <a:ext cx="5436235" cy="458597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21730" y="1737360"/>
            <a:ext cx="76200" cy="458597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73951" y="18877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②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8796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先判用途，再判操作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94932" y="2229739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用途触线时直接拒绝：不调用模型，也不给审批放行机会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5" y="2651760"/>
            <a:ext cx="5099685" cy="3187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505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证据：个人信息 + 出售/牟利 → 模型前拒绝</a:t>
            </a:r>
            <a:endParaRPr sz="1400" b="0">
              <a:solidFill>
                <a:srgbClr val="6E787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</a:t>
            </a:r>
            <a:r>
              <a:rPr lang="en-US"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9</a:t>
            </a:r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Rectangle 13"/>
          <p:cNvSpPr/>
          <p:nvPr/>
        </p:nvSpPr>
        <p:spPr>
          <a:xfrm>
            <a:off x="511810" y="1737360"/>
            <a:ext cx="5394960" cy="461327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14"/>
          <p:cNvSpPr/>
          <p:nvPr/>
        </p:nvSpPr>
        <p:spPr>
          <a:xfrm>
            <a:off x="511810" y="1737360"/>
            <a:ext cx="76200" cy="461327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20"/>
          <p:cNvSpPr/>
          <p:nvPr/>
        </p:nvSpPr>
        <p:spPr>
          <a:xfrm>
            <a:off x="6231255" y="1737360"/>
            <a:ext cx="5436235" cy="458597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ectangle 21"/>
          <p:cNvSpPr/>
          <p:nvPr/>
        </p:nvSpPr>
        <p:spPr>
          <a:xfrm>
            <a:off x="6221730" y="1737360"/>
            <a:ext cx="76200" cy="458597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20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四个创新（二）：分级与知识库</a:t>
            </a:r>
            <a:endParaRPr sz="2400" b="1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aya 第一时间适配；知识库入库即脱敏</a:t>
            </a:r>
            <a:endParaRPr sz="1600" b="0">
              <a:solidFill>
                <a:srgbClr val="5B697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13232" y="189788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③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89484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</a:t>
            </a:r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aya 决策模型：</a:t>
            </a:r>
            <a:r>
              <a:rPr lang="zh-CN"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高度契合</a:t>
            </a:r>
            <a:endParaRPr lang="zh-CN"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23417" y="222402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alt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决策模型与我们的项目高度适配，第一时间适配并</a:t>
            </a:r>
            <a:r>
              <a:rPr lang="zh-CN" altLang="en-US"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</a:rPr>
              <a:t>优化</a:t>
            </a:r>
            <a:endParaRPr lang="zh-CN" altLang="en-US"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375" y="2604770"/>
            <a:ext cx="5062855" cy="31648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93547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证据：本机→局域网→正则；</a:t>
            </a:r>
            <a:r>
              <a:rPr lang="en-US"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Laya </a:t>
            </a:r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只做建议、不参与放行</a:t>
            </a:r>
            <a:endParaRPr sz="1400" b="0">
              <a:solidFill>
                <a:srgbClr val="6E787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73951" y="189788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④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89484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微软雅黑" panose="020B0503020204020204" charset="-122"/>
                <a:ea typeface="微软雅黑" panose="020B0503020204020204" charset="-122"/>
              </a:rPr>
              <a:t>脱敏知识库：入库即脱敏</a:t>
            </a:r>
            <a:endParaRPr b="1">
              <a:solidFill>
                <a:srgbClr val="0058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84137" y="222402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向量库只存占位符；检索标注“片段不是全文”</a:t>
            </a:r>
            <a:endParaRPr sz="1400" b="0">
              <a:solidFill>
                <a:srgbClr val="1F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3975" y="2603500"/>
            <a:ext cx="5059045" cy="31623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93547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微软雅黑" panose="020B0503020204020204" charset="-122"/>
                <a:ea typeface="微软雅黑" panose="020B0503020204020204" charset="-122"/>
              </a:rPr>
              <a:t>证据：入库即脱敏；向量库零明文</a:t>
            </a:r>
            <a:endParaRPr sz="1400" b="0">
              <a:solidFill>
                <a:srgbClr val="6E787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10</a:t>
            </a:r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676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敬请各位老师批评指正</a:t>
            </a:r>
            <a:endParaRPr sz="4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隐私保护不该是使用约定，而应是架构约束</a:t>
            </a:r>
            <a:endParaRPr sz="2000" b="1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27048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识别覆盖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7048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30 类敏感实体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架构承诺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0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已识别实体 0 明文出网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16952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当前版本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16952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V3.6.2</a:t>
            </a:r>
            <a:r>
              <a:rPr lang="en-US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1</a:t>
            </a:r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 · 2026.1</a:t>
            </a:r>
            <a:r>
              <a:rPr lang="en-US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1</a:t>
            </a:r>
            <a:endParaRPr lang="en-US"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隐盾 · 面向数据隐私安全的 AI 协同办公桌面智能体</a:t>
            </a:r>
            <a:endParaRPr sz="16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2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3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4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5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6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7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8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9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0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1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2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3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4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5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6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7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8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19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0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1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2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3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4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5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ags/tag26.xml><?xml version="1.0" encoding="utf-8"?>
<p:tagLst xmlns:p="http://schemas.openxmlformats.org/presentationml/2006/main">
  <p:tag name="KSO_WM_DIAGRAM_VIRTUALLY_FRAME" val="{&quot;height&quot;:385.6,&quot;left&quot;:40.3,&quot;top&quot;:129.6,&quot;width&quot;:883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2663</Words>
  <Application>WPS 演示</Application>
  <PresentationFormat>On-screen Show (4:3)</PresentationFormat>
  <Paragraphs>388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宋体</vt:lpstr>
      <vt:lpstr>Wingdings</vt:lpstr>
      <vt:lpstr>Arial</vt:lpstr>
      <vt:lpstr>微软雅黑</vt:lpstr>
      <vt:lpstr>楷体</vt:lpstr>
      <vt:lpstr>Times New Roman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Andy</cp:lastModifiedBy>
  <cp:revision>20</cp:revision>
  <dcterms:created xsi:type="dcterms:W3CDTF">2013-01-27T09:14:00Z</dcterms:created>
  <dcterms:modified xsi:type="dcterms:W3CDTF">2026-10-27T04:53:44Z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0542AC6E2416461EAA692F434C9AA738_12</vt:lpwstr>
  </property>
  <property fmtid="{D5CDD505-2E9C-101B-9397-08002B2CF9AE}" pid="3" name="KSOProductBuildVer">
    <vt:lpwstr>2052-12.1.0.28043</vt:lpwstr>
  </property>
</Properties>
</file>