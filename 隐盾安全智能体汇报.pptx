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开场不念目录。第一句话：AI 越普及，用户越会把敏感数据交给智能体，我们做的是让这件事变得敢用。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我们做隐盾的初衷很现实：AI 越普及，用户越会把个人信息、敏感文件甚至企业核心数据交给智能体；一旦在传输、存储或处理中泄露、被滥用，损失难以估量。一个值得信赖的智能体不仅要聪明，更要让人敢用。我们把脱敏做进模型入口：数据进模型前换成占位符，回答回本机再还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功能按三组讲：对话与资料、文件操作与审计、统一后台。普通功能不单独占页，重点看后面三个关键动作。预期目标四个：可用——本机 2B/4B 量化模型，不需要 GPU；不可见——对已识别实体，出网明文 0 例；可审计——每次操作留痕；可部署——两个免安装 exe。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先看脱敏对话。用户输入的是姓名、手机号、身份证这些真值；发送前，本地规则先做正则粗筛，再用程序化校验器精验——手机号看位数，银行卡过 Luhn，身份证过校验位，人名看姓氏表和触发词窗口。这一步不调用任何模型。模型真正收到的是占位符；回答回来，本机再把占位符换回真值。映射表加密、不进模型上下文，所以模型服务方拿到的只是一段占位符文本。对已经识别出来的实体，出网明文是 0 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批弹窗有三层。第一层是用途红线，内核确定性规则，在模型和工具之前执行：收集个人信息去出售或牟利，直接拒绝；外发或公开，顶部红色警示。第二层是意图预判，回答想干什么、涉及什么数据、去哪、什么用途，模型只能加重不能减轻。第三层是操作风险，laya 按本机、局域网、正则三级给高/中/低危，并标明来源，只评动作本身。三层都只是建议，放行由人决定。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审计不是普通日志。每次打开面板都会重新校验 HMAC 链和锚点，徽标不是缓存；现场可以直接点一次盾牌图标验证。每条工具调用、隐私检测、审批决策都在链上；审计里只存脱敏预览。改中间、尾部截断、降级改写、删锚点这些手法都能被发现。但能重写整台机器的人，我们挡不住，所以准确说是可发现，不是不可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扩展性有三条边界。laya 按本机、局域网、正则三级，每级标明来源，只做建议。插件只有建议型和增强型能力，判定类钩子永久禁止，所以它是能力插座，不是权限后门。控制面只上报掩码事件与元数据，策略只能收紧，默认关闭；它是管理能力，不是新的泄露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最后是四个创新。第一，内存级脱敏网关，机密性是架构保证，不是识别率保证；对已识别实体，出网明文 0 例。第二，先判用途再判操作，收集个人信息去出售，在模型和工具之前就拒绝。第三，laya 三级加插件只做加法：能力可以扩展，判定权不外包。第四，可验证交付：39 个套件、双 exe，打包后校验资产等于源码。场景先做律所、医院、制造和政府外包；边界也如实说，控制面还是演示级原型，识别率是经验值。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隐私保护不该是使用约定，而应是架构约束。谢谢各位评委。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15568"/>
            <a:ext cx="12191695" cy="2715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1572768"/>
            <a:ext cx="88879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黑体"/>
                <a:ea typeface="黑体"/>
              </a:rPr>
              <a:t>隐盾安全智能体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2542032"/>
            <a:ext cx="8887968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黑体"/>
                <a:ea typeface="黑体"/>
              </a:rPr>
              <a:t>面向数据隐私安全的 AI 协同办公桌面智能体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5064" y="3127248"/>
            <a:ext cx="88879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让 AI 看得见任务，看不见隐私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8728" y="4599432"/>
            <a:ext cx="5111496" cy="1143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44952" y="4059936"/>
            <a:ext cx="6099048" cy="2761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50000"/>
              </a:lnSpc>
              <a:spcAft>
                <a:spcPts val="1800"/>
              </a:spcAft>
            </a:pPr>
            <a:r>
              <a:rPr sz="1900" b="1">
                <a:solidFill>
                  <a:srgbClr val="005826"/>
                </a:solidFill>
                <a:latin typeface="黑体"/>
                <a:ea typeface="黑体"/>
              </a:rPr>
              <a:t>星辰大海 团队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计算机科学与网络工程学院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指导老师：王艳        队长：余齐政</a:t>
            </a:r>
          </a:p>
          <a:p>
            <a:pPr algn="ctr">
              <a:lnSpc>
                <a:spcPct val="150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>队员：孙良硕　薛晓晴　陈俊豪　张晶</a:t>
            </a:r>
          </a:p>
          <a:p>
            <a:pPr algn="ctr">
              <a:lnSpc>
                <a:spcPct val="117000"/>
              </a:lnSpc>
            </a:pPr>
            <a:r>
              <a:rPr sz="1900" b="0">
                <a:solidFill>
                  <a:srgbClr val="1F2329"/>
                </a:solidFill>
                <a:latin typeface="黑体"/>
                <a:ea typeface="黑体"/>
              </a:rPr>
              <a:t/>
            </a:r>
          </a:p>
          <a:p>
            <a:pPr algn="ctr">
              <a:lnSpc>
                <a:spcPct val="117000"/>
              </a:lnSpc>
            </a:pPr>
            <a:r>
              <a:rPr sz="1900" b="1">
                <a:solidFill>
                  <a:srgbClr val="5B6975"/>
                </a:solidFill>
                <a:latin typeface="黑体"/>
                <a:ea typeface="黑体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数据越敏感，越需要 AI；却越不能把数据交出去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出网、落盘、留痕、执行——四个环节都是泄露面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984248"/>
            <a:ext cx="2670048" cy="16002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0552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出网面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551176"/>
            <a:ext cx="2359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模型 API 把明文发往外部，
云端日志长期留存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74136" y="1984248"/>
            <a:ext cx="2670048" cy="16002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8728" y="2130552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落盘面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2551176"/>
            <a:ext cx="2359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缓存、运行日志与存档
把明文写进本地磁盘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3721608"/>
            <a:ext cx="2670048" cy="16002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3867912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留痕面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4288536"/>
            <a:ext cx="2359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会话、知识库、向量库
沉淀明文，回溯时再暴露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74136" y="3721608"/>
            <a:ext cx="2670048" cy="160020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8728" y="3867912"/>
            <a:ext cx="2340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执行面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288536"/>
            <a:ext cx="2359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模型未经确认就写删改文件，
高危操作直接落地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01968" y="1984248"/>
            <a:ext cx="5084064" cy="1901952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4848" y="2103120"/>
            <a:ext cx="4718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黑体"/>
                <a:ea typeface="黑体"/>
              </a:rPr>
              <a:t>产品定位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84848" y="2450592"/>
            <a:ext cx="4718304" cy="1261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FFFFFF"/>
                </a:solidFill>
                <a:latin typeface="黑体"/>
                <a:ea typeface="黑体"/>
              </a:rPr>
              <a:t>面向涉密办公场景的本地化
隐私防护桌面智能体
数据进模型前脱敏，回答回本机还原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01968" y="4087368"/>
            <a:ext cx="5084064" cy="1444752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4848" y="4206240"/>
            <a:ext cx="47183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005826"/>
                </a:solidFill>
                <a:latin typeface="黑体"/>
                <a:ea typeface="黑体"/>
              </a:rPr>
              <a:t>目标用户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4848" y="4599432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F2329"/>
                </a:solidFill>
                <a:latin typeface="Times New Roman"/>
                <a:ea typeface="Times New Roman"/>
              </a:rPr>
              <a:t>· 律所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7" y="4599432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F2329"/>
                </a:solidFill>
                <a:latin typeface="Times New Roman"/>
                <a:ea typeface="Times New Roman"/>
              </a:rPr>
              <a:t>· 医院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4848" y="5010912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F2329"/>
                </a:solidFill>
                <a:latin typeface="Times New Roman"/>
                <a:ea typeface="Times New Roman"/>
              </a:rPr>
              <a:t>· 制造企业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16567" y="5010912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F2329"/>
                </a:solidFill>
                <a:latin typeface="Times New Roman"/>
                <a:ea typeface="Times New Roman"/>
              </a:rPr>
              <a:t>· 政府外包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12064" y="5715000"/>
            <a:ext cx="11173968" cy="612648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064" y="5852160"/>
            <a:ext cx="11173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2C13"/>
                </a:solidFill>
                <a:latin typeface="黑体"/>
                <a:ea typeface="黑体"/>
              </a:rPr>
              <a:t>不是“少用 AI”，而是“放心用 AI”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02 / 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三组能力，四个目标：可用、不可见、可审计、可部署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普通功能不单独占页；把时间留给能证明差异的三个关键动作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920240"/>
            <a:ext cx="3566160" cy="30175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0574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01 对话与资料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542032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脱敏对话：27 类实体替换为占位符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3291839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脱敏知识库：入库即脱敏，向量库零明文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041648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检索结果标注“片段不是全文”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9392" y="1920240"/>
            <a:ext cx="3566160" cy="30175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2272" y="20574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02 文件操作与审计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2272" y="2542032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15 个文件/办公工具，覆盖桌面/文档/下载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3291839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写盘、删除、命令执行前熔断审批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2" y="4041648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工具调用、审批、还原全部写入哈希链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1920240"/>
            <a:ext cx="3566160" cy="30175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20574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03 统一后台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542032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控制面只汇总掩码事件与元数据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291839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策略只能收紧，上报默认关闭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041648"/>
            <a:ext cx="3200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1F2329"/>
                </a:solidFill>
                <a:latin typeface="黑体"/>
                <a:ea typeface="黑体"/>
              </a:rPr>
              <a:t>· 插件：能力可扩展，判定权不外包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5212080"/>
            <a:ext cx="2670048" cy="12984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321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可用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669280"/>
            <a:ext cx="239572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2B/4B 量化模型 · CPU 可跑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74136" y="5212080"/>
            <a:ext cx="2670048" cy="12984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20440" y="5321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不可见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5669280"/>
            <a:ext cx="239572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已识别实体出网明文 0 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36208" y="5212080"/>
            <a:ext cx="2670048" cy="12984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82512" y="5321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可审计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82512" y="5669280"/>
            <a:ext cx="239572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工具 / 审批 / 还原全部留痕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98280" y="5212080"/>
            <a:ext cx="2670048" cy="12984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44584" y="53218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可部署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44584" y="5669280"/>
            <a:ext cx="239572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D6EBE0"/>
                </a:solidFill>
                <a:latin typeface="黑体"/>
                <a:ea typeface="黑体"/>
              </a:rPr>
              <a:t>两个免安装 exe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03 / 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模型全程看不见真值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识别在本地、由规则完成；模型只负责推理，不负责判断哪些是隐私</a:t>
            </a:r>
          </a:p>
        </p:txBody>
      </p:sp>
      <p:pic>
        <p:nvPicPr>
          <p:cNvPr id="14" name="Picture 13" descr="conv_p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492" y="1847088"/>
            <a:ext cx="6713982" cy="24414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4370832"/>
            <a:ext cx="6720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B6975"/>
                </a:solidFill>
                <a:latin typeface="黑体"/>
                <a:ea typeface="黑体"/>
              </a:rPr>
              <a:t>真实客户端：发送后先过隐私网关，回答回到本机还原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1810512"/>
            <a:ext cx="4206240" cy="406908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1938528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05826"/>
                </a:solidFill>
                <a:latin typeface="黑体"/>
                <a:ea typeface="黑体"/>
              </a:rPr>
              <a:t>本地正则 + 精验，不调用模型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2331720"/>
            <a:ext cx="3840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手机号看 11 位；银行卡过 Luhn；身份证过 GB11643；人名看姓氏表 ∩ 触发词窗口。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3383280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B6975"/>
                </a:solidFill>
                <a:latin typeface="黑体"/>
                <a:ea typeface="黑体"/>
              </a:rPr>
              <a:t>用户看到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3611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Times New Roman"/>
              </a:rPr>
              <a:t>孙良硕 · 13700001111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3986784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05826"/>
                </a:solidFill>
                <a:latin typeface="黑体"/>
                <a:ea typeface="黑体"/>
              </a:rPr>
              <a:t>模型看到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421538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5826"/>
                </a:solidFill>
                <a:latin typeface="Times New Roman"/>
                <a:ea typeface="Times New Roman"/>
              </a:rPr>
              <a:t>[NAME_0_o6g8] · [PHONE_0_gm1z]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35240" y="4645152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B6975"/>
                </a:solidFill>
                <a:latin typeface="黑体"/>
                <a:ea typeface="黑体"/>
              </a:rPr>
              <a:t>映射表加密、不进模型上下文；回答回本机才还原。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5715000"/>
            <a:ext cx="11173968" cy="6126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852160"/>
            <a:ext cx="11173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黑体"/>
                <a:ea typeface="黑体"/>
              </a:rPr>
              <a:t>对已识别实体，出网明文 0 例；识别靠规则，不靠模型。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04 / 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先判用途，再判操作，最后才放行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三层回答三个不同问题；判定权始终在人，不在模型</a:t>
            </a:r>
          </a:p>
        </p:txBody>
      </p:sp>
      <p:pic>
        <p:nvPicPr>
          <p:cNvPr id="14" name="Picture 13" descr="approval_layers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818741"/>
            <a:ext cx="4023360" cy="41440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6126480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审批弹窗（演示数据）：先“正在研判”，再给出三层建议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1810512"/>
            <a:ext cx="6931152" cy="41605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6048" y="1975104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19568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黑体"/>
                <a:ea typeface="黑体"/>
              </a:rPr>
              <a:t>用途红线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58384" y="2267712"/>
            <a:ext cx="5989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2C13"/>
                </a:solidFill>
                <a:latin typeface="黑体"/>
                <a:ea typeface="黑体"/>
              </a:rPr>
              <a:t>内核确定性规则，不依赖模型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523744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收集个人信息 + 出售/牟利 → 模型和工具之前直接拒绝；+ 外发/公开 → 顶部红色警示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200400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1821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黑体"/>
                <a:ea typeface="黑体"/>
              </a:rPr>
              <a:t>意图预判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493008"/>
            <a:ext cx="5989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2C13"/>
                </a:solidFill>
                <a:latin typeface="黑体"/>
                <a:ea typeface="黑体"/>
              </a:rPr>
              <a:t>内核规则 + 本地模型补充细节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58384" y="3749039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意图 / 数据 / 去向 / 用途；模型只能加重，不能减轻；不可用就不硬凑结论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425696"/>
            <a:ext cx="365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44074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黑体"/>
                <a:ea typeface="黑体"/>
              </a:rPr>
              <a:t>操作风险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8384" y="4718304"/>
            <a:ext cx="5989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02C13"/>
                </a:solidFill>
                <a:latin typeface="黑体"/>
                <a:ea typeface="黑体"/>
              </a:rPr>
              <a:t>laya 三级：本机 → 局域网 → 正则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8384" y="4974336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高危 / 中危 / 低危；只评动作本身，不评价请求用途，来源如实标注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5577840"/>
            <a:ext cx="6492240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5687568"/>
            <a:ext cx="6492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B03A2E"/>
                </a:solidFill>
                <a:latin typeface="黑体"/>
                <a:ea typeface="黑体"/>
              </a:rPr>
              <a:t>用途触线时，「是否相符」不再发言——避免给危险请求背书。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05 / 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审计不是“不可写”，是“可发现”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HMAC-SHA256 哈希链 + 链锚点；每次打开面板都重新校验，不读缓存</a:t>
            </a:r>
          </a:p>
        </p:txBody>
      </p:sp>
      <p:pic>
        <p:nvPicPr>
          <p:cNvPr id="14" name="Picture 13" descr="audit_real_p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22" y="1810512"/>
            <a:ext cx="3608363" cy="4343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12064" y="6199632"/>
            <a:ext cx="3611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975"/>
                </a:solidFill>
                <a:latin typeface="黑体"/>
                <a:ea typeface="黑体"/>
              </a:rPr>
              <a:t>真实会话的审计面板：概览与链状态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1810512"/>
            <a:ext cx="7251192" cy="416052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975104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黑体"/>
                <a:ea typeface="黑体"/>
              </a:rPr>
              <a:t>打开即校验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286000"/>
            <a:ext cx="68580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每次展开面板都重跑 verify_chain_detail 与 anchor_health；徽标不是缓存。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962656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黑体"/>
                <a:ea typeface="黑体"/>
              </a:rPr>
              <a:t>每条可追溯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273552"/>
            <a:ext cx="68580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工具调用、隐私检测/还原、审批决策、模型输入输出都在链上；只存脱敏预览。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950208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5826"/>
                </a:solidFill>
                <a:latin typeface="黑体"/>
                <a:ea typeface="黑体"/>
              </a:rPr>
              <a:t>六种删改可发现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261104"/>
            <a:ext cx="68580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改中间、尾部截断、同长度改写、降级改写、删锚点、批内断链，均有回归用例。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17720" y="5047488"/>
            <a:ext cx="6858000" cy="749808"/>
          </a:xfrm>
          <a:prstGeom prst="rect">
            <a:avLst/>
          </a:prstGeom>
          <a:solidFill>
            <a:srgbClr val="FCF8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36592" y="5138928"/>
            <a:ext cx="6629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B47800"/>
                </a:solidFill>
                <a:latin typeface="黑体"/>
                <a:ea typeface="黑体"/>
              </a:rPr>
              <a:t>边界如实说：能重写整台机器的攻击者超出防护目标（等价用户本人）。准确说法是“可发现”，不是“物理不可写”。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06 / 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能力可以加，判定权不外包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laya 只做建议、插件只做加法、控制面只能收紧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874519"/>
            <a:ext cx="3566160" cy="361188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0116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黑体"/>
                <a:ea typeface="黑体"/>
              </a:rPr>
              <a:t>laya 三级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322576"/>
            <a:ext cx="3200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2C13"/>
                </a:solidFill>
                <a:latin typeface="黑体"/>
                <a:ea typeface="黑体"/>
              </a:rPr>
              <a:t>按数据边界由近及远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2697480"/>
            <a:ext cx="3200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· 本机 laya 模型：数据不出机器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3374136"/>
            <a:ext cx="3200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· 局域网 laya 服务：出机器不出内网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" y="4050792"/>
            <a:ext cx="3200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· 正则规则：全离线，空规则如实说未给出结论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4727448"/>
            <a:ext cx="3200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· 每级写明来源；不可用自动回落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9392" y="1874519"/>
            <a:ext cx="3566160" cy="361188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62272" y="20116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黑体"/>
                <a:ea typeface="黑体"/>
              </a:rPr>
              <a:t>插件只做加法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62272" y="2322576"/>
            <a:ext cx="3200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2C13"/>
                </a:solidFill>
                <a:latin typeface="黑体"/>
                <a:ea typeface="黑体"/>
              </a:rPr>
              <a:t>7 个内置插件 · 5 类公开钩子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62272" y="2697480"/>
            <a:ext cx="3200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· 只能多识别、多解析、多导出、多模板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62272" y="3374136"/>
            <a:ext cx="3200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· 判定类钩子永久禁止：approve / mask / bypass / whitelist / write_audit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2272" y="4050792"/>
            <a:ext cx="3200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· 载荷净化 · 超时隔离 · 内核兜底 · 启停即收回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20" y="1874519"/>
            <a:ext cx="3566160" cy="3611880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20116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黑体"/>
                <a:ea typeface="黑体"/>
              </a:rPr>
              <a:t>控制面只收紧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2322576"/>
            <a:ext cx="3200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02C13"/>
                </a:solidFill>
                <a:latin typeface="黑体"/>
                <a:ea typeface="黑体"/>
              </a:rPr>
              <a:t>企业后台 · 演示级原型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2697480"/>
            <a:ext cx="3200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· 只上报掩码事件与元数据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3374136"/>
            <a:ext cx="3200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· 策略只能收紧：路径并集、审批取更严、插件取交集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050792"/>
            <a:ext cx="3200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1F2329"/>
                </a:solidFill>
                <a:latin typeface="黑体"/>
                <a:ea typeface="黑体"/>
              </a:rPr>
              <a:t>· 默认关闭，每次上报成功/失败都写本地审计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" y="5687568"/>
            <a:ext cx="11173968" cy="6126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2064" y="5824728"/>
            <a:ext cx="111739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黑体"/>
                <a:ea typeface="黑体"/>
              </a:rPr>
              <a:t>插件是“能力插座”，不是“权限后门”。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作品简介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7695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2084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主要功能与目标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5390" y="0"/>
            <a:ext cx="3099816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68542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5B6975"/>
                </a:solidFill>
                <a:latin typeface="Times New Roman"/>
                <a:ea typeface="Times New Roman"/>
              </a:rPr>
              <a:t>设计与技术实现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3085" y="0"/>
            <a:ext cx="3099816" cy="6583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16237" y="155448"/>
            <a:ext cx="29443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Times New Roman"/>
                <a:ea typeface="Times New Roman"/>
              </a:rPr>
              <a:t>创新与应用前景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"/>
            <a:ext cx="12191695" cy="10972"/>
          </a:xfrm>
          <a:prstGeom prst="rect">
            <a:avLst/>
          </a:prstGeom>
          <a:solidFill>
            <a:srgbClr val="D9E2D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914400"/>
            <a:ext cx="73152" cy="42976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859536"/>
            <a:ext cx="10415016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F2329"/>
                </a:solidFill>
                <a:latin typeface="黑体"/>
                <a:ea typeface="黑体"/>
              </a:rPr>
              <a:t>四个创新，四个能落地的场景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426464"/>
            <a:ext cx="1117396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975"/>
                </a:solidFill>
                <a:latin typeface="黑体"/>
                <a:ea typeface="黑体"/>
              </a:rPr>
              <a:t>每一项都给一句可验证的证据；边界也如实说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" y="1783080"/>
            <a:ext cx="5257800" cy="178308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1783080"/>
            <a:ext cx="73152" cy="178308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911095"/>
            <a:ext cx="365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1892807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黑体"/>
                <a:ea typeface="黑体"/>
              </a:rPr>
              <a:t>内存级脱敏网关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2258568"/>
            <a:ext cx="44805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F2329"/>
                </a:solidFill>
                <a:latin typeface="黑体"/>
                <a:ea typeface="黑体"/>
              </a:rPr>
              <a:t>机密性是架构保证，不依赖识别率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880360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E7873"/>
                </a:solidFill>
                <a:latin typeface="黑体"/>
                <a:ea typeface="黑体"/>
              </a:rPr>
              <a:t>证据：已识别实体出网明文 0 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4183" y="1783080"/>
            <a:ext cx="5257800" cy="178308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44183" y="1783080"/>
            <a:ext cx="73152" cy="178308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45351" y="1911095"/>
            <a:ext cx="365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7688" y="1892807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黑体"/>
                <a:ea typeface="黑体"/>
              </a:rPr>
              <a:t>先判用途，再判操作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7688" y="2258568"/>
            <a:ext cx="44805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F2329"/>
                </a:solidFill>
                <a:latin typeface="黑体"/>
                <a:ea typeface="黑体"/>
              </a:rPr>
              <a:t>先问“该不该做”，再问“对不对得上”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7688" y="2880360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E7873"/>
                </a:solidFill>
                <a:latin typeface="黑体"/>
                <a:ea typeface="黑体"/>
              </a:rPr>
              <a:t>证据：个人信息 + 出售/牟利 → 模型前拒绝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2064" y="3721608"/>
            <a:ext cx="5257800" cy="178308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2064" y="3721608"/>
            <a:ext cx="73152" cy="178308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3849624"/>
            <a:ext cx="365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3831336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黑体"/>
                <a:ea typeface="黑体"/>
              </a:rPr>
              <a:t>laya 三级 + 插件只做加法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" y="4197096"/>
            <a:ext cx="44805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F2329"/>
                </a:solidFill>
                <a:latin typeface="黑体"/>
                <a:ea typeface="黑体"/>
              </a:rPr>
              <a:t>安全能力可按数据边界扩展，判定权永不外包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" y="481888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E7873"/>
                </a:solidFill>
                <a:latin typeface="黑体"/>
                <a:ea typeface="黑体"/>
              </a:rPr>
              <a:t>证据：7 个插件；判定类钩子永久禁止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44183" y="3721608"/>
            <a:ext cx="5257800" cy="1783080"/>
          </a:xfrm>
          <a:prstGeom prst="rect">
            <a:avLst/>
          </a:prstGeom>
          <a:solidFill>
            <a:srgbClr val="F5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44183" y="3721608"/>
            <a:ext cx="73152" cy="1783080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5351" y="3849624"/>
            <a:ext cx="3657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Times New Roman"/>
                <a:ea typeface="Times New Roman"/>
              </a:rPr>
              <a:t>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7688" y="3831336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5826"/>
                </a:solidFill>
                <a:latin typeface="黑体"/>
                <a:ea typeface="黑体"/>
              </a:rPr>
              <a:t>可验证交付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7688" y="4197096"/>
            <a:ext cx="44805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1F2329"/>
                </a:solidFill>
                <a:latin typeface="黑体"/>
                <a:ea typeface="黑体"/>
              </a:rPr>
              <a:t>测试通过不是安全证明，但每一步都能复核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7688" y="481888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E7873"/>
                </a:solidFill>
                <a:latin typeface="黑体"/>
                <a:ea typeface="黑体"/>
              </a:rPr>
              <a:t>证据：39 个套件；verify_archive 0 问题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2064" y="5806440"/>
            <a:ext cx="11173968" cy="530352"/>
          </a:xfrm>
          <a:prstGeom prst="rect">
            <a:avLst/>
          </a:prstGeom>
          <a:solidFill>
            <a:srgbClr val="EEF6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5888736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5826"/>
                </a:solidFill>
                <a:latin typeface="黑体"/>
                <a:ea typeface="黑体"/>
              </a:rPr>
              <a:t>场景：</a:t>
            </a: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律所 / 医院 / 制造 / 政府外包</a:t>
            </a:r>
            <a:r>
              <a:rPr sz="1300" b="1">
                <a:solidFill>
                  <a:srgbClr val="005826"/>
                </a:solidFill>
                <a:latin typeface="黑体"/>
                <a:ea typeface="黑体"/>
              </a:rPr>
              <a:t>      边界：</a:t>
            </a:r>
            <a:r>
              <a:rPr sz="1300" b="0">
                <a:solidFill>
                  <a:srgbClr val="1F2329"/>
                </a:solidFill>
                <a:latin typeface="黑体"/>
                <a:ea typeface="黑体"/>
              </a:rPr>
              <a:t>控制面演示级原型；识别率 264/280（经验值）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85855" y="6547104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CA091"/>
                </a:solidFill>
                <a:latin typeface="Times New Roman"/>
                <a:ea typeface="Times New Roman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773936"/>
            <a:ext cx="12191695" cy="2670048"/>
          </a:xfrm>
          <a:prstGeom prst="rect">
            <a:avLst/>
          </a:prstGeom>
          <a:solidFill>
            <a:srgbClr val="0058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55064" y="2395728"/>
            <a:ext cx="8887968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黑体"/>
                <a:ea typeface="黑体"/>
              </a:rPr>
              <a:t>敬请各位老师批评指正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5064" y="3456432"/>
            <a:ext cx="8887968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6EBE0"/>
                </a:solidFill>
                <a:latin typeface="楷体"/>
                <a:ea typeface="楷体"/>
              </a:rPr>
              <a:t>隐私保护不该是使用约定，而应是架构约束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7048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识别覆盖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27048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27 类敏感实体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架构承诺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已识别实体 0 明文出网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6952" y="497433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5B6975"/>
                </a:solidFill>
                <a:latin typeface="Times New Roman"/>
                <a:ea typeface="Times New Roman"/>
              </a:rPr>
              <a:t>当前版本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6952" y="526694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5826"/>
                </a:solidFill>
                <a:latin typeface="Times New Roman"/>
                <a:ea typeface="Times New Roman"/>
              </a:rPr>
              <a:t>V3.6.20 · 2026.10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55064" y="6099048"/>
            <a:ext cx="88879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B6975"/>
                </a:solidFill>
                <a:latin typeface="Times New Roman"/>
                <a:ea typeface="Times New Roman"/>
              </a:rPr>
              <a:t>隐盾 · 面向数据隐私安全的 AI 协同办公桌面智能体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