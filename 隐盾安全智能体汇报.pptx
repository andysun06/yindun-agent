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6" r:id="rId11"/>
    <p:sldId id="263" r:id="rId12"/>
    <p:sldId id="264" r:id="rId13"/>
    <p:sldId id="265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6" userDrawn="1">
          <p15:clr>
            <a:srgbClr val="A4A3A4"/>
          </p15:clr>
        </p15:guide>
        <p15:guide id="2" pos="28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26"/>
    <a:srgbClr val="EEF6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6"/>
        <p:guide pos="289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链和锚点，徽标不是缓存；现场可以直接点一次盾牌图标验证。左下这张图是实测：删掉尾部 331 条后打开审计面板，锚点记录 5177 条、现有 4846 条，校验立即报“尾部被截断”；重建锚点必须人工确认，不会自动接受被删改的链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张图分别是态势总览、事件台账、策略下发、统计分析。控制端不是新的模型能力，而是把端点已经落盘的掩码事件集中起来看：它看到的和端点本地审计落盘的内容一样，掩码态、链头、元数据，拿不到真值，也不代理模型流量。策略只能收紧：敏感路径取并集、审批下限取更严，豁免/放行/白名单不在通路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image" Target="../media/image4.png"/><Relationship Id="rId9" Type="http://schemas.openxmlformats.org/officeDocument/2006/relationships/slideLayout" Target="../slideLayouts/slideLayout7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tags" Target="../tags/tag7.xml"/><Relationship Id="rId3" Type="http://schemas.openxmlformats.org/officeDocument/2006/relationships/image" Target="../media/image7.png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image" Target="../media/image8.png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image" Target="../media/image9.png"/><Relationship Id="rId12" Type="http://schemas.openxmlformats.org/officeDocument/2006/relationships/tags" Target="../tags/tag14.xml"/><Relationship Id="rId13" Type="http://schemas.openxmlformats.org/officeDocument/2006/relationships/tags" Target="../tags/tag15.xml"/><Relationship Id="rId14" Type="http://schemas.openxmlformats.org/officeDocument/2006/relationships/slideLayout" Target="../slideLayouts/slideLayout7.xml"/><Relationship Id="rId15" Type="http://schemas.openxmlformats.org/officeDocument/2006/relationships/notesSlide" Target="../notesSlides/notesSlide8.xml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Relationship Id="rId22" Type="http://schemas.openxmlformats.org/officeDocument/2006/relationships/image" Target="../media/image20.png"/><Relationship Id="rId23" Type="http://schemas.openxmlformats.org/officeDocument/2006/relationships/image" Target="../media/image21.png"/><Relationship Id="rId24" Type="http://schemas.openxmlformats.org/officeDocument/2006/relationships/image" Target="../media/image22.png"/><Relationship Id="rId25" Type="http://schemas.openxmlformats.org/officeDocument/2006/relationships/image" Target="../media/image23.png"/><Relationship Id="rId26" Type="http://schemas.openxmlformats.org/officeDocument/2006/relationships/image" Target="../media/image24.png"/><Relationship Id="rId27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image" Target="../media/image11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GIF"/><Relationship Id="rId2" Type="http://schemas.openxmlformats.org/officeDocument/2006/relationships/image" Target="../media/image13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42288"/>
            <a:ext cx="8887968" cy="830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隐盾安全智能体</a:t>
            </a:r>
            <a:endParaRPr sz="5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面向数据隐私安全的 AI 协同办公桌面智能体</a:t>
            </a:r>
            <a:endParaRPr sz="2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让 AI 看得见任务，看不见隐私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581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星辰大海 团队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计算机科学与网络工程学院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指导老师：王艳        队长：余齐政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队员：孙良硕　薛晓晴　陈俊豪　张晶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17000"/>
              </a:lnSpc>
            </a:pP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2026 年 10 月</a:t>
            </a:r>
            <a:endParaRPr sz="19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Rounded Rectangle 35"/>
          <p:cNvSpPr/>
          <p:nvPr/>
        </p:nvSpPr>
        <p:spPr>
          <a:xfrm>
            <a:off x="5440680" y="2005965"/>
            <a:ext cx="3886835" cy="288290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涉密办公用 AI：敏感原文不出本机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四个泄露环节，对应四道本地控制；模型只收到占位符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6410" y="1810385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96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发给 AI 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296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聊天内容会离开这台电脑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29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968" y="2898648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入口脱敏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04490" y="1810385"/>
            <a:ext cx="229489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104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存到电脑里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05104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缓存和日志可能留下原文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05104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1175" y="2898775"/>
            <a:ext cx="2107565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脱敏日志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加密存储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6410" y="3408680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96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历史记录里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2968" y="3884168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会话、知识库越积越多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296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96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会话加密 + 审计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904490" y="3408680"/>
            <a:ext cx="2294255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104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AI 动手时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51175" y="3884295"/>
            <a:ext cx="2056130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未经确认就写、删、改文件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5104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104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审批 + 权限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40680" y="1688465"/>
            <a:ext cx="6245352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架构分工：真值止于本机，模型只做推理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59298" y="2106168"/>
            <a:ext cx="18288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本机可信域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59425" y="2503805"/>
            <a:ext cx="1222375" cy="9404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5988" y="2626614"/>
            <a:ext cx="85953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① 你的数据</a:t>
            </a:r>
            <a:endParaRPr sz="12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31815" y="2952750"/>
            <a:ext cx="1089025" cy="4133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indent="0" algn="ctr" fontAlgn="auto">
              <a:lnSpc>
                <a:spcPct val="115000"/>
              </a:lnSpc>
            </a:pPr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姓名</a:t>
            </a:r>
            <a:r>
              <a:rPr 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手机号</a:t>
            </a:r>
            <a:b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地址</a:t>
            </a: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等</a:t>
            </a:r>
            <a:endParaRPr lang="zh-CN" altLang="en-US"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165975" y="2504440"/>
            <a:ext cx="1572895" cy="94107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7288" y="2626360"/>
            <a:ext cx="1389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② 隐盾内核</a:t>
            </a:r>
            <a:endParaRPr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57288" y="2910840"/>
            <a:ext cx="1389888" cy="370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识别 · 脱敏 · 权限
审批 · 审计</a:t>
            </a:r>
            <a:endParaRPr sz="105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9835515" y="2503170"/>
            <a:ext cx="1901825" cy="91567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93935" y="2626360"/>
            <a:ext cx="1719072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③ 云端 / 本地模型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926955" y="2988310"/>
            <a:ext cx="1719072" cy="16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只推理 · 只看见占位符</a:t>
            </a:r>
            <a:endParaRPr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815455" y="3711575"/>
            <a:ext cx="2298065" cy="42037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09435" y="3823970"/>
            <a:ext cx="209232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④ 本机还原：占位符换回真值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6781800" y="295249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733536" y="2952496"/>
            <a:ext cx="1106170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733536" y="2689733"/>
            <a:ext cx="10058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只发占位符</a:t>
            </a:r>
            <a:endParaRPr sz="12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10819511" y="341884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>
            <a:endCxn id="46" idx="3"/>
          </p:cNvCxnSpPr>
          <p:nvPr/>
        </p:nvCxnSpPr>
        <p:spPr>
          <a:xfrm flipH="1">
            <a:off x="9113266" y="3921760"/>
            <a:ext cx="1706245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839960" y="4008120"/>
            <a:ext cx="109791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返回仍是占位符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724136" y="232156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239758" y="2070608"/>
            <a:ext cx="969264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信任边界</a:t>
            </a:r>
            <a:endParaRPr sz="14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577840" y="4333240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框架负责：识别 · 脱敏 · 权限 · 审批 · 审计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577840" y="4589272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模型负责：只做推理，只收到占位符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12064" y="513080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222240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隐盾 = 面向涉密办公的本地化隐私防护桌面智能体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12064" y="5542280"/>
            <a:ext cx="1117396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数据进模型前脱敏，回答回本机还原；模型侧看不到姓名、文件内容与历史记录。</a:t>
            </a:r>
            <a:endParaRPr sz="14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2064" y="588772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61"/>
          <p:cNvSpPr txBox="1"/>
          <p:nvPr/>
        </p:nvSpPr>
        <p:spPr>
          <a:xfrm>
            <a:off x="694944" y="6054344"/>
            <a:ext cx="694944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设计目标：可用 · 不可见 · 可审计 · 可部署</a:t>
            </a:r>
            <a:endParaRPr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589520" y="6070600"/>
            <a:ext cx="39319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适用：律所 / 医院 / 制造 / 政府外包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02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三组能力覆盖办公流程，四个目标定义交付标准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能力回答“能做什么”，目标回答“做到什么程度”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2064" y="16581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68554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一、三组能力 · 能做什么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12064" y="202387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01 对话与资料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脱敏对话：27 类实体替换为占位符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3232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脱敏知识库：入库即脱敏，零明文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3232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检索结果标注「片段不是全文」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288536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02 文件操作与审计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89703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15 个文件与办公工具，覆盖常用目录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489703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写盘、删除、命令执行前熔断审批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489703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工具、审批、还原全部写入哈希链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065008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03 统一后台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66176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控制面只汇总掩码事件与元数据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66176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策略只能收紧，上报默认关闭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66176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插件：能力可扩展，判定权不外包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12064" y="45384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6590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二、四个目标 · 做到什么程度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12064" y="490423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可用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7665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2B/4B 量化模型 · CPU 可跑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34670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不可见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51129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已识别实体出网明文 0 例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18134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可审计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34593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工具 / 审批 / 还原全部留痕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01598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可部署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8057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标准安装包 + 单文件试用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03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模型全程看不见隐私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247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识别在本地、由规则完成；模型只负责推理，不负责判断哪些是隐私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95" y="1659255"/>
            <a:ext cx="6146800" cy="38423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30088"/>
            <a:ext cx="5760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完整流程：输入 → 发送 → 模型加载 → 回答还原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42405" y="1659255"/>
            <a:ext cx="5166360" cy="387096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5285" y="178739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本地正则 + 精验，不调用模型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5285" y="2180590"/>
            <a:ext cx="4800600" cy="996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lang="en-US"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手机号看 11 位；银行卡过 Luhn；身份证看 18 位形状与出生日期，带分隔符的形态再过校验位；人名看姓氏表 ∩ 触发词窗口。</a:t>
            </a:r>
            <a:endParaRPr sz="16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5285" y="3456813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用户看到</a:t>
            </a:r>
            <a:endParaRPr sz="16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24675" y="3757930"/>
            <a:ext cx="450151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1F2329"/>
                </a:solidFill>
                <a:latin typeface="Times New Roman" panose="02020603050405020304"/>
                <a:ea typeface="Times New Roman" panose="02020603050405020304"/>
              </a:rPr>
              <a:t>孙良硕 · 13700001111</a:t>
            </a:r>
            <a:endParaRPr sz="1600" b="1">
              <a:solidFill>
                <a:srgbClr val="1F2329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25285" y="4111117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模型看到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24675" y="4415155"/>
            <a:ext cx="4501515" cy="2330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[NAME_0_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4y5v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 · [PHONE_0_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me9f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</a:t>
            </a:r>
            <a:endParaRPr sz="1400"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25285" y="4958080"/>
            <a:ext cx="4800600" cy="3219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映射表加密、不进模型上下文；回答回本机才还原。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94005" y="5928360"/>
            <a:ext cx="11415395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603808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对已识别实体，出网明文 0 例；识别靠规则，不靠模型。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04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7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三层立体判断：先用途，再意图，最后操作风险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三层回答三个不同问题；判定权在人，不在模型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0385"/>
            <a:ext cx="6255385" cy="39096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0149" y="5878703"/>
            <a:ext cx="5943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完整流程：写文件请求 → 弹窗 → 授权 → 执行成功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95440" y="1810385"/>
            <a:ext cx="5029200" cy="439356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8320" y="1923288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44080" y="1920240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用途红线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44080" y="2238248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内核确定性规则，不依赖模型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44080" y="2499360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收集个人信息 + 出售/牟利 → 模型和工具之前直接拒绝；外发/公开 → 顶部红色警示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78320" y="3176016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244080" y="3172968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意图预判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244080" y="3501135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内核规则 + 本地模型补充细节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44080" y="3752088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意图 / 数据 / 去向 / 用途；模型只能加重，不能减轻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78320" y="4464303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44080" y="4461256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操作风险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44080" y="4779263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laya 决策模型：本机 → 局域网 → 正则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44080" y="5040376"/>
            <a:ext cx="4251960" cy="275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高危 / 中危 / 低危；只评动作本身，来源如实标注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878320" y="547319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8320" y="5687822"/>
            <a:ext cx="4617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B03A2E"/>
                </a:solidFill>
                <a:latin typeface="黑体" panose="02010609060101010101" charset="-122"/>
                <a:ea typeface="黑体" panose="02010609060101010101" charset="-122"/>
              </a:rPr>
              <a:t>用途触线时，「是否相符」不再发言。</a:t>
            </a:r>
            <a:endParaRPr sz="1600" b="1">
              <a:solidFill>
                <a:srgbClr val="B03A2E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05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2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审计黑匣子：每次使用都留痕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501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打开即校验、可追溯；不可写只是其中一个亮点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492240" y="1810385"/>
            <a:ext cx="5166360" cy="46609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2"/>
            </p:custDataLst>
          </p:nvPr>
        </p:nvSpPr>
        <p:spPr>
          <a:xfrm>
            <a:off x="6675120" y="193852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打开即校验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3"/>
            </p:custDataLst>
          </p:nvPr>
        </p:nvSpPr>
        <p:spPr>
          <a:xfrm>
            <a:off x="6675120" y="2284984"/>
            <a:ext cx="48006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每次展开面板都重跑链校验与锚点检查；徽标不是缓存。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4"/>
            </p:custDataLst>
          </p:nvPr>
        </p:nvSpPr>
        <p:spPr>
          <a:xfrm>
            <a:off x="6675120" y="2840736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每条可追溯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5"/>
            </p:custDataLst>
          </p:nvPr>
        </p:nvSpPr>
        <p:spPr>
          <a:xfrm>
            <a:off x="6675120" y="3187192"/>
            <a:ext cx="48006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工具调用、隐私检测/还原、审批决策都在链上；只存脱敏预览。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6"/>
            </p:custDataLst>
          </p:nvPr>
        </p:nvSpPr>
        <p:spPr>
          <a:xfrm>
            <a:off x="6675120" y="3920744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六种删改可发现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7"/>
            </p:custDataLst>
          </p:nvPr>
        </p:nvSpPr>
        <p:spPr>
          <a:xfrm>
            <a:off x="6675120" y="4267200"/>
            <a:ext cx="48006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改中间、尾部截断、降级改写、删锚点等，均有回归用例。</a:t>
            </a:r>
            <a:b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  </a:t>
            </a:r>
            <a:b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例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如：</a:t>
            </a:r>
            <a:endParaRPr lang="zh-CN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675120" y="5595493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5668645"/>
            <a:ext cx="4590288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B47800"/>
                </a:solidFill>
                <a:latin typeface="黑体" panose="02010609060101010101" charset="-122"/>
                <a:ea typeface="黑体" panose="02010609060101010101" charset="-122"/>
              </a:rPr>
              <a:t>边界：能重写整台机器的攻击者超出防护目标。准确说法是“可发现”，不是“物理不可写”。</a:t>
            </a:r>
            <a:endParaRPr sz="1400" b="0">
              <a:solidFill>
                <a:srgbClr val="B4780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06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6355" y="4614545"/>
            <a:ext cx="2828290" cy="882650"/>
          </a:xfrm>
          <a:prstGeom prst="rect">
            <a:avLst/>
          </a:prstGeom>
        </p:spPr>
      </p:pic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万物皆插件：能力可以通过插件增加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决策模型快速适配；控制端已可用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10" y="1613535"/>
            <a:ext cx="6128385" cy="383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604129"/>
            <a:ext cx="53949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插件页：能力清单、运行状态与启停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771640" y="1613535"/>
            <a:ext cx="4867275" cy="395922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7210" y="174371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 · 快速适配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87210" y="2110486"/>
            <a:ext cx="51663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近一个月走红的决策模型，我们第一时间接进项目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87210" y="2402840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判断动作本身危不危险，输出高/中/低危
· 本机优先 → 局域网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其次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→ 正则回退，来源标明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87210" y="334899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插件只做加法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87210" y="3682365"/>
            <a:ext cx="4783455" cy="645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判定类钩子永久禁止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载荷净化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超时隔离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内核兜底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启停即收回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887210" y="461645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控制面只收紧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887210" y="4949825"/>
            <a:ext cx="4783455" cy="322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控制端已交付：集中看掩码事件、下发更严策略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12064" y="60096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611936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插件是“能力插座”，不是“权限后门”。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07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" name="Rectangle 15"/>
          <p:cNvSpPr/>
          <p:nvPr/>
        </p:nvSpPr>
        <p:spPr>
          <a:xfrm>
            <a:off x="7099300" y="1423035"/>
            <a:ext cx="4867275" cy="503110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969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1121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939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9091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908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7060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969" cy="9144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1248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控制端：集中看掩码事件，策略只能收紧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310513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管理机统一看端点状态；控制面不接触明文，也不代理模型流量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30" name="Picture 29" descr="control_overview_crop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2064" y="1627632"/>
            <a:ext cx="5120640" cy="246888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85216" y="1700784"/>
            <a:ext cx="98755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" y="1732788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2C13"/>
                </a:solidFill>
                <a:latin typeface="黑体"/>
                <a:ea typeface="黑体"/>
              </a:rPr>
              <a:t>态势总览</a:t>
            </a:r>
          </a:p>
        </p:txBody>
      </p:sp>
      <p:pic>
        <p:nvPicPr>
          <p:cNvPr id="33" name="Picture 32" descr="control_events_crop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632704" y="1627632"/>
            <a:ext cx="5120640" cy="246888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5705856" y="1700784"/>
            <a:ext cx="98755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05856" y="1732788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2C13"/>
                </a:solidFill>
                <a:latin typeface="黑体"/>
                <a:ea typeface="黑体"/>
              </a:rPr>
              <a:t>事件台账</a:t>
            </a:r>
          </a:p>
        </p:txBody>
      </p:sp>
      <p:pic>
        <p:nvPicPr>
          <p:cNvPr id="36" name="Picture 35" descr="control_policy_crop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12064" y="4187952"/>
            <a:ext cx="5120640" cy="246888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585216" y="4261104"/>
            <a:ext cx="98755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293108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2C13"/>
                </a:solidFill>
                <a:latin typeface="黑体"/>
                <a:ea typeface="黑体"/>
              </a:rPr>
              <a:t>策略下发</a:t>
            </a:r>
          </a:p>
        </p:txBody>
      </p:sp>
      <p:pic>
        <p:nvPicPr>
          <p:cNvPr id="39" name="Picture 38" descr="control_stats_crop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632704" y="4187952"/>
            <a:ext cx="5120640" cy="246888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5705856" y="4261104"/>
            <a:ext cx="98755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05856" y="4293108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002C13"/>
                </a:solidFill>
                <a:latin typeface="黑体"/>
                <a:ea typeface="黑体"/>
              </a:rPr>
              <a:t>统计分析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6693408"/>
            <a:ext cx="9692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002C13"/>
                </a:solidFill>
                <a:latin typeface="黑体"/>
                <a:ea typeface="黑体"/>
              </a:rPr>
              <a:t>控制面看到的 = 端点本地审计落盘的内容（掩码态），不多一个字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3112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07A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四个创新（一）：网关与用途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每一项配一段真实操作，先看它解决什么问题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737360"/>
            <a:ext cx="5394960" cy="461327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737360"/>
            <a:ext cx="76200" cy="461327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369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内存级脱敏网关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8050" y="2205990"/>
            <a:ext cx="482219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入口处完成替换：真值只在本机内存，模型上下文只有占位符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785" y="2647950"/>
            <a:ext cx="5099050" cy="3187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464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证据：审计里 LLM 输入只有 [NAME_0_x]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31255" y="1737360"/>
            <a:ext cx="5436235" cy="458597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737360"/>
            <a:ext cx="76200" cy="458597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369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先判用途，再判操作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94932" y="2204339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用途触线时直接拒绝：不调用模型，也不给审批放行机会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5" y="2651760"/>
            <a:ext cx="5099685" cy="3187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505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证据：个人信息 + 出售/牟利 → 模型前拒绝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08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四个创新（二）：分级与知识库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第一时间适配；知识库入库即脱敏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614170"/>
            <a:ext cx="5394960" cy="436308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614170"/>
            <a:ext cx="76200" cy="436308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74040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73736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决策模型：</a:t>
            </a:r>
            <a:r>
              <a:rPr lang="zh-CN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高度契合</a:t>
            </a:r>
            <a:endParaRPr lang="zh-CN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23417" y="206654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决策模型与我们的项目高度适配，第一时间适配并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优化</a:t>
            </a:r>
            <a:endParaRPr lang="zh-CN" altLang="en-US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215" y="2447290"/>
            <a:ext cx="4847590" cy="30302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63575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证据：本机→局域网→正则；</a:t>
            </a:r>
            <a:r>
              <a:rPr lang="en-US"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Laya </a:t>
            </a:r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只做建议、不参与放行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17285" y="1614170"/>
            <a:ext cx="5450205" cy="436308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614170"/>
            <a:ext cx="76200" cy="436308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74040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④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73736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脱敏知识库：入库即脱敏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84137" y="206654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向量库只存占位符；检索标注“片段不是全文”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280" y="2446020"/>
            <a:ext cx="4897755" cy="30613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63575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证据：入库即脱敏；向量库零明文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09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12064" y="6120003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184011"/>
            <a:ext cx="10881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场景：律所 / 医院 / 制造 / 政府外包　</a:t>
            </a:r>
            <a:r>
              <a:rPr lang="en-US"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           </a:t>
            </a:r>
            <a:r>
              <a:rPr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　边界：控制面演示级原型；识别率 268/280</a:t>
            </a:r>
            <a:endParaRPr sz="16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676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敬请各位老师批评指正</a:t>
            </a:r>
            <a:endParaRPr sz="4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隐私保护不该是使用约定，而应是架构约束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27048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识别覆盖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7048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27 类敏感实体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架构承诺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0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已识别实体 0 明文出网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16952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当前版本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16952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V3.6.20 · 2026.10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隐盾 · 面向数据隐私安全的 AI 协同办公桌面智能体</a:t>
            </a:r>
            <a:endParaRPr sz="16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2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3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4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5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6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7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8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9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0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1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2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3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4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ags/tag15.xml><?xml version="1.0" encoding="utf-8"?>
<p:tagLst xmlns:p="http://schemas.openxmlformats.org/presentationml/2006/main">
  <p:tag name="KSO_WM_DIAGRAM_VIRTUALLY_FRAME" val="{&quot;height&quot;:266.16,&quot;left&quot;:572.6,&quot;top&quot;:154.8,&quot;width&quot;:345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2771</Words>
  <Application>WPS 演示</Application>
  <PresentationFormat>On-screen Show (4:3)</PresentationFormat>
  <Paragraphs>394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Arial</vt:lpstr>
      <vt:lpstr>黑体</vt:lpstr>
      <vt:lpstr>楷体</vt:lpstr>
      <vt:lpstr>Times New Roman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Andy</cp:lastModifiedBy>
  <cp:revision>5</cp:revision>
  <dcterms:created xsi:type="dcterms:W3CDTF">2013-01-27T09:14:00Z</dcterms:created>
  <dcterms:modified xsi:type="dcterms:W3CDTF">2026-10-24T15:20:01Z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0542AC6E2416461EAA692F434C9AA738_12</vt:lpwstr>
  </property>
  <property fmtid="{D5CDD505-2E9C-101B-9397-08002B2CF9AE}" pid="3" name="KSOProductBuildVer">
    <vt:lpwstr>2052-12.1.0.28043</vt:lpwstr>
  </property>
</Properties>
</file>