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开场不念目录。第一句话：涉密办公要用 AI，但敏感原文不能出本机——我们做的是让这件事可落地。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出发点很直接：涉密办公要用 AI，但敏感原文不能出本机。风险集中在四个环节：发给 AI 时原文出网、存到电脑里留下副本、历史记录越积越多、AI 动手时未经确认就写删改。我们对应做了四道本地控制：入口脱敏、脱敏日志加加密存储、会话加密加审计、审批加权限。右边这张图说明分工：你的数据先经过隐盾内核，模型只收到占位符；回答回来由本机还原。框架负责识别、脱敏、权限、审批、审计，模型只做推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先总后分：上面一组是三组能力，回答“能做什么”；下面一组是四个目标，回答“做到什么程度”。三组能力分别是对话与资料、文件操作与审计、统一后台；四个目标分别是可用、不可见、可审计、可部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先看脱敏对话。用户输入的是姓名、手机号、身份证这些真值；发送前，本地规则先做正则粗筛，再用程序化校验器精验——手机号看位数，银行卡过 Luhn，身份证看 18 位形状与出生日期，带分隔符的形态再过校验位；人名看姓氏表和触发词窗口。这一步不调用任何模型。模型真正收到的是占位符；回答回来，本机再把占位符换回真值。映射表加密、不进模型上下文，所以模型服务方拿到的只是一段占位符文本。对已经识别出来的实体，出网明文是 0 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审批弹窗有三层。第一层是用途红线，内核确定性规则，在模型和工具之前执行：收集个人信息去出售或牟利，直接拒绝；外发或公开，顶部红色警示。第二层是意图预判，回答想干什么、涉及什么数据、去哪、什么用途，模型只能加重不能减轻。第三层是操作风险，laya 按本机、局域网、正则三级给高/中/低危，并标明来源，只评动作本身。三层都只是建议，放行由人决定。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审计不是普通日志。每次打开面板都会重新校验 HMAC 链和锚点，徽标不是缓存；现场可以直接点一次盾牌图标验证。每条工具调用、隐私检测、审批决策都在链上；审计里只存脱敏预览。改中间、尾部截断、降级改写、删锚点这些手法都能被发现。但能重写整台机器的人，我们挡不住，所以准确说是可发现，不是不可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扩展性有三条边界。laya 是近一个月才火起来的决策模型，我们第一时间接进项目：用它判断动作本身危不危险，本机优先、局域网次之、正则兜底，来源如实标注；它只做建议、不参与放行。插件只有建议型和增强型能力，判定类钩子永久禁止，所以它是能力插座，不是权限后门。控制面只上报掩码事件与元数据，策略只能收紧，默认关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第一个创新是内存级脱敏网关：模型物理上看不见真值，机密性是架构保证，不是识别率保证；对已识别实体，出网明文 0 例。第二个是先判用途再判操作：先问这件事该不该做，再问操作对不对得上；收集个人信息去出售，在模型和工具之前就拒绝。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第三个创新是 laya 决策模型的快速适配：它是近一个月才火起来的决策模型，我们第一时间接进项目，用它判断动作本身危不危险；本机优先、局域网次之、正则兜底，只做建议、不参与放行。第四个是脱敏知识库：入库即逐块脱敏，向量库只存占位符，检索结果明确标注片段不是全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隐私保护不该是使用约定，而应是架构约束。谢谢各位评委。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gif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gif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gif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gif"/><Relationship Id="rId3" Type="http://schemas.openxmlformats.org/officeDocument/2006/relationships/image" Target="../media/image6.gif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gif"/><Relationship Id="rId3" Type="http://schemas.openxmlformats.org/officeDocument/2006/relationships/image" Target="../media/image8.gif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115568"/>
            <a:ext cx="12191695" cy="2715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55064" y="1572768"/>
            <a:ext cx="888796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  <a:latin typeface="黑体"/>
                <a:ea typeface="黑体"/>
              </a:rPr>
              <a:t>隐盾安全智能体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55064" y="2542032"/>
            <a:ext cx="8887968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黑体"/>
                <a:ea typeface="黑体"/>
              </a:rPr>
              <a:t>面向数据隐私安全的 AI 协同办公桌面智能体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" y="3127248"/>
            <a:ext cx="888796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D6EBE0"/>
                </a:solidFill>
                <a:latin typeface="楷体"/>
                <a:ea typeface="楷体"/>
              </a:rPr>
              <a:t>让 AI 看得见任务，看不见隐私</a:t>
            </a:r>
          </a:p>
        </p:txBody>
      </p:sp>
      <p:sp>
        <p:nvSpPr>
          <p:cNvPr id="6" name="Rectangle 5"/>
          <p:cNvSpPr/>
          <p:nvPr/>
        </p:nvSpPr>
        <p:spPr>
          <a:xfrm>
            <a:off x="3538728" y="4599432"/>
            <a:ext cx="5111496" cy="1143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44952" y="4059936"/>
            <a:ext cx="6099048" cy="2761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50000"/>
              </a:lnSpc>
              <a:spcAft>
                <a:spcPts val="1800"/>
              </a:spcAft>
            </a:pPr>
            <a:r>
              <a:rPr sz="1900" b="1">
                <a:solidFill>
                  <a:srgbClr val="005826"/>
                </a:solidFill>
                <a:latin typeface="黑体"/>
                <a:ea typeface="黑体"/>
              </a:rPr>
              <a:t>星辰大海 团队</a:t>
            </a:r>
          </a:p>
          <a:p>
            <a:pPr algn="ctr">
              <a:lnSpc>
                <a:spcPct val="150000"/>
              </a:lnSpc>
            </a:pPr>
            <a:r>
              <a:rPr sz="1900" b="0">
                <a:solidFill>
                  <a:srgbClr val="1F2329"/>
                </a:solidFill>
                <a:latin typeface="黑体"/>
                <a:ea typeface="黑体"/>
              </a:rPr>
              <a:t>计算机科学与网络工程学院</a:t>
            </a:r>
          </a:p>
          <a:p>
            <a:pPr algn="ctr">
              <a:lnSpc>
                <a:spcPct val="150000"/>
              </a:lnSpc>
            </a:pPr>
            <a:r>
              <a:rPr sz="1900" b="0">
                <a:solidFill>
                  <a:srgbClr val="1F2329"/>
                </a:solidFill>
                <a:latin typeface="黑体"/>
                <a:ea typeface="黑体"/>
              </a:rPr>
              <a:t>指导老师：王艳        队长：余齐政</a:t>
            </a:r>
          </a:p>
          <a:p>
            <a:pPr algn="ctr">
              <a:lnSpc>
                <a:spcPct val="150000"/>
              </a:lnSpc>
            </a:pPr>
            <a:r>
              <a:rPr sz="1900" b="0">
                <a:solidFill>
                  <a:srgbClr val="1F2329"/>
                </a:solidFill>
                <a:latin typeface="黑体"/>
                <a:ea typeface="黑体"/>
              </a:rPr>
              <a:t>队员：孙良硕　薛晓晴　陈俊豪　张晶</a:t>
            </a:r>
          </a:p>
          <a:p>
            <a:pPr algn="ctr">
              <a:lnSpc>
                <a:spcPct val="117000"/>
              </a:lnSpc>
            </a:pPr>
            <a:r>
              <a:rPr sz="1900" b="0">
                <a:solidFill>
                  <a:srgbClr val="1F2329"/>
                </a:solidFill>
                <a:latin typeface="黑体"/>
                <a:ea typeface="黑体"/>
              </a:rPr>
              <a:t/>
            </a:r>
          </a:p>
          <a:p>
            <a:pPr algn="ctr">
              <a:lnSpc>
                <a:spcPct val="117000"/>
              </a:lnSpc>
            </a:pPr>
            <a:r>
              <a:rPr sz="1900" b="1">
                <a:solidFill>
                  <a:srgbClr val="5B6975"/>
                </a:solidFill>
                <a:latin typeface="黑体"/>
                <a:ea typeface="黑体"/>
              </a:rPr>
              <a:t>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涉密办公用 AI：敏感原文不出本机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四个泄露环节，对应四道本地控制；模型只收到占位符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2064" y="1810512"/>
            <a:ext cx="2240280" cy="1444752"/>
          </a:xfrm>
          <a:prstGeom prst="roundRect">
            <a:avLst>
              <a:gd name="adj" fmla="val 6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1947672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发给 AI 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2286000"/>
            <a:ext cx="194767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329"/>
                </a:solidFill>
                <a:latin typeface="黑体"/>
                <a:ea typeface="黑体"/>
              </a:rPr>
              <a:t>聊天内容会离开这台电脑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2825496"/>
            <a:ext cx="1947672" cy="12700"/>
          </a:xfrm>
          <a:prstGeom prst="rect">
            <a:avLst/>
          </a:prstGeom>
          <a:solidFill>
            <a:srgbClr val="D6EB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2898648"/>
            <a:ext cx="1947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02C13"/>
                </a:solidFill>
                <a:latin typeface="黑体"/>
                <a:ea typeface="黑体"/>
              </a:rPr>
              <a:t>→ 入口脱敏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843784" y="1810512"/>
            <a:ext cx="2240280" cy="1444752"/>
          </a:xfrm>
          <a:prstGeom prst="roundRect">
            <a:avLst>
              <a:gd name="adj" fmla="val 6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90088" y="1947672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存到电脑里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90088" y="2286000"/>
            <a:ext cx="194767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329"/>
                </a:solidFill>
                <a:latin typeface="黑体"/>
                <a:ea typeface="黑体"/>
              </a:rPr>
              <a:t>缓存和日志可能留下原文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90088" y="2825496"/>
            <a:ext cx="1947672" cy="12700"/>
          </a:xfrm>
          <a:prstGeom prst="rect">
            <a:avLst/>
          </a:prstGeom>
          <a:solidFill>
            <a:srgbClr val="D6EB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90088" y="2898648"/>
            <a:ext cx="1947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02C13"/>
                </a:solidFill>
                <a:latin typeface="黑体"/>
                <a:ea typeface="黑体"/>
              </a:rPr>
              <a:t>→ 脱敏日志 + 加密存储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2064" y="3383280"/>
            <a:ext cx="2240280" cy="1444752"/>
          </a:xfrm>
          <a:prstGeom prst="roundRect">
            <a:avLst>
              <a:gd name="adj" fmla="val 6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3520440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历史记录里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3858768"/>
            <a:ext cx="194767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329"/>
                </a:solidFill>
                <a:latin typeface="黑体"/>
                <a:ea typeface="黑体"/>
              </a:rPr>
              <a:t>会话、知识库越积越多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4398264"/>
            <a:ext cx="1947672" cy="12700"/>
          </a:xfrm>
          <a:prstGeom prst="rect">
            <a:avLst/>
          </a:prstGeom>
          <a:solidFill>
            <a:srgbClr val="D6EB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4471416"/>
            <a:ext cx="1947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02C13"/>
                </a:solidFill>
                <a:latin typeface="黑体"/>
                <a:ea typeface="黑体"/>
              </a:rPr>
              <a:t>→ 会话加密 + 审计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843784" y="3383280"/>
            <a:ext cx="2240280" cy="1444752"/>
          </a:xfrm>
          <a:prstGeom prst="roundRect">
            <a:avLst>
              <a:gd name="adj" fmla="val 6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990088" y="3520440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AI 动手时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90088" y="3858768"/>
            <a:ext cx="194767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329"/>
                </a:solidFill>
                <a:latin typeface="黑体"/>
                <a:ea typeface="黑体"/>
              </a:rPr>
              <a:t>未经确认就写、删、改文件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90088" y="4398264"/>
            <a:ext cx="1947672" cy="12700"/>
          </a:xfrm>
          <a:prstGeom prst="rect">
            <a:avLst/>
          </a:prstGeom>
          <a:solidFill>
            <a:srgbClr val="D6EB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90088" y="4471416"/>
            <a:ext cx="1947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02C13"/>
                </a:solidFill>
                <a:latin typeface="黑体"/>
                <a:ea typeface="黑体"/>
              </a:rPr>
              <a:t>→ 审批 + 权限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40680" y="1737360"/>
            <a:ext cx="6245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架构分工：真值止于本机，模型只做推理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04688" y="2029968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002C13"/>
                </a:solidFill>
                <a:latin typeface="黑体"/>
                <a:ea typeface="黑体"/>
              </a:rPr>
              <a:t>本机可信域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40680" y="2231136"/>
            <a:ext cx="4023360" cy="2542032"/>
          </a:xfrm>
          <a:prstGeom prst="roundRect">
            <a:avLst>
              <a:gd name="adj" fmla="val 5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559552" y="2542032"/>
            <a:ext cx="932688" cy="7498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E2D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596128" y="2615184"/>
            <a:ext cx="8595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F2329"/>
                </a:solidFill>
                <a:latin typeface="黑体"/>
                <a:ea typeface="黑体"/>
              </a:rPr>
              <a:t>① 你的数据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96128" y="2871216"/>
            <a:ext cx="85953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5B6975"/>
                </a:solidFill>
                <a:latin typeface="黑体"/>
                <a:ea typeface="黑体"/>
              </a:rPr>
              <a:t>姓名 / 文件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876288" y="2468880"/>
            <a:ext cx="1572768" cy="914400"/>
          </a:xfrm>
          <a:prstGeom prst="roundRect">
            <a:avLst>
              <a:gd name="adj" fmla="val 7000"/>
            </a:avLst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67728" y="2560320"/>
            <a:ext cx="13898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黑体"/>
                <a:ea typeface="黑体"/>
              </a:rPr>
              <a:t>② 隐盾内核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67728" y="2834640"/>
            <a:ext cx="138988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>
                <a:solidFill>
                  <a:srgbClr val="D6EBE0"/>
                </a:solidFill>
                <a:latin typeface="黑体"/>
                <a:ea typeface="黑体"/>
              </a:rPr>
              <a:t>识别 · 脱敏 · 权限
审批 · 审计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46920" y="2468880"/>
            <a:ext cx="1901952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0058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38360" y="2560320"/>
            <a:ext cx="1719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1">
                <a:solidFill>
                  <a:srgbClr val="002C13"/>
                </a:solidFill>
                <a:latin typeface="黑体"/>
                <a:ea typeface="黑体"/>
              </a:rPr>
              <a:t>③ 云端 / 本地模型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38360" y="2834640"/>
            <a:ext cx="1719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5B6975"/>
                </a:solidFill>
                <a:latin typeface="黑体"/>
                <a:ea typeface="黑体"/>
              </a:rPr>
              <a:t>只推理 · 只看见占位符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315200" y="3675887"/>
            <a:ext cx="2148840" cy="42062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1430">
            <a:solidFill>
              <a:srgbClr val="0058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88352" y="3758184"/>
            <a:ext cx="20025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>
                <a:solidFill>
                  <a:srgbClr val="002C13"/>
                </a:solidFill>
                <a:latin typeface="黑体"/>
                <a:ea typeface="黑体"/>
              </a:rPr>
              <a:t>④ 本机还原：占位符换回真值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6492240" y="2916936"/>
            <a:ext cx="384048" cy="0"/>
          </a:xfrm>
          <a:prstGeom prst="line">
            <a:avLst/>
          </a:prstGeom>
          <a:ln w="15875">
            <a:solidFill>
              <a:srgbClr val="005826"/>
            </a:solidFill>
            <a:tailEnd type="triangle" w="med" len="med"/>
          </a:ln>
          <a:effectLst/>
        </p:spPr>
      </p:cxnSp>
      <p:cxnSp>
        <p:nvCxnSpPr>
          <p:cNvPr id="49" name="Connector 48"/>
          <p:cNvCxnSpPr/>
          <p:nvPr/>
        </p:nvCxnSpPr>
        <p:spPr>
          <a:xfrm>
            <a:off x="8449056" y="2916936"/>
            <a:ext cx="1197864" cy="0"/>
          </a:xfrm>
          <a:prstGeom prst="line">
            <a:avLst/>
          </a:prstGeom>
          <a:ln w="15875">
            <a:solidFill>
              <a:srgbClr val="005826"/>
            </a:solidFill>
            <a:tailEnd type="triangle" w="med" len="med"/>
          </a:ln>
          <a:effectLst/>
        </p:spPr>
      </p:cxnSp>
      <p:sp>
        <p:nvSpPr>
          <p:cNvPr id="50" name="TextBox 49"/>
          <p:cNvSpPr txBox="1"/>
          <p:nvPr/>
        </p:nvSpPr>
        <p:spPr>
          <a:xfrm>
            <a:off x="8540496" y="2578608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005826"/>
                </a:solidFill>
                <a:latin typeface="黑体"/>
                <a:ea typeface="黑体"/>
              </a:rPr>
              <a:t>只发占位符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0597896" y="3383280"/>
            <a:ext cx="0" cy="502920"/>
          </a:xfrm>
          <a:prstGeom prst="line">
            <a:avLst/>
          </a:prstGeom>
          <a:ln w="13970">
            <a:solidFill>
              <a:srgbClr val="005826"/>
            </a:solidFill>
            <a:tailEnd type="triangle" w="med" len="med"/>
          </a:ln>
          <a:effectLst/>
        </p:spPr>
      </p:cxnSp>
      <p:cxnSp>
        <p:nvCxnSpPr>
          <p:cNvPr id="52" name="Connector 51"/>
          <p:cNvCxnSpPr/>
          <p:nvPr/>
        </p:nvCxnSpPr>
        <p:spPr>
          <a:xfrm flipH="1">
            <a:off x="9464040" y="3886200"/>
            <a:ext cx="1133856" cy="0"/>
          </a:xfrm>
          <a:prstGeom prst="line">
            <a:avLst/>
          </a:prstGeom>
          <a:ln w="13970">
            <a:solidFill>
              <a:srgbClr val="005826"/>
            </a:solidFill>
            <a:tailEnd type="triangle" w="med" len="med"/>
          </a:ln>
          <a:effectLst/>
        </p:spPr>
      </p:cxnSp>
      <p:sp>
        <p:nvSpPr>
          <p:cNvPr id="53" name="TextBox 52"/>
          <p:cNvSpPr txBox="1"/>
          <p:nvPr/>
        </p:nvSpPr>
        <p:spPr>
          <a:xfrm>
            <a:off x="9601200" y="3493008"/>
            <a:ext cx="9326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5B6975"/>
                </a:solidFill>
                <a:latin typeface="黑体"/>
                <a:ea typeface="黑体"/>
              </a:rPr>
              <a:t>返回仍是占位符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9546336" y="2286000"/>
            <a:ext cx="0" cy="1874520"/>
          </a:xfrm>
          <a:prstGeom prst="line">
            <a:avLst/>
          </a:prstGeom>
          <a:ln w="12700">
            <a:solidFill>
              <a:srgbClr val="005826"/>
            </a:solidFill>
            <a:prstDash val="dash"/>
          </a:ln>
          <a:effectLst/>
        </p:spPr>
      </p:cxnSp>
      <p:sp>
        <p:nvSpPr>
          <p:cNvPr id="55" name="TextBox 54"/>
          <p:cNvSpPr txBox="1"/>
          <p:nvPr/>
        </p:nvSpPr>
        <p:spPr>
          <a:xfrm>
            <a:off x="9070848" y="2029968"/>
            <a:ext cx="9692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005826"/>
                </a:solidFill>
                <a:latin typeface="黑体"/>
                <a:ea typeface="黑体"/>
              </a:rPr>
              <a:t>信任边界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577840" y="4297680"/>
            <a:ext cx="374903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02C13"/>
                </a:solidFill>
                <a:latin typeface="黑体"/>
                <a:ea typeface="黑体"/>
              </a:rPr>
              <a:t>框架负责：识别 · 脱敏 · 权限 · 审批 · 审计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4553712"/>
            <a:ext cx="374903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975"/>
                </a:solidFill>
                <a:latin typeface="黑体"/>
                <a:ea typeface="黑体"/>
              </a:rPr>
              <a:t>模型负责：只做推理，只收到占位符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12064" y="4983480"/>
            <a:ext cx="11173968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12064" y="5074920"/>
            <a:ext cx="111739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隐盾 = 面向涉密办公的本地化隐私防护桌面智能体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12064" y="5394960"/>
            <a:ext cx="111739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B6975"/>
                </a:solidFill>
                <a:latin typeface="黑体"/>
                <a:ea typeface="黑体"/>
              </a:rPr>
              <a:t>数据进模型前脱敏，回答回本机还原；模型侧看不到姓名、文件内容与历史记录。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12064" y="5715000"/>
            <a:ext cx="11173968" cy="612648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94944" y="5861304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2C13"/>
                </a:solidFill>
                <a:latin typeface="黑体"/>
                <a:ea typeface="黑体"/>
              </a:rPr>
              <a:t>设计目标：可用 · 不可见 · 可审计 · 可部署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589520" y="5897880"/>
            <a:ext cx="3931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975"/>
                </a:solidFill>
                <a:latin typeface="黑体"/>
                <a:ea typeface="黑体"/>
              </a:rPr>
              <a:t>适用：律所 / 医院 / 制造 / 政府外包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三组能力覆盖办公流程，四个目标定义交付标准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能力回答“能做什么”，目标回答“做到什么程度”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2064" y="1719072"/>
            <a:ext cx="64008" cy="310896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746504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>
                <a:solidFill>
                  <a:srgbClr val="005826"/>
                </a:solidFill>
                <a:latin typeface="黑体"/>
                <a:ea typeface="黑体"/>
              </a:rPr>
              <a:t>一、三组能力 · 能做什么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64" y="2084831"/>
            <a:ext cx="11173968" cy="12700"/>
          </a:xfrm>
          <a:prstGeom prst="rect">
            <a:avLst/>
          </a:prstGeom>
          <a:solidFill>
            <a:srgbClr val="D6EB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12064" y="2212848"/>
            <a:ext cx="3621024" cy="2103120"/>
          </a:xfrm>
          <a:prstGeom prst="roundRect">
            <a:avLst>
              <a:gd name="adj" fmla="val 5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2359152"/>
            <a:ext cx="32186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05826"/>
                </a:solidFill>
                <a:latin typeface="Times New Roman"/>
                <a:ea typeface="Times New Roman"/>
              </a:rPr>
              <a:t>01 对话与资料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2788920"/>
            <a:ext cx="32186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脱敏对话：27 类实体替换为占位符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3319272"/>
            <a:ext cx="32186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脱敏知识库：入库即脱敏，零明文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3849624"/>
            <a:ext cx="32186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检索结果标注「片段不是全文」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88536" y="2212848"/>
            <a:ext cx="3621024" cy="2103120"/>
          </a:xfrm>
          <a:prstGeom prst="roundRect">
            <a:avLst>
              <a:gd name="adj" fmla="val 5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89703" y="2359152"/>
            <a:ext cx="32186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05826"/>
                </a:solidFill>
                <a:latin typeface="Times New Roman"/>
                <a:ea typeface="Times New Roman"/>
              </a:rPr>
              <a:t>02 文件操作与审计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9703" y="2788920"/>
            <a:ext cx="32186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15 个文件与办公工具，覆盖常用目录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9703" y="3319272"/>
            <a:ext cx="32186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写盘、删除、命令执行前熔断审批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9703" y="3849624"/>
            <a:ext cx="32186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工具、审批、还原全部写入哈希链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65008" y="2212848"/>
            <a:ext cx="3621024" cy="2103120"/>
          </a:xfrm>
          <a:prstGeom prst="roundRect">
            <a:avLst>
              <a:gd name="adj" fmla="val 5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66176" y="2359152"/>
            <a:ext cx="32186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05826"/>
                </a:solidFill>
                <a:latin typeface="Times New Roman"/>
                <a:ea typeface="Times New Roman"/>
              </a:rPr>
              <a:t>03 统一后台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66176" y="2788920"/>
            <a:ext cx="32186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控制面只汇总掩码事件与元数据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66176" y="3319272"/>
            <a:ext cx="32186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策略只能收紧，上报默认关闭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66176" y="3849624"/>
            <a:ext cx="32186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插件：能力可扩展，判定权不外包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12064" y="4553712"/>
            <a:ext cx="64008" cy="310896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4944" y="4581144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>
                <a:solidFill>
                  <a:srgbClr val="005826"/>
                </a:solidFill>
                <a:latin typeface="黑体"/>
                <a:ea typeface="黑体"/>
              </a:rPr>
              <a:t>二、四个目标 · 做到什么程度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2064" y="4919472"/>
            <a:ext cx="11173968" cy="12700"/>
          </a:xfrm>
          <a:prstGeom prst="rect">
            <a:avLst/>
          </a:prstGeom>
          <a:solidFill>
            <a:srgbClr val="D6EB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12064" y="5047488"/>
            <a:ext cx="2670048" cy="1170432"/>
          </a:xfrm>
          <a:prstGeom prst="roundRect">
            <a:avLst>
              <a:gd name="adj" fmla="val 5000"/>
            </a:avLst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6656" y="5175504"/>
            <a:ext cx="23408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Times New Roman"/>
                <a:ea typeface="Times New Roman"/>
              </a:rPr>
              <a:t>可用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" y="5541264"/>
            <a:ext cx="235915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D6EBE0"/>
                </a:solidFill>
                <a:latin typeface="黑体"/>
                <a:ea typeface="黑体"/>
              </a:rPr>
              <a:t>2B/4B 量化模型 · CPU 可跑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346704" y="5047488"/>
            <a:ext cx="2670048" cy="1170432"/>
          </a:xfrm>
          <a:prstGeom prst="roundRect">
            <a:avLst>
              <a:gd name="adj" fmla="val 5000"/>
            </a:avLst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11296" y="5175504"/>
            <a:ext cx="23408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Times New Roman"/>
                <a:ea typeface="Times New Roman"/>
              </a:rPr>
              <a:t>不可见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11296" y="5541264"/>
            <a:ext cx="235915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D6EBE0"/>
                </a:solidFill>
                <a:latin typeface="黑体"/>
                <a:ea typeface="黑体"/>
              </a:rPr>
              <a:t>已识别实体出网明文 0 例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81344" y="5047488"/>
            <a:ext cx="2670048" cy="1170432"/>
          </a:xfrm>
          <a:prstGeom prst="roundRect">
            <a:avLst>
              <a:gd name="adj" fmla="val 5000"/>
            </a:avLst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45936" y="5175504"/>
            <a:ext cx="23408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Times New Roman"/>
                <a:ea typeface="Times New Roman"/>
              </a:rPr>
              <a:t>可审计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45936" y="5541264"/>
            <a:ext cx="235915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D6EBE0"/>
                </a:solidFill>
                <a:latin typeface="黑体"/>
                <a:ea typeface="黑体"/>
              </a:rPr>
              <a:t>工具 / 审批 / 还原全部留痕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015984" y="5047488"/>
            <a:ext cx="2670048" cy="1170432"/>
          </a:xfrm>
          <a:prstGeom prst="roundRect">
            <a:avLst>
              <a:gd name="adj" fmla="val 5000"/>
            </a:avLst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80576" y="5175504"/>
            <a:ext cx="23408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Times New Roman"/>
                <a:ea typeface="Times New Roman"/>
              </a:rPr>
              <a:t>可部署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80576" y="5541264"/>
            <a:ext cx="235915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D6EBE0"/>
                </a:solidFill>
                <a:latin typeface="黑体"/>
                <a:ea typeface="黑体"/>
              </a:rPr>
              <a:t>标准安装包 + 单文件试用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模型全程看不见隐私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识别在本地、由规则完成；模型只负责推理，不负责判断哪些是隐私</a:t>
            </a:r>
          </a:p>
        </p:txBody>
      </p:sp>
      <p:pic>
        <p:nvPicPr>
          <p:cNvPr id="14" name="Picture 13" descr="demo_privacy_hi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" y="1811655"/>
            <a:ext cx="5760720" cy="36004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12064" y="5504688"/>
            <a:ext cx="5760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975"/>
                </a:solidFill>
                <a:latin typeface="黑体"/>
                <a:ea typeface="黑体"/>
              </a:rPr>
              <a:t>完整流程：输入 → 发送 → 模型加载 → 回答还原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1810512"/>
            <a:ext cx="5166360" cy="3749039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1938528"/>
            <a:ext cx="4800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本地正则 + 精验，不调用模型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2331720"/>
            <a:ext cx="48006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手机号看 11 位；银行卡过 Luhn；身份证看 18 位形状与出生日期，带分隔符的形态再过校验位；人名看姓氏表 ∩ 触发词窗口。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3401568"/>
            <a:ext cx="4800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5B6975"/>
                </a:solidFill>
                <a:latin typeface="黑体"/>
                <a:ea typeface="黑体"/>
              </a:rPr>
              <a:t>用户看到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3630168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Times New Roman"/>
              </a:rPr>
              <a:t>孙良硕 · 13700001111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4005072"/>
            <a:ext cx="4800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05826"/>
                </a:solidFill>
                <a:latin typeface="黑体"/>
                <a:ea typeface="黑体"/>
              </a:rPr>
              <a:t>模型看到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4233672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05826"/>
                </a:solidFill>
                <a:latin typeface="Times New Roman"/>
                <a:ea typeface="Times New Roman"/>
              </a:rPr>
              <a:t>[NAME_0_o6g8] · [PHONE_0_gm1z]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4663440"/>
            <a:ext cx="48006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5B6975"/>
                </a:solidFill>
                <a:latin typeface="黑体"/>
                <a:ea typeface="黑体"/>
              </a:rPr>
              <a:t>映射表加密、不进模型上下文；回答回本机才还原。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2064" y="5806440"/>
            <a:ext cx="11173968" cy="50292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5916168"/>
            <a:ext cx="111739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黑体"/>
                <a:ea typeface="黑体"/>
              </a:rPr>
              <a:t>对已识别实体，出网明文 0 例；识别靠规则，不靠模型。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三层立体判断：先用途，再意图，最后操作风险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三层回答三个不同问题；判定权在人，不在模型</a:t>
            </a:r>
          </a:p>
        </p:txBody>
      </p:sp>
      <p:pic>
        <p:nvPicPr>
          <p:cNvPr id="14" name="Picture 13" descr="demo_approval_hi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892" y="1810512"/>
            <a:ext cx="5939942" cy="371246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12064" y="5596128"/>
            <a:ext cx="5943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975"/>
                </a:solidFill>
                <a:latin typeface="黑体"/>
                <a:ea typeface="黑体"/>
              </a:rPr>
              <a:t>完整流程：写文件请求 → 弹窗 → 授权 → 执行成功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0" y="1810512"/>
            <a:ext cx="5029200" cy="406908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12280" y="1938528"/>
            <a:ext cx="32918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78040" y="19202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用途红线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78040" y="2212848"/>
            <a:ext cx="4251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2C13"/>
                </a:solidFill>
                <a:latin typeface="黑体"/>
                <a:ea typeface="黑体"/>
              </a:rPr>
              <a:t>内核确定性规则，不依赖模型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78040" y="2468880"/>
            <a:ext cx="4251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收集个人信息 + 出售/牟利 → 模型和工具之前直接拒绝；外发/公开 → 顶部红色警示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80" y="3054096"/>
            <a:ext cx="32918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30358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意图预判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3328415"/>
            <a:ext cx="4251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2C13"/>
                </a:solidFill>
                <a:latin typeface="黑体"/>
                <a:ea typeface="黑体"/>
              </a:rPr>
              <a:t>内核规则 + 本地模型补充细节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78040" y="3584448"/>
            <a:ext cx="4251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意图 / 数据 / 去向 / 用途；模型只能加重，不能减轻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12280" y="4169663"/>
            <a:ext cx="32918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8040" y="415137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操作风险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78040" y="4443983"/>
            <a:ext cx="4251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2C13"/>
                </a:solidFill>
                <a:latin typeface="黑体"/>
                <a:ea typeface="黑体"/>
              </a:rPr>
              <a:t>laya 决策模型：本机 → 局域网 → 正则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78040" y="4700016"/>
            <a:ext cx="4251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高危 / 中危 / 低危；只评动作本身，来源如实标注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12280" y="5376672"/>
            <a:ext cx="4617720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12280" y="5468112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B03A2E"/>
                </a:solidFill>
                <a:latin typeface="黑体"/>
                <a:ea typeface="黑体"/>
              </a:rPr>
              <a:t>用途触线时，「是否相符」不再发言。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审计黑匣子：每次使用都留痕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打开即校验、可追溯；不可写只是其中一个亮点</a:t>
            </a:r>
          </a:p>
        </p:txBody>
      </p:sp>
      <p:pic>
        <p:nvPicPr>
          <p:cNvPr id="14" name="Picture 13" descr="demo_audit_hi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" y="1811655"/>
            <a:ext cx="5760720" cy="36004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12064" y="5504688"/>
            <a:ext cx="5760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975"/>
                </a:solidFill>
                <a:latin typeface="黑体"/>
                <a:ea typeface="黑体"/>
              </a:rPr>
              <a:t>完整流程：对话完成 → 打开审计 → 滚动查看事件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1810512"/>
            <a:ext cx="5166360" cy="3749039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1938528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打开即校验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2249424"/>
            <a:ext cx="4800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每次展开面板都重跑链校验与锚点检查；徽标不是缓存。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2871216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每条可追溯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3182112"/>
            <a:ext cx="4800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工具调用、隐私检测/还原、审批决策都在链上；只存脱敏预览。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3803904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六种删改可发现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4114800"/>
            <a:ext cx="4800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改中间、尾部截断、降级改写、删锚点等，均有回归用例。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75120" y="4681728"/>
            <a:ext cx="4800600" cy="713232"/>
          </a:xfrm>
          <a:prstGeom prst="rect">
            <a:avLst/>
          </a:prstGeom>
          <a:solidFill>
            <a:srgbClr val="FCF8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84848" y="4754880"/>
            <a:ext cx="45902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B47800"/>
                </a:solidFill>
                <a:latin typeface="黑体"/>
                <a:ea typeface="黑体"/>
              </a:rPr>
              <a:t>边界：能重写整台机器的攻击者超出防护目标。准确说法是“可发现”，不是“物理不可写”。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万物皆插件：能力可以通过插件增加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laya 决策模型快速适配；控制端已可用</a:t>
            </a:r>
          </a:p>
        </p:txBody>
      </p:sp>
      <p:pic>
        <p:nvPicPr>
          <p:cNvPr id="14" name="Picture 13" descr="demo_plugins_hi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" y="1811654"/>
            <a:ext cx="5394960" cy="33718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12064" y="5266944"/>
            <a:ext cx="5394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975"/>
                </a:solidFill>
                <a:latin typeface="黑体"/>
                <a:ea typeface="黑体"/>
              </a:rPr>
              <a:t>插件页：能力清单、运行状态与启停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1810512"/>
            <a:ext cx="5532120" cy="370332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920240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laya 决策模型 · 快速适配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231136"/>
            <a:ext cx="5166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02C13"/>
                </a:solidFill>
                <a:latin typeface="黑体"/>
                <a:ea typeface="黑体"/>
              </a:rPr>
              <a:t>近一个月走红的决策模型，我们第一时间接进项目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523744"/>
            <a:ext cx="51663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· 判断动作本身危不危险，输出高/中/低危
· 本机优先 → 局域网 → 正则回退，来源标明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246120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插件只做加法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538728"/>
            <a:ext cx="516636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1F2329"/>
                </a:solidFill>
                <a:latin typeface="黑体"/>
                <a:ea typeface="黑体"/>
              </a:rPr>
              <a:t>· 判定类钩子永久禁止：approve / mask / bypass / whitelist
· 载荷净化 · 超时隔离 · 内核兜底 · 启停即收回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4160520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控制面只收紧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453128"/>
            <a:ext cx="516636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1F2329"/>
                </a:solidFill>
                <a:latin typeface="黑体"/>
                <a:ea typeface="黑体"/>
              </a:rPr>
              <a:t>· 控制端已交付：集中看掩码事件、下发更严策略
· 默认关闭；每次上报都写本地审计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5074920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2C13"/>
                </a:solidFill>
                <a:latin typeface="黑体"/>
                <a:ea typeface="黑体"/>
              </a:rPr>
              <a:t>laya 只做建议、不参与放行；适配层做成插件。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5760720"/>
            <a:ext cx="11173968" cy="50292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064" y="5870448"/>
            <a:ext cx="111739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黑体"/>
                <a:ea typeface="黑体"/>
              </a:rPr>
              <a:t>插件是“能力插座”，不是“权限后门”。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四个创新（一）：网关与用途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每一项配一段真实操作，先看它解决什么问题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2064" y="1737360"/>
            <a:ext cx="5394960" cy="4114800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2064" y="1737360"/>
            <a:ext cx="73152" cy="411480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1847088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182880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内存级脱敏网关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" y="2157984"/>
            <a:ext cx="46177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F2329"/>
                </a:solidFill>
                <a:latin typeface="黑体"/>
                <a:ea typeface="黑体"/>
              </a:rPr>
              <a:t>入口处完成替换：真值只在本机内存，模型上下文只有占位符</a:t>
            </a:r>
          </a:p>
        </p:txBody>
      </p:sp>
      <p:pic>
        <p:nvPicPr>
          <p:cNvPr id="19" name="Picture 18" descr="06_网关占位符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7201" y="2670048"/>
            <a:ext cx="4564684" cy="2852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23544" y="5559552"/>
            <a:ext cx="4617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E7873"/>
                </a:solidFill>
                <a:latin typeface="黑体"/>
                <a:ea typeface="黑体"/>
              </a:rPr>
              <a:t>证据：审计里 LLM 输入只有 [NAME_0_x]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72783" y="1737360"/>
            <a:ext cx="5394960" cy="4114800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72783" y="1737360"/>
            <a:ext cx="73152" cy="411480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1" y="1847088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39712" y="182880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先判用途，再判操作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39712" y="2157984"/>
            <a:ext cx="46177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F2329"/>
                </a:solidFill>
                <a:latin typeface="黑体"/>
                <a:ea typeface="黑体"/>
              </a:rPr>
              <a:t>用途触线时直接拒绝：不调用模型，也不给审批放行机会</a:t>
            </a:r>
          </a:p>
        </p:txBody>
      </p:sp>
      <p:pic>
        <p:nvPicPr>
          <p:cNvPr id="26" name="Picture 25" descr="07_用途红线拒绝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7921" y="2670048"/>
            <a:ext cx="4564684" cy="285292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684264" y="5559552"/>
            <a:ext cx="4617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E7873"/>
                </a:solidFill>
                <a:latin typeface="黑体"/>
                <a:ea typeface="黑体"/>
              </a:rPr>
              <a:t>证据：个人信息 + 出售/牟利 → 模型前拒绝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四个创新（二）：分级与知识库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laya 第一时间适配；知识库入库即脱敏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2064" y="1737360"/>
            <a:ext cx="5394960" cy="4114800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2064" y="1737360"/>
            <a:ext cx="73152" cy="411480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1847088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182880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laya 决策模型：第一时间适配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" y="2157984"/>
            <a:ext cx="46177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F2329"/>
                </a:solidFill>
                <a:latin typeface="黑体"/>
                <a:ea typeface="黑体"/>
              </a:rPr>
              <a:t>近一个月走红，我们第一时间接进项目</a:t>
            </a:r>
          </a:p>
        </p:txBody>
      </p:sp>
      <p:pic>
        <p:nvPicPr>
          <p:cNvPr id="19" name="Picture 18" descr="08_laya决策模型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7201" y="2670048"/>
            <a:ext cx="4564684" cy="2852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23544" y="5559552"/>
            <a:ext cx="4617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E7873"/>
                </a:solidFill>
                <a:latin typeface="黑体"/>
                <a:ea typeface="黑体"/>
              </a:rPr>
              <a:t>证据：本机→局域网→正则；只做建议、不参与放行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72783" y="1737360"/>
            <a:ext cx="5394960" cy="4114800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72783" y="1737360"/>
            <a:ext cx="73152" cy="411480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1" y="1847088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39712" y="182880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脱敏知识库：入库即脱敏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39712" y="2157984"/>
            <a:ext cx="46177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F2329"/>
                </a:solidFill>
                <a:latin typeface="黑体"/>
                <a:ea typeface="黑体"/>
              </a:rPr>
              <a:t>向量库只存占位符；检索标注“片段不是全文”</a:t>
            </a:r>
          </a:p>
        </p:txBody>
      </p:sp>
      <p:pic>
        <p:nvPicPr>
          <p:cNvPr id="26" name="Picture 25" descr="demo_kb_hi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7921" y="2670048"/>
            <a:ext cx="4564684" cy="285292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684264" y="5559552"/>
            <a:ext cx="4617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E7873"/>
                </a:solidFill>
                <a:latin typeface="黑体"/>
                <a:ea typeface="黑体"/>
              </a:rPr>
              <a:t>证据：入库即脱敏；向量库零明文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09 / 10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5961888"/>
            <a:ext cx="11173968" cy="384048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025896"/>
            <a:ext cx="10881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02C13"/>
                </a:solidFill>
                <a:latin typeface="黑体"/>
                <a:ea typeface="黑体"/>
              </a:rPr>
              <a:t>场景：律所 / 医院 / 制造 / 政府外包　　边界：控制面演示级原型；识别率 264/280（经验值）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773936"/>
            <a:ext cx="12191695" cy="267004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55064" y="2395728"/>
            <a:ext cx="8887968" cy="758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黑体"/>
                <a:ea typeface="黑体"/>
              </a:rPr>
              <a:t>敬请各位老师批评指正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55064" y="3456432"/>
            <a:ext cx="8887968" cy="356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D6EBE0"/>
                </a:solidFill>
                <a:latin typeface="楷体"/>
                <a:ea typeface="楷体"/>
              </a:rPr>
              <a:t>隐私保护不该是使用约定，而应是架构约束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27048" y="4974336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5B6975"/>
                </a:solidFill>
                <a:latin typeface="Times New Roman"/>
                <a:ea typeface="Times New Roman"/>
              </a:rPr>
              <a:t>识别覆盖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27048" y="5266944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5826"/>
                </a:solidFill>
                <a:latin typeface="Times New Roman"/>
                <a:ea typeface="Times New Roman"/>
              </a:rPr>
              <a:t>27 类敏感实体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4974336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5B6975"/>
                </a:solidFill>
                <a:latin typeface="Times New Roman"/>
                <a:ea typeface="Times New Roman"/>
              </a:rPr>
              <a:t>架构承诺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5266944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5826"/>
                </a:solidFill>
                <a:latin typeface="Times New Roman"/>
                <a:ea typeface="Times New Roman"/>
              </a:rPr>
              <a:t>已识别实体 0 明文出网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16952" y="4974336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5B6975"/>
                </a:solidFill>
                <a:latin typeface="Times New Roman"/>
                <a:ea typeface="Times New Roman"/>
              </a:rPr>
              <a:t>当前版本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16952" y="5266944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5826"/>
                </a:solidFill>
                <a:latin typeface="Times New Roman"/>
                <a:ea typeface="Times New Roman"/>
              </a:rPr>
              <a:t>V3.6.20 · 2026.10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55064" y="6099048"/>
            <a:ext cx="88879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5B6975"/>
                </a:solidFill>
                <a:latin typeface="Times New Roman"/>
                <a:ea typeface="Times New Roman"/>
              </a:rPr>
              <a:t>隐盾 · 面向数据隐私安全的 AI 协同办公桌面智能体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