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们是隐盾安全智能体。一句话：让大模型看不见敏感数据，却依然能把合同审查、文件整理这些活干完。下面按作品简介、主要功能与预期目标、设计方案及技术实现、创新及应用前景四部分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想把大模型用在合同、薪酬、病历、客户资料上，但数据只要出了本机就失控：出网、落盘、留痕、执行，四个环节都是泄露面。隐盾的定位是：面向涉密办公的本地化隐私防护桌面智能体。它不要求企业少用 AI，而是让企业放心用 AI——数据进模型前脱敏，回答回到本机再还原。主要面向律所、医院、制造企业和政府外包团队。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功能有五块：第一，脱敏对话，27 类实体在内存里换成占位符；第二，15 个文件与办公工具，覆盖整理、移动、批量改名；第三，脱敏知识库，入库就脱敏，向量库零明文；第四，安全审计，哈希链加外部锚点；第五，企业控制面，只上报掩码事件，策略只能收紧。预期目标四个：可用——本机 4B、不需要 GPU；不可见——对已识别实体，出网明文 0 例；可审计——每次操作留痕；可部署——两个免安装 exe。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设计上是三层解耦：UI 用 pywebview，服务层做工具编排和审批，安全内核在 core 里、零 Qt、可以独立测试。核心是内存级脱敏网关：anonymize、invoke、deanonymize 三段式，真值只在进程内存里出现；映射表 Fernet 加密，主密钥 DPAPI 保护。再往外是四道防线：沙箱、命令白名单、熔断审批、哈希链审计。数字我们不写 100%：留出集 60 篇、280 个注入值，完整脱敏 264 个，未覆盖 16 个，94.3%；对已经识别出来的实体，出网明文 0 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这一页讲两个技术实现。左边是 laya 风险分级：按数据边界分三级——本机 laya 模型、局域网服务、正则规则；每一级都写明本次来源，模型不可用就自动回落，但只做建议、不参与放行。右边是插件体系：7 个内置插件，可以多识别一类实体、多解析一种格式、多一种导出；但插件永远拿不到判定权——审批、脱敏豁免、白名单、审计写入，这些钩子在宿主里是永久禁止的。也就是说，能力可以扩展，安全边界不外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创新点四个。第一，内存级脱敏网关，机密性是架构保证，不是识别率保证。第二，laya 三级分级加插件只做加法：能力可以扩展，判定权不外包。第三，先判用途，再判操作：以前审批只问“操作对不对得上请求”，现在先问“这件事该不该做”——收集个人信息去出售，在模型和工具之前就拒绝；外发则红色警示。第四，可验证交付：39 个套件、双 exe、打包后校验资产等于源码。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上先做律所、医院、制造企业和政府外包，客户端私有化部署，控制面做企业订阅，行业插件做定制。边界也如实说：控制面还是演示级原型，RBAC、TLS、多租户是下一步；识别覆盖率是经验值，94.3%，未覆盖的 16 个形态我们公开清单，不承诺 100%。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我们最想请评委看的是：这套东西不是概念，是能跑、能验证、能持续交付的。谢谢。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99855" y="-1097280"/>
            <a:ext cx="4754880" cy="4754880"/>
          </a:xfrm>
          <a:prstGeom prst="ellipse">
            <a:avLst/>
          </a:prstGeom>
          <a:solidFill>
            <a:srgbClr val="0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297680"/>
            <a:ext cx="4206240" cy="4206240"/>
          </a:xfrm>
          <a:prstGeom prst="ellipse">
            <a:avLst/>
          </a:prstGeom>
          <a:solidFill>
            <a:srgbClr val="0A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 rot="10800000">
            <a:off x="548640" y="1234440"/>
            <a:ext cx="868680" cy="960120"/>
          </a:xfrm>
          <a:prstGeom prst="homePlate">
            <a:avLst/>
          </a:prstGeom>
          <a:solidFill>
            <a:srgbClr val="16A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8412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隐盾安全智能体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CFE8DA"/>
                </a:solidFill>
                <a:latin typeface="Microsoft YaHei"/>
              </a:rPr>
              <a:t>让大模型“看不见”敏感数据，却依然能把活干完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FD3B4"/>
                </a:solidFill>
                <a:latin typeface="Consolas"/>
              </a:rPr>
              <a:t>YINDUN SECURITY AGENT  ·  PRIVACY-GATEWAY DESKTOP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74920"/>
            <a:ext cx="1143000" cy="292608"/>
          </a:xfrm>
          <a:prstGeom prst="roundRect">
            <a:avLst/>
          </a:prstGeom>
          <a:solidFill>
            <a:srgbClr val="0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102352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V3.6.19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5074920"/>
            <a:ext cx="1417320" cy="292608"/>
          </a:xfrm>
          <a:prstGeom prst="roundRect">
            <a:avLst/>
          </a:prstGeom>
          <a:solidFill>
            <a:srgbClr val="0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5102352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本地化部署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5074920"/>
            <a:ext cx="2331720" cy="292608"/>
          </a:xfrm>
          <a:prstGeom prst="roundRect">
            <a:avLst/>
          </a:prstGeom>
          <a:solidFill>
            <a:srgbClr val="0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5102352"/>
            <a:ext cx="214883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隐私计算 · 桌面智能体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5074920"/>
            <a:ext cx="1691640" cy="292608"/>
          </a:xfrm>
          <a:prstGeom prst="roundRect">
            <a:avLst/>
          </a:prstGeom>
          <a:solidFill>
            <a:srgbClr val="0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510235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庆园杯预答辩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FD3B4"/>
                </a:solidFill>
                <a:latin typeface="Microsoft YaHei"/>
              </a:rPr>
              <a:t>2026-10-22  ·  团队与学校（按实际填写）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91440" cy="274320"/>
          </a:xfrm>
          <a:prstGeom prst="rect">
            <a:avLst/>
          </a:prstGeom>
          <a:solidFill>
            <a:srgbClr val="0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7A4A"/>
                </a:solidFill>
                <a:latin typeface="Microsoft YaHei"/>
              </a:rPr>
              <a:t>一、作品简介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1A1E22"/>
                </a:solidFill>
                <a:latin typeface="Microsoft YaHei"/>
              </a:rPr>
              <a:t>数据越敏感，越需要 AI；却越不能把数据交出去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788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" cy="1234440"/>
          </a:xfrm>
          <a:prstGeom prst="rect">
            <a:avLst/>
          </a:prstGeom>
          <a:solidFill>
            <a:srgbClr val="C4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56816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4362F"/>
                </a:solidFill>
                <a:latin typeface="Microsoft YaHei"/>
              </a:rPr>
              <a:t>出网面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0428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E22"/>
                </a:solidFill>
                <a:latin typeface="Microsoft YaHei"/>
              </a:rPr>
              <a:t>调用云端模型时，敏感原文离开本机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828800"/>
            <a:ext cx="2788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828800"/>
            <a:ext cx="54864" cy="1234440"/>
          </a:xfrm>
          <a:prstGeom prst="rect">
            <a:avLst/>
          </a:prstGeom>
          <a:solidFill>
            <a:srgbClr val="C4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956816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4362F"/>
                </a:solidFill>
                <a:latin typeface="Microsoft YaHei"/>
              </a:rPr>
              <a:t>落盘面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30428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E22"/>
                </a:solidFill>
                <a:latin typeface="Microsoft YaHei"/>
              </a:rPr>
              <a:t>临时文件、缓存、日志里留下副本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2788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46120"/>
            <a:ext cx="54864" cy="1234440"/>
          </a:xfrm>
          <a:prstGeom prst="rect">
            <a:avLst/>
          </a:prstGeom>
          <a:solidFill>
            <a:srgbClr val="A97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374136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9761B"/>
                </a:solidFill>
                <a:latin typeface="Microsoft YaHei"/>
              </a:rPr>
              <a:t>留痕面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2160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E22"/>
                </a:solidFill>
                <a:latin typeface="Microsoft YaHei"/>
              </a:rPr>
              <a:t>模型厂商的请求日志与训练回流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3246120"/>
            <a:ext cx="2788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3246120"/>
            <a:ext cx="54864" cy="1234440"/>
          </a:xfrm>
          <a:prstGeom prst="rect">
            <a:avLst/>
          </a:prstGeom>
          <a:solidFill>
            <a:srgbClr val="A97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3374136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9761B"/>
                </a:solidFill>
                <a:latin typeface="Microsoft YaHei"/>
              </a:rPr>
              <a:t>执行面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608" y="372160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E22"/>
                </a:solidFill>
                <a:latin typeface="Microsoft YaHei"/>
              </a:rPr>
              <a:t>越权写盘、误删、命令注入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783080"/>
            <a:ext cx="5074920" cy="4069080"/>
          </a:xfrm>
          <a:prstGeom prst="roundRect">
            <a:avLst/>
          </a:prstGeom>
          <a:solidFill>
            <a:srgbClr val="F7F8F9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196596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7A4A"/>
                </a:solidFill>
                <a:latin typeface="Microsoft YaHei"/>
              </a:rPr>
              <a:t>产品定位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331720"/>
            <a:ext cx="46177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1A1E22"/>
                </a:solidFill>
                <a:latin typeface="Microsoft YaHei"/>
              </a:rPr>
              <a:t>面向涉密办公场景的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0E7A4A"/>
                </a:solidFill>
                <a:latin typeface="Microsoft YaHei"/>
              </a:rPr>
              <a:t>本地化隐私防护桌面智能体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5A626B"/>
                </a:solidFill>
                <a:latin typeface="Microsoft YaHei"/>
              </a:rPr>
              <a:t>本机 / 局域网 / 云端双算力；数据进模型前脱敏，回答回本机还原。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E7A4A"/>
                </a:solidFill>
                <a:latin typeface="Microsoft YaHei"/>
              </a:rPr>
              <a:t>目标用户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1A1E22"/>
                </a:solidFill>
                <a:latin typeface="Microsoft YaHei"/>
              </a:rPr>
              <a:t>律所 · 医院 · 制造企业 · 政府外包团队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A9761B"/>
                </a:solidFill>
                <a:latin typeface="Microsoft YaHei"/>
              </a:rPr>
              <a:t>一句话：不是“少用 AI”，而是“放心用 AI”。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26B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91440" cy="274320"/>
          </a:xfrm>
          <a:prstGeom prst="rect">
            <a:avLst/>
          </a:prstGeom>
          <a:solidFill>
            <a:srgbClr val="0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7A4A"/>
                </a:solidFill>
                <a:latin typeface="Microsoft YaHei"/>
              </a:rPr>
              <a:t>二、主要功能与预期目标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1A1E22"/>
                </a:solidFill>
                <a:latin typeface="Microsoft YaHei"/>
              </a:rPr>
              <a:t>五个功能，四个目标：可用、不可见、可审计、可部署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1965960"/>
          </a:xfrm>
          <a:prstGeom prst="rect">
            <a:avLst/>
          </a:prstGeom>
          <a:solidFill>
            <a:srgbClr val="16A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11095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A163"/>
                </a:solidFill>
                <a:latin typeface="Microsoft YaHei"/>
              </a:rPr>
              <a:t>脱敏对话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58568"/>
            <a:ext cx="3154680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E22"/>
                </a:solidFill>
                <a:latin typeface="Microsoft YaHei"/>
              </a:rPr>
              <a:t>27 类实体内存内替换为占位符，模型全程只见占位符，回答本机还原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83080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783080"/>
            <a:ext cx="54864" cy="1965960"/>
          </a:xfrm>
          <a:prstGeom prst="rect">
            <a:avLst/>
          </a:prstGeom>
          <a:solidFill>
            <a:srgbClr val="16A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7" y="1911095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A163"/>
                </a:solidFill>
                <a:latin typeface="Microsoft YaHei"/>
              </a:rPr>
              <a:t>文件与办公工具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7" y="2258568"/>
            <a:ext cx="3154680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E22"/>
                </a:solidFill>
                <a:latin typeface="Microsoft YaHei"/>
              </a:rPr>
              <a:t>15 个工具：列目录/读写/移动/复制/改名/批量改后缀/建目录；默认范围＝程序目录+桌面/文档/下载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783080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783080"/>
            <a:ext cx="54864" cy="1965960"/>
          </a:xfrm>
          <a:prstGeom prst="rect">
            <a:avLst/>
          </a:prstGeom>
          <a:solidFill>
            <a:srgbClr val="16A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911095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A163"/>
                </a:solidFill>
                <a:latin typeface="Microsoft YaHei"/>
              </a:rPr>
              <a:t>脱敏知识库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258568"/>
            <a:ext cx="3154680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E22"/>
                </a:solidFill>
                <a:latin typeface="Microsoft YaHei"/>
              </a:rPr>
              <a:t>入库即逐块脱敏，向量库只存占位符；检索结果标注“片段不是全文”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86200"/>
            <a:ext cx="54864" cy="1325880"/>
          </a:xfrm>
          <a:prstGeom prst="rect">
            <a:avLst/>
          </a:prstGeom>
          <a:solidFill>
            <a:srgbClr val="0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014215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7A4A"/>
                </a:solidFill>
                <a:latin typeface="Microsoft YaHei"/>
              </a:rPr>
              <a:t>安全审计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361688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E22"/>
                </a:solidFill>
                <a:latin typeface="Microsoft YaHei"/>
              </a:rPr>
              <a:t>HMAC-SHA256 哈希链 + 外部锚点，一键校验、导出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88620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3886200"/>
            <a:ext cx="54864" cy="1325880"/>
          </a:xfrm>
          <a:prstGeom prst="rect">
            <a:avLst/>
          </a:prstGeom>
          <a:solidFill>
            <a:srgbClr val="0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7" y="4014215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7A4A"/>
                </a:solidFill>
                <a:latin typeface="Microsoft YaHei"/>
              </a:rPr>
              <a:t>企业控制面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7" y="4361688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E22"/>
                </a:solidFill>
                <a:latin typeface="Microsoft YaHei"/>
              </a:rPr>
              <a:t>只汇总掩码事件与元数据；策略只能收紧；上报默认关闭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40680"/>
            <a:ext cx="2606040" cy="777240"/>
          </a:xfrm>
          <a:prstGeom prst="roundRect">
            <a:avLst/>
          </a:prstGeom>
          <a:solidFill>
            <a:srgbClr val="ED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504688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A4A"/>
                </a:solidFill>
                <a:latin typeface="Microsoft YaHei"/>
              </a:rPr>
              <a:t>可用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76072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>本机 4B，无需 GPU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5440680"/>
            <a:ext cx="2606040" cy="777240"/>
          </a:xfrm>
          <a:prstGeom prst="roundRect">
            <a:avLst/>
          </a:prstGeom>
          <a:solidFill>
            <a:srgbClr val="ED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47288" y="5504688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A4A"/>
                </a:solidFill>
                <a:latin typeface="Microsoft YaHei"/>
              </a:rPr>
              <a:t>不可见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288" y="576072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>已识别实体出网明文 0 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79" y="5440680"/>
            <a:ext cx="2606040" cy="777240"/>
          </a:xfrm>
          <a:prstGeom prst="roundRect">
            <a:avLst/>
          </a:prstGeom>
          <a:solidFill>
            <a:srgbClr val="ED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7" y="5504688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A4A"/>
                </a:solidFill>
                <a:latin typeface="Microsoft YaHei"/>
              </a:rPr>
              <a:t>可审计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7" y="576072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>每次操作留痕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399" y="5440680"/>
            <a:ext cx="2606040" cy="777240"/>
          </a:xfrm>
          <a:prstGeom prst="roundRect">
            <a:avLst/>
          </a:prstGeom>
          <a:solidFill>
            <a:srgbClr val="ED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25127" y="5504688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A4A"/>
                </a:solidFill>
                <a:latin typeface="Microsoft YaHei"/>
              </a:rPr>
              <a:t>可部署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7" y="576072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>两个免安装 exe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26B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91440" cy="274320"/>
          </a:xfrm>
          <a:prstGeom prst="rect">
            <a:avLst/>
          </a:prstGeom>
          <a:solidFill>
            <a:srgbClr val="0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7A4A"/>
                </a:solidFill>
                <a:latin typeface="Microsoft YaHei"/>
              </a:rPr>
              <a:t>三、设计方案及技术实现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1A1E22"/>
                </a:solidFill>
                <a:latin typeface="Microsoft YaHei"/>
              </a:rPr>
              <a:t>三层解耦 + 内存级脱敏网关 + 四道防线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212080" cy="749808"/>
          </a:xfrm>
          <a:prstGeom prst="roundRect">
            <a:avLst/>
          </a:prstGeom>
          <a:solidFill>
            <a:srgbClr val="0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659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UI 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984248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AF5EF"/>
                </a:solidFill>
                <a:latin typeface="Microsoft YaHei"/>
              </a:rPr>
              <a:t>pywebview / WebView2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5877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B"/>
                </a:solidFill>
                <a:latin typeface="Microsoft YaHei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39"/>
            <a:ext cx="5212080" cy="749808"/>
          </a:xfrm>
          <a:prstGeom prst="roundRect">
            <a:avLst/>
          </a:prstGeom>
          <a:solidFill>
            <a:srgbClr val="0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926079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服务层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944368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AF5EF"/>
                </a:solidFill>
                <a:latin typeface="Microsoft YaHei"/>
              </a:rPr>
              <a:t>AgentService · 工具编排 · 审批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5478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26B"/>
                </a:solidFill>
                <a:latin typeface="Microsoft YaHe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5212080" cy="749808"/>
          </a:xfrm>
          <a:prstGeom prst="roundRect">
            <a:avLst/>
          </a:prstGeom>
          <a:solidFill>
            <a:srgbClr val="16A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8862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安全内核 core/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904488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AF5EF"/>
                </a:solidFill>
                <a:latin typeface="Microsoft YaHei"/>
              </a:rPr>
              <a:t>脱敏 · 权限 · 审计 · 沙箱（零 Qt）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3949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9019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E7A4A"/>
                </a:solidFill>
                <a:latin typeface="Microsoft YaHei"/>
              </a:rPr>
              <a:t>内存级脱敏网关（三段式）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331720"/>
            <a:ext cx="1508760" cy="502920"/>
          </a:xfrm>
          <a:prstGeom prst="roundRect">
            <a:avLst/>
          </a:prstGeom>
          <a:solidFill>
            <a:srgbClr val="ED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432304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E7A4A"/>
                </a:solidFill>
                <a:latin typeface="Consolas"/>
              </a:rPr>
              <a:t>anonymize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4423" y="2395728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6B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331720"/>
            <a:ext cx="1508760" cy="502920"/>
          </a:xfrm>
          <a:prstGeom prst="roundRect">
            <a:avLst/>
          </a:prstGeom>
          <a:solidFill>
            <a:srgbClr val="ED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432304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E7A4A"/>
                </a:solidFill>
                <a:latin typeface="Consolas"/>
              </a:rPr>
              <a:t>invoke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6064" y="2395728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26B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2331720"/>
            <a:ext cx="1508760" cy="502920"/>
          </a:xfrm>
          <a:prstGeom prst="roundRect">
            <a:avLst/>
          </a:prstGeom>
          <a:solidFill>
            <a:srgbClr val="ED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2432304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E7A4A"/>
                </a:solidFill>
                <a:latin typeface="Consolas"/>
              </a:rPr>
              <a:t>deanonymize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944368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A626B"/>
                </a:solidFill>
                <a:latin typeface="Microsoft YaHei"/>
              </a:rPr>
              <a:t>真值只在进程内存；映射表 Fernet 加密，主密钥 DPAPI 保护；占位符带 nonce 防劫持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8404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E7A4A"/>
                </a:solidFill>
                <a:latin typeface="Microsoft YaHei"/>
              </a:rPr>
              <a:t>四道防线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160520"/>
            <a:ext cx="2606040" cy="749808"/>
          </a:xfrm>
          <a:prstGeom prst="round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423367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7A4A"/>
                </a:solidFill>
                <a:latin typeface="Microsoft YaHei"/>
              </a:rPr>
              <a:t>沙箱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448970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E22"/>
                </a:solidFill>
                <a:latin typeface="Microsoft YaHei"/>
              </a:rPr>
              <a:t>默认可读写范围 + realpath 双重校验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4160520"/>
            <a:ext cx="2606040" cy="749808"/>
          </a:xfrm>
          <a:prstGeom prst="round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16567" y="423367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7A4A"/>
                </a:solidFill>
                <a:latin typeface="Microsoft YaHei"/>
              </a:rPr>
              <a:t>白名单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448970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E22"/>
                </a:solidFill>
                <a:latin typeface="Microsoft YaHei"/>
              </a:rPr>
              <a:t>去 shell，python 限沙箱内脚本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029200"/>
            <a:ext cx="2606040" cy="749808"/>
          </a:xfrm>
          <a:prstGeom prst="round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510235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7A4A"/>
                </a:solidFill>
                <a:latin typeface="Microsoft YaHei"/>
              </a:rPr>
              <a:t>审批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535838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E22"/>
                </a:solidFill>
                <a:latin typeface="Microsoft YaHei"/>
              </a:rPr>
              <a:t>熔断挂起，展示真实路径与内容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5029200"/>
            <a:ext cx="2606040" cy="749808"/>
          </a:xfrm>
          <a:prstGeom prst="round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16567" y="510235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7A4A"/>
                </a:solidFill>
                <a:latin typeface="Microsoft YaHei"/>
              </a:rPr>
              <a:t>审计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6567" y="535838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E22"/>
                </a:solidFill>
                <a:latin typeface="Microsoft YaHei"/>
              </a:rPr>
              <a:t>HMAC 链 + 锚点，可发现截断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532120"/>
            <a:ext cx="10881360" cy="640080"/>
          </a:xfrm>
          <a:prstGeom prst="roundRect">
            <a:avLst/>
          </a:prstGeom>
          <a:solidFill>
            <a:srgbClr val="FD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" y="5614416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761B"/>
                </a:solidFill>
                <a:latin typeface="Microsoft YaHei"/>
              </a:rPr>
              <a:t>数字口径（带分母，不写 100%）：留出集 60 篇 / 280 个注入值，完整脱敏 264 个、未覆盖 16 个（94.3%），清单公开；对已识别实体，出网明文 0 例。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26B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91440" cy="274320"/>
          </a:xfrm>
          <a:prstGeom prst="rect">
            <a:avLst/>
          </a:prstGeom>
          <a:solidFill>
            <a:srgbClr val="0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7A4A"/>
                </a:solidFill>
                <a:latin typeface="Microsoft YaHei"/>
              </a:rPr>
              <a:t>三、设计方案及技术实现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1A1E22"/>
                </a:solidFill>
                <a:latin typeface="Microsoft YaHei"/>
              </a:rPr>
              <a:t>laya 三级分级 + 插件只做加法：安全能力可扩展，判定权不外包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7A4A"/>
                </a:solidFill>
                <a:latin typeface="Microsoft YaHei"/>
              </a:rPr>
              <a:t>laya 风险分级：按数据边界由近及远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166360" cy="713232"/>
          </a:xfrm>
          <a:prstGeom prst="round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4864" cy="713232"/>
          </a:xfrm>
          <a:prstGeom prst="rect">
            <a:avLst/>
          </a:prstGeom>
          <a:solidFill>
            <a:srgbClr val="16A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39112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E22"/>
                </a:solidFill>
                <a:latin typeface="Microsoft YaHei"/>
              </a:rPr>
              <a:t>本机 laya 决策模型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3172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A626B"/>
                </a:solidFill>
                <a:latin typeface="Microsoft YaHei"/>
              </a:rPr>
              <a:t>数据不出这台电脑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79191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626B"/>
                </a:solidFill>
                <a:latin typeface="Microsoft YaHei"/>
              </a:rPr>
              <a:t>↓ 不可用时自动回落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5166360" cy="713232"/>
          </a:xfrm>
          <a:prstGeom prst="round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54864" cy="713232"/>
          </a:xfrm>
          <a:prstGeom prst="rect">
            <a:avLst/>
          </a:prstGeom>
          <a:solidFill>
            <a:srgbClr val="4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999232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E22"/>
                </a:solidFill>
                <a:latin typeface="Microsoft YaHei"/>
              </a:rPr>
              <a:t>局域网 laya 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29184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A626B"/>
                </a:solidFill>
                <a:latin typeface="Microsoft YaHei"/>
              </a:rPr>
              <a:t>出机器，不出企业内网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6393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626B"/>
                </a:solidFill>
                <a:latin typeface="Microsoft YaHei"/>
              </a:rPr>
              <a:t>↓ 不可用时自动回落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5166360" cy="713232"/>
          </a:xfrm>
          <a:prstGeom prst="round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54864" cy="713232"/>
          </a:xfrm>
          <a:prstGeom prst="rect">
            <a:avLst/>
          </a:prstGeom>
          <a:solidFill>
            <a:srgbClr val="A97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959352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E22"/>
                </a:solidFill>
                <a:latin typeface="Microsoft YaHei"/>
              </a:rPr>
              <a:t>正则规则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25196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A626B"/>
                </a:solidFill>
                <a:latin typeface="Microsoft YaHei"/>
              </a:rPr>
              <a:t>全离线；规则空则如实说“未给出结论”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7492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C4362F"/>
                </a:solidFill>
                <a:latin typeface="Microsoft YaHei"/>
              </a:rPr>
              <a:t>只做建议，不参与放行：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1A1E22"/>
                </a:solidFill>
                <a:latin typeface="Microsoft YaHei"/>
              </a:rPr>
              <a:t>高风险只影响弹窗提示，放行仍由人工审批；提示里写明本次来源，绝不冒充模型。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600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7A4A"/>
                </a:solidFill>
                <a:latin typeface="Microsoft YaHei"/>
              </a:rPr>
              <a:t>插件体系：“只做加法”的五条硬约束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965960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7A4A"/>
                </a:solidFill>
                <a:latin typeface="Microsoft YaHei"/>
              </a:rPr>
              <a:t>7 个内置插件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212848"/>
            <a:ext cx="5440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E22"/>
                </a:solidFill>
                <a:latin typeface="Microsoft YaHei"/>
              </a:rPr>
              <a:t>敏感词 / 邮件网页解析 / 工作流模板 / 导出格式 / 决策提示 / 操作意图预判 / laya 分级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807208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7A4A"/>
                </a:solidFill>
                <a:latin typeface="Microsoft YaHei"/>
              </a:rPr>
              <a:t>能力只增不减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054096"/>
            <a:ext cx="5440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E22"/>
                </a:solidFill>
                <a:latin typeface="Microsoft YaHei"/>
              </a:rPr>
              <a:t>多识别、多解析、多导出、多模板；不能让任何内容免于脱敏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648456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7A4A"/>
                </a:solidFill>
                <a:latin typeface="Microsoft YaHei"/>
              </a:rPr>
              <a:t>判定权永久禁止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895344"/>
            <a:ext cx="5440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E22"/>
                </a:solidFill>
                <a:latin typeface="Microsoft YaHei"/>
              </a:rPr>
              <a:t>approve / mask / bypass / whitelist / write_audit 等钩子不开放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489704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7A4A"/>
                </a:solidFill>
                <a:latin typeface="Microsoft YaHei"/>
              </a:rPr>
              <a:t>工程约束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736592"/>
            <a:ext cx="5440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E22"/>
                </a:solidFill>
                <a:latin typeface="Microsoft YaHei"/>
              </a:rPr>
              <a:t>载荷净化 · 超时隔离 · 内核兜底 · 启停即收回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5349240"/>
            <a:ext cx="5440680" cy="658368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5468112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插件是“能力插座”，不是“权限后门”——能力可以加，安全边界不外包。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26B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91440" cy="274320"/>
          </a:xfrm>
          <a:prstGeom prst="rect">
            <a:avLst/>
          </a:prstGeom>
          <a:solidFill>
            <a:srgbClr val="0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7A4A"/>
                </a:solidFill>
                <a:latin typeface="Microsoft YaHei"/>
              </a:rPr>
              <a:t>四、创新及应用前景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1A1E22"/>
                </a:solidFill>
                <a:latin typeface="Microsoft YaHei"/>
              </a:rPr>
              <a:t>四个创新点：网关、分级、用途、可验证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49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1874519"/>
          </a:xfrm>
          <a:prstGeom prst="rect">
            <a:avLst/>
          </a:prstGeom>
          <a:solidFill>
            <a:srgbClr val="16A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11095"/>
            <a:ext cx="49834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A163"/>
                </a:solidFill>
                <a:latin typeface="Microsoft YaHei"/>
              </a:rPr>
              <a:t>内存级脱敏网关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58568"/>
            <a:ext cx="4983479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>模型物理上看不见真值；机密性是架构保证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>证据：已识别实体出网明文 0 例；500 轮定向劫持未成功（限该攻击面）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783080"/>
            <a:ext cx="5349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59" y="1783080"/>
            <a:ext cx="54864" cy="1874519"/>
          </a:xfrm>
          <a:prstGeom prst="rect">
            <a:avLst/>
          </a:prstGeom>
          <a:solidFill>
            <a:srgbClr val="4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7" y="1911095"/>
            <a:ext cx="49834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A7DBF"/>
                </a:solidFill>
                <a:latin typeface="Microsoft YaHei"/>
              </a:rPr>
              <a:t>laya 三级 + 插件只做加法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7" y="2258568"/>
            <a:ext cx="4983479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>安全能力可按数据边界扩展，判定权永不外包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>证据：7 个插件；判定类钩子永久禁止；启停即收回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349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54864" cy="1874519"/>
          </a:xfrm>
          <a:prstGeom prst="rect">
            <a:avLst/>
          </a:prstGeom>
          <a:solidFill>
            <a:srgbClr val="C4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49834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362F"/>
                </a:solidFill>
                <a:latin typeface="Microsoft YaHei"/>
              </a:rPr>
              <a:t>先判用途，再判操作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315968"/>
            <a:ext cx="4983479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>先问“想干什么”，再问“对不对得上”，最后问“操作风险”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>证据：个人信息+出售/牟利 → 模型与工具之前直接拒绝；外发 → 红色警示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59" y="3840480"/>
            <a:ext cx="5349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59" y="3840480"/>
            <a:ext cx="54864" cy="1874519"/>
          </a:xfrm>
          <a:prstGeom prst="rect">
            <a:avLst/>
          </a:prstGeom>
          <a:solidFill>
            <a:srgbClr val="A97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7" y="3968496"/>
            <a:ext cx="49834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9761B"/>
                </a:solidFill>
                <a:latin typeface="Microsoft YaHei"/>
              </a:rPr>
              <a:t>可验证交付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7" y="4315968"/>
            <a:ext cx="4983479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>测试通过不等于安全证明，但每一步都能复核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E22"/>
                </a:solidFill>
                <a:latin typeface="Microsoft YaHei"/>
              </a:rPr>
              <a:t>证据：39 个套件在 CI 通过；verify_archive --all 0 问题；双 exe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26B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91440" cy="274320"/>
          </a:xfrm>
          <a:prstGeom prst="rect">
            <a:avLst/>
          </a:prstGeom>
          <a:solidFill>
            <a:srgbClr val="0E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7A4A"/>
                </a:solidFill>
                <a:latin typeface="Microsoft YaHei"/>
              </a:rPr>
              <a:t>四、创新及应用前景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1A1E22"/>
                </a:solidFill>
                <a:latin typeface="Microsoft YaHei"/>
              </a:rPr>
              <a:t>场景、商业与边界：能私有化部署，也知道自己不能做什么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20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520440" cy="54864"/>
          </a:xfrm>
          <a:prstGeom prst="rect">
            <a:avLst/>
          </a:prstGeom>
          <a:solidFill>
            <a:srgbClr val="16A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163"/>
                </a:solidFill>
                <a:latin typeface="Microsoft YaHei"/>
              </a:rPr>
              <a:t>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315468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00" b="0">
                <a:solidFill>
                  <a:srgbClr val="1A1E22"/>
                </a:solidFill>
                <a:latin typeface="Microsoft YaHei"/>
              </a:rPr>
              <a:t>律所：合同审查 / 客户资料整理 / 卷宗归档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00" b="0">
                <a:solidFill>
                  <a:srgbClr val="1A1E22"/>
                </a:solidFill>
                <a:latin typeface="Microsoft YaHei"/>
              </a:rPr>
              <a:t>医院：病历摘要 / 科研数据整理（本地部署）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00" b="0">
                <a:solidFill>
                  <a:srgbClr val="1A1E22"/>
                </a:solidFill>
                <a:latin typeface="Microsoft YaHei"/>
              </a:rPr>
              <a:t>制造企业：供应商合同 / 报价单 / 图纸清单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00" b="0">
                <a:solidFill>
                  <a:srgbClr val="1A1E22"/>
                </a:solidFill>
                <a:latin typeface="Microsoft YaHei"/>
              </a:rPr>
              <a:t>政府外包：涉密文档流转前的脱敏与审计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83080"/>
            <a:ext cx="3520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783080"/>
            <a:ext cx="3520440" cy="54864"/>
          </a:xfrm>
          <a:prstGeom prst="rect">
            <a:avLst/>
          </a:prstGeom>
          <a:solidFill>
            <a:srgbClr val="4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938528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A7DBF"/>
                </a:solidFill>
                <a:latin typeface="Microsoft YaHei"/>
              </a:rPr>
              <a:t>商业与推广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59152"/>
            <a:ext cx="315468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00" b="0">
                <a:solidFill>
                  <a:srgbClr val="1A1E22"/>
                </a:solidFill>
                <a:latin typeface="Microsoft YaHei"/>
              </a:rPr>
              <a:t>客户端：私有化部署，按席位/年订阅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00" b="0">
                <a:solidFill>
                  <a:srgbClr val="1A1E22"/>
                </a:solidFill>
                <a:latin typeface="Microsoft YaHei"/>
              </a:rPr>
              <a:t>控制面：企业版订阅，集中策略与审计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00" b="0">
                <a:solidFill>
                  <a:srgbClr val="1A1E22"/>
                </a:solidFill>
                <a:latin typeface="Microsoft YaHei"/>
              </a:rPr>
              <a:t>行业插件：定制词表 / 解析器 / 工作流模板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783080"/>
            <a:ext cx="35204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783080"/>
            <a:ext cx="3520440" cy="54864"/>
          </a:xfrm>
          <a:prstGeom prst="rect">
            <a:avLst/>
          </a:prstGeom>
          <a:solidFill>
            <a:srgbClr val="A97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938528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9761B"/>
                </a:solidFill>
                <a:latin typeface="Microsoft YaHei"/>
              </a:rPr>
              <a:t>边界与路线图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359152"/>
            <a:ext cx="315468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00" b="0">
                <a:solidFill>
                  <a:srgbClr val="1A1E22"/>
                </a:solidFill>
                <a:latin typeface="Microsoft YaHei"/>
              </a:rPr>
              <a:t>控制面是演示级原型：RBAC / TLS / 多租户是下一步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00" b="0">
                <a:solidFill>
                  <a:srgbClr val="1A1E22"/>
                </a:solidFill>
                <a:latin typeface="Microsoft YaHei"/>
              </a:rPr>
              <a:t>覆盖率是经验值：留出集 94.3%，未覆盖 16 个形态公开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00" b="0">
                <a:solidFill>
                  <a:srgbClr val="1A1E22"/>
                </a:solidFill>
                <a:latin typeface="Microsoft YaHei"/>
              </a:rPr>
              <a:t>本机模型能力有限：复杂任务建议切云端或更大模型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96128"/>
            <a:ext cx="10881360" cy="566928"/>
          </a:xfrm>
          <a:prstGeom prst="roundRect">
            <a:avLst/>
          </a:prstGeom>
          <a:solidFill>
            <a:srgbClr val="ED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68756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A4A"/>
                </a:solidFill>
                <a:latin typeface="Microsoft YaHei"/>
              </a:rPr>
              <a:t>路线图：插件市场与行业模板 → 控制面生产化 → 端侧合规报表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26B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65615" y="-914400"/>
            <a:ext cx="4206240" cy="4206240"/>
          </a:xfrm>
          <a:prstGeom prst="ellipse">
            <a:avLst/>
          </a:prstGeom>
          <a:solidFill>
            <a:srgbClr val="0E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FD3B4"/>
                </a:solidFill>
                <a:latin typeface="Microsoft YaHei"/>
              </a:rPr>
              <a:t>四、创新及应用前景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不是概念，是能跑、能验证、</a:t>
            </a:r>
          </a:p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能持续交付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60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FE8DA"/>
                </a:solidFill>
                <a:latin typeface="Microsoft YaHei"/>
              </a:rPr>
              <a:t>隐盾安全智能体 · V3.6.19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谢谢各位老师，欢迎提问。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26B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