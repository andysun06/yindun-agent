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22815" y="1325880"/>
            <a:ext cx="4206240" cy="4206240"/>
          </a:xfrm>
          <a:prstGeom prst="ellipse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17175" y="1920240"/>
            <a:ext cx="3017520" cy="301752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11535" y="2514600"/>
            <a:ext cx="1828800" cy="1828800"/>
          </a:xfrm>
          <a:prstGeom prst="ellipse">
            <a:avLst/>
          </a:prstGeom>
          <a:solidFill>
            <a:srgbClr val="12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1575" y="2926080"/>
            <a:ext cx="1005840" cy="100584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29260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技术汇报 · 隐私计算桌面智能体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9601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隐盾安全智能体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面向涉密办公场景的本地化隐私防护桌面智能体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566928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Yindun Security Agent</a:t>
            </a:r>
            <a:r>
              <a:rPr sz="1300" b="0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    ·    V3.6.16    ·    LangChain · pywebview/WebView2 · 本地/云端双算力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大模型进办公，但涉密数据不敢喂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合同、薪酬、病历、客户资料高度敏感，而大模型天然要求把数据送出本地边界。</a:t>
            </a:r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每一个环节都是泄露面：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249631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出 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3172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敏感明文随 prompt 发往云端 API，离开本地即失控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73075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落 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会话记录、向量库、摘要把真实隐私写进磁盘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80060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39" y="496519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留 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0060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审计日志本为追溯，却反过来成为二次泄露源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做成一个可用系统，要跨四道坎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691640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19656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可用 vs 不可见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691640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删掉敏感值模型就没法答——必须抹去真实值又保留语义结构，这是「占位符化」而非「删除」的设计动机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25496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825496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53512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召回 vs 精确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25496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中文敏感信息形态多变（全角/分段/国际前缀），既要高召回不漏，又不能误伤订单号、版本号等业务数字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959352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87368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全链路一致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959352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脱敏只做入口没用：落盘会话、审计、向量库、输出还原任一环节旁路，整体即失效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93208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5093208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221224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可证明性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093208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「隐私有效」不能靠宣称，需在明确威胁模型下以可复现的攻击实验来度量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让大模型看不见敏感数据，却依然能干活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脱敏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真实数据 → 加密占位符</a:t>
            </a:r>
          </a:p>
        </p:txBody>
      </p:sp>
      <p:sp>
        <p:nvSpPr>
          <p:cNvPr id="8" name="Chevron 7"/>
          <p:cNvSpPr/>
          <p:nvPr/>
        </p:nvSpPr>
        <p:spPr>
          <a:xfrm>
            <a:off x="4079138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9178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9178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模型只见占位符干活</a:t>
            </a:r>
          </a:p>
        </p:txBody>
      </p:sp>
      <p:sp>
        <p:nvSpPr>
          <p:cNvPr id="12" name="Chevron 11"/>
          <p:cNvSpPr/>
          <p:nvPr/>
        </p:nvSpPr>
        <p:spPr>
          <a:xfrm>
            <a:off x="7838236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8276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8276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结果呈现时还原明文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三条防线贯穿全链路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输入侧 · 隐私脱敏网关：数据进模型前，内存中完成实体识别与占位符化，映射表 Fernet 加密不出本地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执行侧 · 沙箱 + 权限 + 白名单 + 熔断审批：物理副作用关进笼子，高危操作强制人工二次确认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留痕侧 · HMAC 哈希链审计：全程可追溯、不可篡改，且审计自身只存脱敏预览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三层解耦 · 安全内核独立可测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54480"/>
            <a:ext cx="7985455" cy="43013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_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1682495"/>
            <a:ext cx="7729423" cy="391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910692"/>
            <a:ext cx="7985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1  隐盾核心数据流与安全防线：脱敏网关位于输入/输出两侧，安全内核覆盖执行与审计全程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内存级隐私脱敏网关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20+ 类敏感实体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身份证 / 银行卡 / 私钥 / JWT / API密钥 / 口令 / 病历 / 金额 / 人名 / 地址 / IP / MAC …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三级数据分级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参照 GB/T 35273：绝密 / 机密 / 内部，并量化风险评分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正则粗筛 + 算法精验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手机号 11 位精验、银行卡 Luhn、身份证校验位，降误伤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随机 nonce 防劫持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占位符 [PHONE_0_a3f9]，杜绝文档内植入字面量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 + DPAPI 双层密钥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映射表加密存储，主密钥按 Windows 用户账户包裹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00200"/>
            <a:ext cx="5394960" cy="4023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真实输入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甲方联系人刘建国，电话13912345678，
身份证号110101198803075612，月费28,500元，密钥 sk-proj-9xK2…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发给大模型（脱敏后）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8AB8F5"/>
                </a:solidFill>
                <a:latin typeface="微软雅黑"/>
                <a:ea typeface="微软雅黑"/>
                <a:cs typeface="微软雅黑"/>
              </a:rPr>
              <a:t>甲方联系人[NAME_0]，电话[PHONE_0]，
身份证号[IDCARD_0]，月费[MONEY_0]，密钥[APIKEY_0]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呈现给用户（还原后）</a:t>
            </a:r>
          </a:p>
          <a:p>
            <a:pPr algn="l"/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→ 模型全程只接触占位符，真实值零出网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806440"/>
            <a:ext cx="10911535" cy="658368"/>
          </a:xfrm>
          <a:prstGeom prst="roundRect">
            <a:avLst>
              <a:gd name="adj" fmla="val 10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103628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形式化：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A(x) ↦ (x̂, M)，M = {占位符 ↦ Enc</a:t>
            </a:r>
            <a:r>
              <a:rPr sz="9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k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(真实值)}；保证 机密性(x̂无明文) · 可逆性(持钥还原=x) · 还原不可伪造(nonce) · 持久化机密(无钥不可解)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形式化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隐私算法的形式化定义与四条保证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76809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14173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脱敏映射</a:t>
            </a:r>
          </a:p>
        </p:txBody>
      </p:sp>
      <p:pic>
        <p:nvPicPr>
          <p:cNvPr id="7" name="Picture 6" descr="eq_an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084" y="1709928"/>
            <a:ext cx="8170606" cy="457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2395728"/>
            <a:ext cx="10911535" cy="96926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141732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还原算子</a:t>
            </a:r>
          </a:p>
        </p:txBody>
      </p:sp>
      <p:pic>
        <p:nvPicPr>
          <p:cNvPr id="10" name="Picture 9" descr="eq_re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905" y="2551176"/>
            <a:ext cx="4530963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401568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在既定威胁模型下主张四条安全性质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  机密性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任意敏感值不出现在送入模型的文本中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5395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9987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  可逆性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987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持密钥还原，结果与原文完全一致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0711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303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还原不可伪造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303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占位符含随机 nonce，无法被植入劫持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027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0619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4  持久化机密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619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无密钥时磁盘产物不可恢复明文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394960"/>
            <a:ext cx="10911535" cy="67665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394960"/>
            <a:ext cx="1417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量化</a:t>
            </a:r>
          </a:p>
        </p:txBody>
      </p:sp>
      <p:pic>
        <p:nvPicPr>
          <p:cNvPr id="26" name="Picture 25" descr="eq_pro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7545" y="5550408"/>
            <a:ext cx="5919684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威胁模型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威胁模型：四类攻击者与攻击博弈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45920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仅观察出网文本与模型输出（被攻破的模型方、链路窃听）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45920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机密性：无明文可泄露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05456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05456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黑盒·主动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39" y="2505456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可向文档植入伪造占位符 / 注入越权指令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05456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还原不可伪造（nonce）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64992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4992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白盒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39" y="3364992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读本地磁盘持久化文件，但不在活动用户会话内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364992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持久化机密：密文存储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24528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24528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白盒·持钥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4224528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劫持当前 Windows 会话、可调用 DPAPI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224528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既定边界：等价用户本人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911535" cy="69494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120640"/>
            <a:ext cx="14173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攻击博弈</a:t>
            </a:r>
          </a:p>
        </p:txBody>
      </p:sp>
      <p:pic>
        <p:nvPicPr>
          <p:cNvPr id="23" name="Picture 22" descr="eq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242" y="5276088"/>
            <a:ext cx="5390290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587044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机密性 ⇔ 出网泄露博弈中对手胜率为 0；还原不可伪造 ⇔ 劫持博弈成功率受 nonce 空间界定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一段真实合同，实测脱敏效果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类实体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一次命中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403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9403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9403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明文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出网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A5C3B"/>
                </a:solidFill>
                <a:latin typeface="微软雅黑"/>
                <a:ea typeface="微软雅黑"/>
                <a:cs typeface="微软雅黑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风险评分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(加权)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051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051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051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映射表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加密存储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实体分级分布（实测计数）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17720"/>
            <a:ext cx="1947339" cy="50292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198391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绝密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23995" y="4617720"/>
            <a:ext cx="4923212" cy="50292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3995" y="4617720"/>
            <a:ext cx="49597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784" y="4617720"/>
            <a:ext cx="3931254" cy="502920"/>
          </a:xfrm>
          <a:prstGeom prst="rect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3784" y="4617720"/>
            <a:ext cx="396783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身份证 · 银行卡 · 手机号 · 邮箱 · 地址 · 金额 · API密钥 · 口令 · 病历号 · 医保卡号 · 人名  ——  全部替换为加密占位符，向量库与审计零明文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效果验证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隐私防护有效性：攻击实验与结果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评测协议：开发集（13 篇，仅作回归基线）与留出集（60 篇 · 280 个注入值）分离，注入值零重合、规则冻结后一次性运行</a:t>
            </a:r>
          </a:p>
          <a:p>
            <a:pPr algn="l">
              <a:lnSpc>
                <a:spcPct val="110000"/>
              </a:lnSpc>
            </a:pPr>
            <a:r>
              <a:rPr sz="12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两条性质分开陈述：架构保证不依赖识别覆盖率 —— 认出来的绝不出网，认不出来的逐项公开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12848"/>
          <a:ext cx="1091153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669280"/>
                <a:gridCol w="2773375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性质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出网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已识别实体的出网明文实例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还原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往返逐字一致 / 劫持成功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60/60 · 0（500 轮）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持久化与审计产物明文命中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留出集完整脱敏（全量口径）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222/280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其中：系统声明支持的写法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222/230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误伤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业务数字被误脱敏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0/80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边界公开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已声明未覆盖的形态清单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 例（报告 5.4）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2578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关键结论：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认出来的实体绝不出网——模型在信息论上无法泄露它从未接触的数据；认不出来的形态我们不隐藏、逐项公开并说明原因。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nonce ⇒ 还原环节不可被植入劫持（碰撞率≈5.9×10⁻⁷）；Fernet+DPAPI ⇒ 拿走磁盘文件、无密钥也恢复不出明文；全部读数可一键复现。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物理副作用的四层纵深防御</a:t>
            </a:r>
          </a:p>
        </p:txBody>
      </p:sp>
      <p:sp>
        <p:nvSpPr>
          <p:cNvPr id="5" name="Oval 4"/>
          <p:cNvSpPr/>
          <p:nvPr/>
        </p:nvSpPr>
        <p:spPr>
          <a:xfrm>
            <a:off x="1610829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0829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路径沙箱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realpath+commonpath 越界校验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文件名 basename 化，杜绝 ../ 穿越</a:t>
            </a:r>
          </a:p>
        </p:txBody>
      </p:sp>
      <p:sp>
        <p:nvSpPr>
          <p:cNvPr id="10" name="Chevron 9"/>
          <p:cNvSpPr/>
          <p:nvPr/>
        </p:nvSpPr>
        <p:spPr>
          <a:xfrm>
            <a:off x="3111931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0153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0153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9403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权限分级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完全控制 / 安全只读 / 彻底审计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只读与审计模式断开写盘</a:t>
            </a:r>
          </a:p>
        </p:txBody>
      </p:sp>
      <p:sp>
        <p:nvSpPr>
          <p:cNvPr id="16" name="Chevron 15"/>
          <p:cNvSpPr/>
          <p:nvPr/>
        </p:nvSpPr>
        <p:spPr>
          <a:xfrm>
            <a:off x="5931255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49477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9477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 python/pip/git/echo；Job Object 进程容器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子命令级校验 + 严格模式可禁用解释器</a:t>
            </a:r>
          </a:p>
        </p:txBody>
      </p:sp>
      <p:sp>
        <p:nvSpPr>
          <p:cNvPr id="22" name="Chevron 21"/>
          <p:cNvSpPr/>
          <p:nvPr/>
        </p:nvSpPr>
        <p:spPr>
          <a:xfrm>
            <a:off x="8750579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68801" y="1691640"/>
            <a:ext cx="512064" cy="512064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68801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051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0931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熔断审批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219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高危操作挂起后台线程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弹窗展示待执行内容与脚本预览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人工二次确认，超时自动驳回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20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实测拦截验证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tasklist 不在白名单 → 拒绝执行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python -c 内联代码 / pip install → 子命令级拒绝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echo 命令含 &gt; 重定向 / ../ 穿越 → 参数级拦截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读取/写入 C:\Windows → 越界判定拒绝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安全只读模式下任何写盘 → 权限拦截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高危操作：先判用途，再熔断挂起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用途红线先行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收集个人信息用于出售/牟利 → 模型与工具调用前直接拒绝；外发/公开 → 弹窗顶部红色警示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独立审批弹窗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检测到越界写盘 / 删除 / 命令执行时，后台写盘线程强行阻塞，等待人工决策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透明展示上下文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弹窗展示申请工具、目标路径与即将执行的命令/写入内容，杜绝“盲批”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授权 / 驳回双通道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驳回则工具不执行并如实反馈模型；授权才放行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超时安全兜底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5 分钟无响应自动按驳回处理，并关闭残留弹窗防误导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审批入审计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批准/驳回均记入哈希链，critical 级告警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828800"/>
            <a:ext cx="5074920" cy="300071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b_审批弹窗_含待审内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1956816"/>
            <a:ext cx="4818888" cy="26062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4884379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2  隐盾安全决策网关拦截弹窗（含待审命令/内容）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全链路审计黑匣子：可追溯 · 不可篡改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120640" cy="472430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审计面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864607" cy="424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33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3  审计面板：统计概览 / 哈希链状态 / 事件筛选 / 一键导出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HMAC-SHA256 哈希链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每条日志哈希覆盖自身+前一条，篡改即校验失败并告警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全事件覆盖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LLM 输入输出 / 工具调用 / 脱敏还原 / 审批决策，逐条留痕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审计自身不泄露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落盘前统一掩码，只存脱敏预览与长度，杜绝二次泄露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密钥与数据分离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审计 HMAC 密钥存用户目录，与被保护日志不同盘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报告导出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JSON / HTML 一键导出，含哈希链可视化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RAG：机密文档本地检索，向量库零明文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机密文档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PDF/Word/Excel/TXT</a:t>
            </a:r>
          </a:p>
        </p:txBody>
      </p:sp>
      <p:sp>
        <p:nvSpPr>
          <p:cNvPr id="8" name="Chevron 7"/>
          <p:cNvSpPr/>
          <p:nvPr/>
        </p:nvSpPr>
        <p:spPr>
          <a:xfrm>
            <a:off x="2548067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5539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97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逐块脱敏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69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入库前实体占位符化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3526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0998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向量化入库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只存占位符文本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8985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609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KB_ 前缀隔离</a:t>
            </a:r>
          </a:p>
        </p:txBody>
      </p:sp>
      <p:sp>
        <p:nvSpPr>
          <p:cNvPr id="20" name="Chevron 19"/>
          <p:cNvSpPr/>
          <p:nvPr/>
        </p:nvSpPr>
        <p:spPr>
          <a:xfrm>
            <a:off x="9314444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61916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3356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5068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回答自动还原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11880"/>
            <a:ext cx="10911535" cy="2286000"/>
          </a:xfrm>
          <a:prstGeom prst="roundRect">
            <a:avLst>
              <a:gd name="adj" fmla="val 5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40480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为什么安全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文档在向量化前逐块过脱敏引擎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向量库中只存占位符，真实隐私永不落盘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即使接云端 API，检索片段也是脱敏态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检索结果全局重命名，避免占位符冲突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86200"/>
            <a:ext cx="484632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  <a:p>
            <a:pPr algn="ctr"/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向量库实测残留真实敏感数据 = 0</a:t>
            </a:r>
          </a:p>
          <a:p>
            <a:pPr algn="ct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（逐 chunk 扫描验证）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 知识库 · 实测闭环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6766560" cy="47488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_知识库入库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819656"/>
            <a:ext cx="6510528" cy="43227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95332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文档入库即逐块脱敏（实拍：5 篇文档 / 8 个片段，向量库零明文）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1153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① 入库即脱敏：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整篇先脱敏再切块，向量库只存占位符（长实体不被切碎成明文碎片）。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② 检索与还原：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命中片段以占位符形态送入模型（本地或外部算力，出网亦无明文），回答中的占位符由输出层在本机还原为真实值。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③ 验证口径：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 test_kb_pipeline + 本地 E2E（检索工具被真实调用）；外部模型自行改写占位符编号时该片段以占位符原样显示（已知边界）。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插件体系：内核不可插件化，其余皆可插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边界按「能力性质」划分，而不是按模块归属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54864" cy="1371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57400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安全内核（永不开放）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2316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脱敏网关 / 白名单 / 审批放行 / 审计链 / 沙箱 / 模型接入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630168"/>
            <a:ext cx="54864" cy="137160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630168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能力扩展（开放，只做加法）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995928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补充识别 · 扩展解析 · 工作流模板 · 导出格式 · 审批提示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57800"/>
            <a:ext cx="5394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为什么这么切：判定权一旦可插拔，等于把「安全」交给任意第三方代码；
而只增不减的能力（多识别一类实体、多解析一种格式）插件化，
既能保持内核精简，又让系统可以持续长大。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「只能做加法」落在代码里的五条约束</a:t>
            </a:r>
          </a:p>
        </p:txBody>
      </p:sp>
      <p:sp>
        <p:nvSpPr>
          <p:cNvPr id="14" name="Oval 13"/>
          <p:cNvSpPr/>
          <p:nvPr/>
        </p:nvSpPr>
        <p:spPr>
          <a:xfrm>
            <a:off x="6172200" y="2057400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057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039112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识别只增不减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386584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追加区间由内核复核（越界/超长/重叠丢弃），无「免于脱敏」入口</a:t>
            </a:r>
          </a:p>
        </p:txBody>
      </p:sp>
      <p:sp>
        <p:nvSpPr>
          <p:cNvPr id="18" name="Oval 17"/>
          <p:cNvSpPr/>
          <p:nvPr/>
        </p:nvSpPr>
        <p:spPr>
          <a:xfrm>
            <a:off x="6172200" y="2990088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29900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97180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模板不降审批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319272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高危步骤（写盘/删除/执行/导出）强制人工审批，声明 auto 也被纠正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3922776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3922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904488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内核兜底不可顶替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251960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导出格式名保留、附件解析内核原生格式优先</a:t>
            </a:r>
          </a:p>
        </p:txBody>
      </p:sp>
      <p:sp>
        <p:nvSpPr>
          <p:cNvPr id="26" name="Oval 25"/>
          <p:cNvSpPr/>
          <p:nvPr/>
        </p:nvSpPr>
        <p:spPr>
          <a:xfrm>
            <a:off x="6172200" y="4855464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48554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837176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能力跟着开关走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184648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停用即注销模板、摘除识别器，「关了还在跑」不允许</a:t>
            </a:r>
          </a:p>
        </p:txBody>
      </p:sp>
      <p:sp>
        <p:nvSpPr>
          <p:cNvPr id="30" name="Oval 29"/>
          <p:cNvSpPr/>
          <p:nvPr/>
        </p:nvSpPr>
        <p:spPr>
          <a:xfrm>
            <a:off x="6172200" y="5788152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578815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769864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不允许静默失效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6117336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钩子函数缺失记为错误 + 界面插件自检 + 读不到配置要告警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641908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内置 6 个插件（默认关闭，按需启用；启停与配置改动均写审计）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功能实测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全链路演示：脱敏 → 审批 → 写盘 → 还原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029200" cy="479912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隐私对话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773168" cy="4311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846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4  实测：模型调用工具、审批放行、文件创建、回复还原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91640"/>
            <a:ext cx="53949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演示指令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“把客户张伟的手机号/身份证/邮箱保存到 客户信息.txt”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用户输入含 4 类 PII，网关先脱敏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云端模型只收到占位符（零明文出网）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模型自主发起 create_local_file 工具调用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策略引擎熔断 → 弹出人工审批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5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安全员授权 → 沙箱内文件真实创建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6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回复中的占位符自动还原明文呈现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4406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磁盘文件逐字校验一致 · 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 → 修复 → 回归：自我攻击式质量闭环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2148840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673352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红队对抗测试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1226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两轮红队：动态攻击验证 + 通读 15 个核心模块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79192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36392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660904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分级问题清单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998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P0–P3 严重度分级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含可复现证据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4123944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648456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逐项修复加固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0873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20+ 项修复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含调用方一致性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54296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542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36008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回归测试固化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074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用例沉淀为测试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防复发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691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安全内核级问题（节选，均可 git 追溯）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126480" y="2084831"/>
          <a:ext cx="539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1417320"/>
              </a:tblGrid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核心问题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提交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命令执行 shell=True+黑名单可绕过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沙箱默认放行任意绝对路径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审批共用单 Event，点一个放行全部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e17fd83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工作流绕过隐私网关，原文直发云端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审计还原后落盘，泄露明文 PII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占位符可预测，被植入字面量劫持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映射表明文落盘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9150bf9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126480" y="544068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诚实披露：</a:t>
            </a:r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实测发现 7B 本地模型工具调用可靠性问题（幻觉谎称已保存），多层防御保证零实际写盘，已作为已知局限写入报告。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企业部署形态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控制面：把集中管理加上去，不减一条既有性质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91056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yindun/control/ · 零新增依赖（SQLite + 标准库）· core/ 仅新增一个审计事件类型 · 端点上报默认关闭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66543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5798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控制面拿不到明文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看到的内容＝端点本地审计落盘的内容；敏感路径已掩码为占位符，映射密钥由端点 DPAPI 托管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44368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3580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策略只能收紧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28415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敏感路径取并集 / 审批下限取更严 / 允许模型与插件取交集 / 严格模式取或；降级键整包拒绝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22191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13631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链头外部锚定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062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逐次留痕（条数·链头·legacy 前缀）：截断/改写/缺口/断链等六种删改手法可检出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700016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91455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默认关闭 · 本机留痕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8406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绝不静默上报；每次上报成功或失败都写本地审计（control_report），用户可查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1691640"/>
            <a:ext cx="4983480" cy="425196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965960"/>
            <a:ext cx="45262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 条放行通路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907792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控制面被攻破，也只能让端点管得更严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0" y="3456432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611880"/>
            <a:ext cx="4526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脱敏豁免 · 审批放行 · 白名单放行 · 审计开关：无任何下发通路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端点侧再做一次单调合并兜底，签名只解决来源与完整性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控制台五页：态势总览 / 事件台账 / 端点资产 / 策略下发 / 模型用量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不代理模型流量、不做整机监控；原型边界如实声明（无 TLS / 无 RBAC）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质量与交付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全量回归通过 · 免安装单文件 exe 就绪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22 个测试/评测套件 · 全部通过（含攻防评测 9 项实验 + 留出集评测 + 控制面七组）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隐私引擎 + 回归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03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27 类实体；泄露 0 / 误伤 0 / 落盘扫描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03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对抗集 + 真实文档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7889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 项格式变体；8 种真实格式全链路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889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747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4747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审计黑匣子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4747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哈希链 + 链锚点 19/19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4747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605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1605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1605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高危入口全拦截 + 进程容器 + 严格模式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1605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463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463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 + 记忆 + 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8463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宿主契约 / 能力端到端 / 执行与导出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48463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532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532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laya 插件 + 窗口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5532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模型与正则双后端；8 向拖拽锚定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5532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37960" y="173736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057400"/>
            <a:ext cx="4434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 个 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306324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免安装 · 双击即用 · 无需脚本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3611880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794760"/>
            <a:ext cx="4434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PySide6 + LangChain 全依赖自包含（PyInstaller onefile）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单文件双击即用，无需安装与脚本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配置/会话/审计/向量库写在 exe 同目录，删文件即卸载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随附《使用说明》：本地/云端算力两步接入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一套让大模型安全处理涉密办公数据的端到端方案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1.6万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行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539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539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类实体脱敏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0998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98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层纵深防御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457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457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项安全修复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1916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1916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套件回归通过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10911535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工具调用结果二次核验，杜绝幻觉式假成功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审计链头外部锚定，抵御整体重算哈希链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策略引擎规则可视化编辑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CI 接入 bandit/semgrep 静态安全扫描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8463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让本地 AI</a:t>
            </a:r>
          </a:p>
          <a:p>
            <a:pPr algn="r"/>
            <a:r>
              <a:rPr sz="24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更安全 · 更智能 · 更可控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E9C86"/>
                </a:solidFill>
                <a:latin typeface="微软雅黑"/>
                <a:ea typeface="微软雅黑"/>
                <a:cs typeface="微软雅黑"/>
              </a:rPr>
              <a:t>隐盾安全智能体 · Yindun Team · 2026    |    技术报告 · 仅供学习研究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