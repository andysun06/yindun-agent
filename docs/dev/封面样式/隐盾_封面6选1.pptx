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yindun_cover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yindun_cover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6953250" y="571500"/>
            <a:ext cx="5715000" cy="5715000"/>
          </a:xfrm>
          <a:prstGeom prst="ellipse">
            <a:avLst/>
          </a:prstGeom>
          <a:noFill/>
          <a:ln w="9525">
            <a:solidFill>
              <a:srgbClr val="7EE2A8">
                <a:alpha val="7000"/>
              </a:srgbClr>
            </a:solidFill>
          </a:ln>
        </p:spPr>
      </p:sp>
      <p:sp>
        <p:nvSpPr>
          <p:cNvPr id="3" name="Ellipse 3"/>
          <p:cNvSpPr/>
          <p:nvPr/>
        </p:nvSpPr>
        <p:spPr>
          <a:xfrm>
            <a:off x="7600950" y="1219200"/>
            <a:ext cx="4419600" cy="4419600"/>
          </a:xfrm>
          <a:prstGeom prst="ellipse">
            <a:avLst/>
          </a:prstGeom>
          <a:noFill/>
          <a:ln w="9525">
            <a:solidFill>
              <a:srgbClr val="7EE2A8">
                <a:alpha val="12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8210550" y="1828800"/>
            <a:ext cx="3200400" cy="3200400"/>
          </a:xfrm>
          <a:prstGeom prst="ellipse">
            <a:avLst/>
          </a:prstGeom>
          <a:noFill/>
          <a:ln w="11430">
            <a:solidFill>
              <a:srgbClr val="7EE2A8">
                <a:alpha val="18000"/>
              </a:srgbClr>
            </a:solidFill>
          </a:ln>
        </p:spPr>
      </p:sp>
      <p:sp>
        <p:nvSpPr>
          <p:cNvPr id="5" name="Freeform 5"/>
          <p:cNvSpPr/>
          <p:nvPr/>
        </p:nvSpPr>
        <p:spPr>
          <a:xfrm>
            <a:off x="8286750" y="1428750"/>
            <a:ext cx="3048000" cy="4324350"/>
          </a:xfrm>
          <a:custGeom>
            <a:avLst/>
            <a:gdLst/>
            <a:ahLst/>
            <a:cxnLst/>
            <a:rect l="l" t="t" r="r" b="b"/>
            <a:pathLst>
              <a:path w="3048000" h="4324350">
                <a:moveTo>
                  <a:pt x="1524000" y="0"/>
                </a:moveTo>
                <a:lnTo>
                  <a:pt x="3048000" y="571500"/>
                </a:lnTo>
                <a:lnTo>
                  <a:pt x="3048000" y="2190750"/>
                </a:lnTo>
                <a:cubicBezTo>
                  <a:pt x="3048000" y="3238500"/>
                  <a:pt x="2381250" y="3924300"/>
                  <a:pt x="1524000" y="4324350"/>
                </a:cubicBezTo>
                <a:cubicBezTo>
                  <a:pt x="666750" y="3924300"/>
                  <a:pt x="0" y="3238500"/>
                  <a:pt x="0" y="2190750"/>
                </a:cubicBezTo>
                <a:lnTo>
                  <a:pt x="0" y="571500"/>
                </a:lnTo>
                <a:close/>
              </a:path>
            </a:pathLst>
          </a:custGeom>
          <a:noFill/>
          <a:ln w="15240">
            <a:solidFill>
              <a:srgbClr val="7EE2A8">
                <a:alpha val="42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9763125" y="1819275"/>
            <a:ext cx="95250" cy="95250"/>
          </a:xfrm>
          <a:prstGeom prst="ellipse">
            <a:avLst/>
          </a:prstGeom>
          <a:solidFill>
            <a:srgbClr val="7EE2A8"/>
          </a:soli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7829550" y="133350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9525">
            <a:solidFill>
              <a:srgbClr val="16241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09447" y="952500"/>
            <a:ext cx="31532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7EE2A8"/>
                </a:solidFill>
                <a:latin typeface="+mn-lt"/>
                <a:ea typeface="+mn-ea"/>
                <a:cs typeface="+mn-cs"/>
              </a:rPr>
              <a:t>QINGYUAN CUP / SCHOOL + ENTERPRISE / 2026</a:t>
            </a:r>
          </a:p>
        </p:txBody>
      </p:sp>
      <p:sp>
        <p:nvSpPr>
          <p:cNvPr id="9" name="Line 9"/>
          <p:cNvSpPr/>
          <p:nvPr/>
        </p:nvSpPr>
        <p:spPr>
          <a:xfrm>
            <a:off x="914400" y="1257300"/>
            <a:ext cx="6210300" cy="9525"/>
          </a:xfrm>
          <a:custGeom>
            <a:avLst/>
            <a:gdLst/>
            <a:ahLst/>
            <a:cxnLst/>
            <a:rect l="l" t="t" r="r" b="b"/>
            <a:pathLst>
              <a:path w="6210300" h="9525">
                <a:moveTo>
                  <a:pt x="0" y="0"/>
                </a:moveTo>
                <a:lnTo>
                  <a:pt x="6210300" y="0"/>
                </a:lnTo>
              </a:path>
            </a:pathLst>
          </a:custGeom>
          <a:noFill/>
          <a:ln w="9525">
            <a:solidFill>
              <a:srgbClr val="18241D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876300" y="2006600"/>
            <a:ext cx="5974842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300" b="1" dirty="0">
                <a:solidFill>
                  <a:srgbClr val="F4F7F5"/>
                </a:solidFill>
                <a:latin typeface="+mj-lt"/>
                <a:ea typeface="+mj-ea"/>
                <a:cs typeface="+mj-cs"/>
              </a:rPr>
              <a:t>隐盾安全智能体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3544" y="3149600"/>
            <a:ext cx="579501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A7B8AE"/>
                </a:solidFill>
                <a:latin typeface="+mj-lt"/>
                <a:ea typeface="+mj-ea"/>
                <a:cs typeface="+mj-cs"/>
              </a:rPr>
              <a:t>让大模型「看不见」敏感数据，却依然能把活干完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14400" y="3771900"/>
            <a:ext cx="609600" cy="38100"/>
          </a:xfrm>
          <a:prstGeom prst="rect">
            <a:avLst/>
          </a:prstGeom>
          <a:solidFill>
            <a:srgbClr val="7EE2A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26592" y="414020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8E1"/>
                </a:solidFill>
                <a:latin typeface="+mj-lt"/>
                <a:ea typeface="+mj-ea"/>
                <a:cs typeface="+mj-cs"/>
              </a:rPr>
              <a:t>本地优先的隐私计算桌面智能体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638" y="6070600"/>
            <a:ext cx="1488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F8177"/>
                </a:solidFill>
                <a:latin typeface="+mn-lt"/>
                <a:ea typeface="+mn-ea"/>
                <a:cs typeface="+mn-cs"/>
              </a:rPr>
              <a:t>YINDUN SECURITY AGENT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38488" y="6070600"/>
            <a:ext cx="7840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F8177"/>
                </a:solidFill>
                <a:latin typeface="+mn-lt"/>
                <a:ea typeface="+mn-ea"/>
                <a:cs typeface="+mn-cs"/>
              </a:rPr>
              <a:t>LOCAL-FIRST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24388" y="6070600"/>
            <a:ext cx="1488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F8177"/>
                </a:solidFill>
                <a:latin typeface="+mn-lt"/>
                <a:ea typeface="+mn-ea"/>
                <a:cs typeface="+mn-cs"/>
              </a:rPr>
              <a:t>ZERO PLAINTEXT EGRESS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2738" y="6070600"/>
            <a:ext cx="5023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F8177"/>
                </a:solidFill>
                <a:latin typeface="+mn-lt"/>
                <a:ea typeface="+mn-ea"/>
                <a:cs typeface="+mn-cs"/>
              </a:rPr>
              <a:t>V3.6.17</a:t>
            </a:r>
          </a:p>
        </p:txBody>
      </p:sp>
      <p:sp>
        <p:nvSpPr>
          <p:cNvPr id="18" name="Line 18"/>
          <p:cNvSpPr/>
          <p:nvPr/>
        </p:nvSpPr>
        <p:spPr>
          <a:xfrm>
            <a:off x="914400" y="6362700"/>
            <a:ext cx="6210300" cy="9525"/>
          </a:xfrm>
          <a:custGeom>
            <a:avLst/>
            <a:gdLst/>
            <a:ahLst/>
            <a:cxnLst/>
            <a:rect l="l" t="t" r="r" b="b"/>
            <a:pathLst>
              <a:path w="6210300" h="9525">
                <a:moveTo>
                  <a:pt x="0" y="0"/>
                </a:moveTo>
                <a:lnTo>
                  <a:pt x="6210300" y="0"/>
                </a:lnTo>
              </a:path>
            </a:pathLst>
          </a:custGeom>
          <a:noFill/>
          <a:ln w="9525">
            <a:solidFill>
              <a:srgbClr val="18241D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9144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2294A"/>
            </a:solidFill>
          </a:ln>
        </p:spPr>
      </p:sp>
      <p:sp>
        <p:nvSpPr>
          <p:cNvPr id="3" name="Line 3"/>
          <p:cNvSpPr/>
          <p:nvPr/>
        </p:nvSpPr>
        <p:spPr>
          <a:xfrm>
            <a:off x="0" y="5753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12294A"/>
            </a:solidFill>
          </a:ln>
        </p:spPr>
      </p:sp>
      <p:sp>
        <p:nvSpPr>
          <p:cNvPr id="4" name="Line 4"/>
          <p:cNvSpPr/>
          <p:nvPr/>
        </p:nvSpPr>
        <p:spPr>
          <a:xfrm>
            <a:off x="6858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2294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7524750" y="1257300"/>
            <a:ext cx="3962400" cy="4076700"/>
            <a:chOff x="7524750" y="1257300"/>
            <a:chExt cx="3962400" cy="4076700"/>
          </a:xfrm>
        </p:grpSpPr>
        <p:sp>
          <p:nvSpPr>
            <p:cNvPr id="5" name="Line 5"/>
            <p:cNvSpPr/>
            <p:nvPr/>
          </p:nvSpPr>
          <p:spPr>
            <a:xfrm>
              <a:off x="7524750" y="1257300"/>
              <a:ext cx="1047750" cy="457200"/>
            </a:xfrm>
            <a:custGeom>
              <a:avLst/>
              <a:gdLst/>
              <a:ahLst/>
              <a:cxnLst/>
              <a:rect l="l" t="t" r="r" b="b"/>
              <a:pathLst>
                <a:path w="1047750" h="457200">
                  <a:moveTo>
                    <a:pt x="0" y="457200"/>
                  </a:moveTo>
                  <a:lnTo>
                    <a:pt x="104775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572500" y="1257300"/>
              <a:ext cx="1047750" cy="609600"/>
            </a:xfrm>
            <a:custGeom>
              <a:avLst/>
              <a:gdLst/>
              <a:ahLst/>
              <a:cxnLst/>
              <a:rect l="l" t="t" r="r" b="b"/>
              <a:pathLst>
                <a:path w="1047750" h="609600">
                  <a:moveTo>
                    <a:pt x="0" y="0"/>
                  </a:moveTo>
                  <a:lnTo>
                    <a:pt x="1047750" y="60960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1428750"/>
              <a:ext cx="1047750" cy="438150"/>
            </a:xfrm>
            <a:custGeom>
              <a:avLst/>
              <a:gdLst/>
              <a:ahLst/>
              <a:cxnLst/>
              <a:rect l="l" t="t" r="r" b="b"/>
              <a:pathLst>
                <a:path w="1047750" h="438150">
                  <a:moveTo>
                    <a:pt x="0" y="438150"/>
                  </a:moveTo>
                  <a:lnTo>
                    <a:pt x="104775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668000" y="1428750"/>
              <a:ext cx="819150" cy="819150"/>
            </a:xfrm>
            <a:custGeom>
              <a:avLst/>
              <a:gdLst/>
              <a:ahLst/>
              <a:cxnLst/>
              <a:rect l="l" t="t" r="r" b="b"/>
              <a:pathLst>
                <a:path w="819150" h="819150">
                  <a:moveTo>
                    <a:pt x="0" y="0"/>
                  </a:moveTo>
                  <a:lnTo>
                    <a:pt x="819150" y="81915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524750" y="1714500"/>
              <a:ext cx="685800" cy="1181100"/>
            </a:xfrm>
            <a:custGeom>
              <a:avLst/>
              <a:gdLst/>
              <a:ahLst/>
              <a:cxnLst/>
              <a:rect l="l" t="t" r="r" b="b"/>
              <a:pathLst>
                <a:path w="685800" h="1181100">
                  <a:moveTo>
                    <a:pt x="0" y="0"/>
                  </a:moveTo>
                  <a:lnTo>
                    <a:pt x="685800" y="118110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210550" y="1866900"/>
              <a:ext cx="1409700" cy="1028700"/>
            </a:xfrm>
            <a:custGeom>
              <a:avLst/>
              <a:gdLst/>
              <a:ahLst/>
              <a:cxnLst/>
              <a:rect l="l" t="t" r="r" b="b"/>
              <a:pathLst>
                <a:path w="1409700" h="1028700">
                  <a:moveTo>
                    <a:pt x="0" y="1028700"/>
                  </a:moveTo>
                  <a:lnTo>
                    <a:pt x="14097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210550" y="2895600"/>
              <a:ext cx="1047750" cy="457200"/>
            </a:xfrm>
            <a:custGeom>
              <a:avLst/>
              <a:gdLst/>
              <a:ahLst/>
              <a:cxnLst/>
              <a:rect l="l" t="t" r="r" b="b"/>
              <a:pathLst>
                <a:path w="1047750" h="457200">
                  <a:moveTo>
                    <a:pt x="0" y="0"/>
                  </a:moveTo>
                  <a:lnTo>
                    <a:pt x="1047750" y="45720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258300" y="1866900"/>
              <a:ext cx="361950" cy="1485900"/>
            </a:xfrm>
            <a:custGeom>
              <a:avLst/>
              <a:gdLst/>
              <a:ahLst/>
              <a:cxnLst/>
              <a:rect l="l" t="t" r="r" b="b"/>
              <a:pathLst>
                <a:path w="361950" h="1485900">
                  <a:moveTo>
                    <a:pt x="0" y="1485900"/>
                  </a:moveTo>
                  <a:lnTo>
                    <a:pt x="36195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258300" y="2857500"/>
              <a:ext cx="1409700" cy="495300"/>
            </a:xfrm>
            <a:custGeom>
              <a:avLst/>
              <a:gdLst/>
              <a:ahLst/>
              <a:cxnLst/>
              <a:rect l="l" t="t" r="r" b="b"/>
              <a:pathLst>
                <a:path w="1409700" h="495300">
                  <a:moveTo>
                    <a:pt x="0" y="495300"/>
                  </a:moveTo>
                  <a:lnTo>
                    <a:pt x="14097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0668000" y="2247900"/>
              <a:ext cx="819150" cy="609600"/>
            </a:xfrm>
            <a:custGeom>
              <a:avLst/>
              <a:gdLst/>
              <a:ahLst/>
              <a:cxnLst/>
              <a:rect l="l" t="t" r="r" b="b"/>
              <a:pathLst>
                <a:path w="819150" h="609600">
                  <a:moveTo>
                    <a:pt x="0" y="609600"/>
                  </a:moveTo>
                  <a:lnTo>
                    <a:pt x="81915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10500" y="2895600"/>
              <a:ext cx="400050" cy="1409700"/>
            </a:xfrm>
            <a:custGeom>
              <a:avLst/>
              <a:gdLst/>
              <a:ahLst/>
              <a:cxnLst/>
              <a:rect l="l" t="t" r="r" b="b"/>
              <a:pathLst>
                <a:path w="400050" h="1409700">
                  <a:moveTo>
                    <a:pt x="400050" y="0"/>
                  </a:moveTo>
                  <a:lnTo>
                    <a:pt x="0" y="140970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810500" y="3352800"/>
              <a:ext cx="1447800" cy="952500"/>
            </a:xfrm>
            <a:custGeom>
              <a:avLst/>
              <a:gdLst/>
              <a:ahLst/>
              <a:cxnLst/>
              <a:rect l="l" t="t" r="r" b="b"/>
              <a:pathLst>
                <a:path w="1447800" h="952500">
                  <a:moveTo>
                    <a:pt x="0" y="952500"/>
                  </a:moveTo>
                  <a:lnTo>
                    <a:pt x="14478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258300" y="3352800"/>
              <a:ext cx="838200" cy="1123950"/>
            </a:xfrm>
            <a:custGeom>
              <a:avLst/>
              <a:gdLst/>
              <a:ahLst/>
              <a:cxnLst/>
              <a:rect l="l" t="t" r="r" b="b"/>
              <a:pathLst>
                <a:path w="838200" h="1123950">
                  <a:moveTo>
                    <a:pt x="0" y="0"/>
                  </a:moveTo>
                  <a:lnTo>
                    <a:pt x="838200" y="112395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096500" y="2857500"/>
              <a:ext cx="571500" cy="1619250"/>
            </a:xfrm>
            <a:custGeom>
              <a:avLst/>
              <a:gdLst/>
              <a:ahLst/>
              <a:cxnLst/>
              <a:rect l="l" t="t" r="r" b="b"/>
              <a:pathLst>
                <a:path w="571500" h="1619250">
                  <a:moveTo>
                    <a:pt x="0" y="1619250"/>
                  </a:moveTo>
                  <a:lnTo>
                    <a:pt x="5715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0096500" y="4476750"/>
              <a:ext cx="1219200" cy="552450"/>
            </a:xfrm>
            <a:custGeom>
              <a:avLst/>
              <a:gdLst/>
              <a:ahLst/>
              <a:cxnLst/>
              <a:rect l="l" t="t" r="r" b="b"/>
              <a:pathLst>
                <a:path w="1219200" h="552450">
                  <a:moveTo>
                    <a:pt x="0" y="0"/>
                  </a:moveTo>
                  <a:lnTo>
                    <a:pt x="1219200" y="55245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810500" y="4305300"/>
              <a:ext cx="1219200" cy="1028700"/>
            </a:xfrm>
            <a:custGeom>
              <a:avLst/>
              <a:gdLst/>
              <a:ahLst/>
              <a:cxnLst/>
              <a:rect l="l" t="t" r="r" b="b"/>
              <a:pathLst>
                <a:path w="1219200" h="1028700">
                  <a:moveTo>
                    <a:pt x="0" y="0"/>
                  </a:moveTo>
                  <a:lnTo>
                    <a:pt x="1219200" y="102870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029700" y="4476750"/>
              <a:ext cx="1066800" cy="857250"/>
            </a:xfrm>
            <a:custGeom>
              <a:avLst/>
              <a:gdLst/>
              <a:ahLst/>
              <a:cxnLst/>
              <a:rect l="l" t="t" r="r" b="b"/>
              <a:pathLst>
                <a:path w="1066800" h="857250">
                  <a:moveTo>
                    <a:pt x="0" y="857250"/>
                  </a:moveTo>
                  <a:lnTo>
                    <a:pt x="10668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029700" y="5029200"/>
              <a:ext cx="2286000" cy="304800"/>
            </a:xfrm>
            <a:custGeom>
              <a:avLst/>
              <a:gdLst/>
              <a:ahLst/>
              <a:cxnLst/>
              <a:rect l="l" t="t" r="r" b="b"/>
              <a:pathLst>
                <a:path w="2286000" h="304800">
                  <a:moveTo>
                    <a:pt x="0" y="304800"/>
                  </a:moveTo>
                  <a:lnTo>
                    <a:pt x="2286000" y="0"/>
                  </a:lnTo>
                </a:path>
              </a:pathLst>
            </a:custGeom>
            <a:noFill/>
            <a:ln w="8572">
              <a:solidFill>
                <a:srgbClr val="2A6B8F">
                  <a:alpha val="55000"/>
                </a:srgbClr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7486650" y="1228725"/>
            <a:ext cx="4038600" cy="4143375"/>
            <a:chOff x="7486650" y="1228725"/>
            <a:chExt cx="4038600" cy="4143375"/>
          </a:xfrm>
        </p:grpSpPr>
        <p:sp>
          <p:nvSpPr>
            <p:cNvPr id="24" name="Ellipse 24"/>
            <p:cNvSpPr/>
            <p:nvPr/>
          </p:nvSpPr>
          <p:spPr>
            <a:xfrm>
              <a:off x="7486650" y="1676400"/>
              <a:ext cx="76200" cy="762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543925" y="1228725"/>
              <a:ext cx="57150" cy="571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9563100" y="1809750"/>
              <a:ext cx="114300" cy="1143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639425" y="1400175"/>
              <a:ext cx="57150" cy="571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449050" y="2209800"/>
              <a:ext cx="76200" cy="762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172450" y="2857500"/>
              <a:ext cx="76200" cy="762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9210675" y="3305175"/>
              <a:ext cx="95250" cy="952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639425" y="2828925"/>
              <a:ext cx="57150" cy="571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781925" y="4276725"/>
              <a:ext cx="57150" cy="571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058400" y="4438650"/>
              <a:ext cx="76200" cy="762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287125" y="5000625"/>
              <a:ext cx="57150" cy="5715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991600" y="5295900"/>
              <a:ext cx="76200" cy="76200"/>
            </a:xfrm>
            <a:prstGeom prst="ellipse">
              <a:avLst/>
            </a:prstGeom>
            <a:solidFill>
              <a:srgbClr val="35D0FF"/>
            </a:solidFill>
            <a:ln>
              <a:noFill/>
            </a:ln>
          </p:spPr>
        </p:sp>
      </p:grpSp>
      <p:sp>
        <p:nvSpPr>
          <p:cNvPr id="37" name="Ellipse 37"/>
          <p:cNvSpPr/>
          <p:nvPr/>
        </p:nvSpPr>
        <p:spPr>
          <a:xfrm>
            <a:off x="8705850" y="2438400"/>
            <a:ext cx="1828800" cy="1828800"/>
          </a:xfrm>
          <a:prstGeom prst="ellipse">
            <a:avLst/>
          </a:prstGeom>
          <a:noFill/>
          <a:ln w="9525">
            <a:solidFill>
              <a:srgbClr val="35D0FF">
                <a:alpha val="18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33247" y="952500"/>
            <a:ext cx="31532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35D0FF"/>
                </a:solidFill>
                <a:latin typeface="+mn-lt"/>
                <a:ea typeface="+mn-ea"/>
                <a:cs typeface="+mn-cs"/>
              </a:rPr>
              <a:t>QINGYUAN CUP / SCHOOL + ENTERPRISE / 2026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00100" y="2082800"/>
            <a:ext cx="5409438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F2F7FF"/>
                </a:solidFill>
                <a:latin typeface="+mj-lt"/>
                <a:ea typeface="+mj-ea"/>
                <a:cs typeface="+mj-cs"/>
              </a:rPr>
              <a:t>隐盾安全智能体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8106" y="313690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A9BBD8"/>
                </a:solidFill>
                <a:latin typeface="+mj-lt"/>
                <a:ea typeface="+mj-ea"/>
                <a:cs typeface="+mj-cs"/>
              </a:rPr>
              <a:t>让大模型「看不见」敏感数据，却依然能把活干完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38200" y="3733800"/>
            <a:ext cx="533400" cy="28575"/>
          </a:xfrm>
          <a:prstGeom prst="rect">
            <a:avLst/>
          </a:prstGeom>
          <a:solidFill>
            <a:srgbClr val="35D0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52297" y="4114800"/>
            <a:ext cx="361327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F86AD"/>
                </a:solidFill>
                <a:latin typeface="+mn-lt"/>
                <a:ea typeface="+mn-ea"/>
                <a:cs typeface="+mn-cs"/>
              </a:rPr>
              <a:t>PRIVACY GATEWAY · LOCAL INFERENCE · AUDIT CHAIN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2960" y="5727700"/>
            <a:ext cx="49693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7FF"/>
                </a:solidFill>
                <a:latin typeface="Bahnschrift"/>
                <a:ea typeface="Bahnschrift"/>
                <a:cs typeface="Bahnschrift"/>
              </a:rPr>
              <a:t>27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3247" y="6229350"/>
            <a:ext cx="66954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C8DB5"/>
                </a:solidFill>
                <a:latin typeface="+mj-lt"/>
                <a:ea typeface="+mj-ea"/>
                <a:cs typeface="+mj-cs"/>
              </a:rPr>
              <a:t>类敏感实体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537460" y="5727700"/>
            <a:ext cx="2637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7FF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547747" y="6229350"/>
            <a:ext cx="119725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C8DB5"/>
                </a:solidFill>
                <a:latin typeface="+mj-lt"/>
                <a:ea typeface="+mj-ea"/>
                <a:cs typeface="+mj-cs"/>
              </a:rPr>
              <a:t>已识别实体明文出网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47260" y="5727700"/>
            <a:ext cx="49693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7FF"/>
                </a:solidFill>
                <a:latin typeface="Bahnschrift"/>
                <a:ea typeface="Bahnschrift"/>
                <a:cs typeface="Bahnschrift"/>
              </a:rPr>
              <a:t>39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57547" y="6229350"/>
            <a:ext cx="95318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C8DB5"/>
                </a:solidFill>
                <a:latin typeface="+mj-lt"/>
                <a:ea typeface="+mj-ea"/>
                <a:cs typeface="+mj-cs"/>
              </a:rPr>
              <a:t>测试 / 评测套件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271260" y="5727700"/>
            <a:ext cx="16630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2F7FF"/>
                </a:solidFill>
                <a:latin typeface="Bahnschrift"/>
                <a:ea typeface="Bahnschrift"/>
                <a:cs typeface="Bahnschrift"/>
              </a:rPr>
              <a:t>264/264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81547" y="6229350"/>
            <a:ext cx="9333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C8DB5"/>
                </a:solidFill>
                <a:latin typeface="+mj-lt"/>
                <a:ea typeface="+mj-ea"/>
                <a:cs typeface="+mj-cs"/>
              </a:rPr>
              <a:t>留出集在册形态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3438" y="6489700"/>
            <a:ext cx="19981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3F5A80"/>
                </a:solidFill>
                <a:latin typeface="+mn-lt"/>
                <a:ea typeface="+mn-ea"/>
                <a:cs typeface="+mn-cs"/>
              </a:rPr>
              <a:t>YINDUN SECURITY AGENT / V3.6.17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12352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838200" y="1257300"/>
            <a:ext cx="6210300" cy="9525"/>
          </a:xfrm>
          <a:custGeom>
            <a:avLst/>
            <a:gdLst/>
            <a:ahLst/>
            <a:cxnLst/>
            <a:rect l="l" t="t" r="r" b="b"/>
            <a:pathLst>
              <a:path w="6210300" h="9525">
                <a:moveTo>
                  <a:pt x="0" y="0"/>
                </a:moveTo>
                <a:lnTo>
                  <a:pt x="6210300" y="0"/>
                </a:lnTo>
              </a:path>
            </a:pathLst>
          </a:custGeom>
          <a:noFill/>
          <a:ln w="9525">
            <a:solidFill>
              <a:srgbClr val="161616">
                <a:alpha val="25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33247" y="952500"/>
            <a:ext cx="31532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B33A2B"/>
                </a:solidFill>
                <a:latin typeface="+mn-lt"/>
                <a:ea typeface="+mn-ea"/>
                <a:cs typeface="+mn-cs"/>
              </a:rPr>
              <a:t>QINGYUAN CUP / SCHOOL + ENTERPRISE /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1050" y="1758950"/>
            <a:ext cx="2555748" cy="1704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850" b="1" dirty="0">
                <a:solidFill>
                  <a:srgbClr val="161616"/>
                </a:solidFill>
                <a:latin typeface="SimSun"/>
                <a:ea typeface="SimSun"/>
                <a:cs typeface="SimSun"/>
              </a:rPr>
              <a:t>隐盾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9912" y="3130550"/>
            <a:ext cx="259689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dirty="0">
                <a:solidFill>
                  <a:srgbClr val="161616"/>
                </a:solidFill>
                <a:latin typeface="SimSun"/>
                <a:ea typeface="SimSun"/>
                <a:cs typeface="SimSun"/>
              </a:rPr>
              <a:t>安全智能体</a:t>
            </a:r>
          </a:p>
        </p:txBody>
      </p:sp>
      <p:sp>
        <p:nvSpPr>
          <p:cNvPr id="7" name="Rectangle 7"/>
          <p:cNvSpPr/>
          <p:nvPr/>
        </p:nvSpPr>
        <p:spPr>
          <a:xfrm>
            <a:off x="838200" y="3905250"/>
            <a:ext cx="1143000" cy="19050"/>
          </a:xfrm>
          <a:prstGeom prst="rect">
            <a:avLst/>
          </a:prstGeom>
          <a:solidFill>
            <a:srgbClr val="B33A2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29818" y="4184650"/>
            <a:ext cx="33025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D3D3D"/>
                </a:solidFill>
                <a:latin typeface="SimSun"/>
                <a:ea typeface="SimSun"/>
                <a:cs typeface="SimSun"/>
              </a:rPr>
              <a:t>让大模型「看不见」敏感数据，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9818" y="4527550"/>
            <a:ext cx="21290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D3D3D"/>
                </a:solidFill>
                <a:latin typeface="SimSun"/>
                <a:ea typeface="SimSun"/>
                <a:cs typeface="SimSun"/>
              </a:rPr>
              <a:t>却依然能把活干完。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2866" y="5207000"/>
            <a:ext cx="297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655B"/>
                </a:solidFill>
                <a:latin typeface="+mj-lt"/>
                <a:ea typeface="+mj-ea"/>
                <a:cs typeface="+mj-cs"/>
              </a:rPr>
              <a:t>面向涉密办公场景的本地化隐私防护桌面智能体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3438" y="6146800"/>
            <a:ext cx="28962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7A7468"/>
                </a:solidFill>
                <a:latin typeface="+mn-lt"/>
                <a:ea typeface="+mn-ea"/>
                <a:cs typeface="+mn-cs"/>
              </a:rPr>
              <a:t>YINDUN SECURITY AGENT / V3.6.17 / 2026.10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48638" y="812800"/>
            <a:ext cx="19809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9D8CF"/>
                </a:solidFill>
                <a:latin typeface="+mn-lt"/>
                <a:ea typeface="+mn-ea"/>
                <a:cs typeface="+mn-cs"/>
              </a:rPr>
              <a:t>PRIVACY IS A SYSTEM PROPERTY</a:t>
            </a:r>
          </a:p>
        </p:txBody>
      </p:sp>
      <p:sp>
        <p:nvSpPr>
          <p:cNvPr id="13" name="Line 13"/>
          <p:cNvSpPr/>
          <p:nvPr/>
        </p:nvSpPr>
        <p:spPr>
          <a:xfrm>
            <a:off x="8153400" y="11239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2C5545"/>
            </a:solidFill>
          </a:ln>
        </p:spPr>
      </p:sp>
      <p:sp>
        <p:nvSpPr>
          <p:cNvPr id="14" name="Ellipse 14"/>
          <p:cNvSpPr/>
          <p:nvPr/>
        </p:nvSpPr>
        <p:spPr>
          <a:xfrm>
            <a:off x="8839200" y="2305050"/>
            <a:ext cx="2247900" cy="2247900"/>
          </a:xfrm>
          <a:prstGeom prst="ellipse">
            <a:avLst/>
          </a:prstGeom>
          <a:noFill/>
          <a:ln w="13335">
            <a:solidFill>
              <a:srgbClr val="D8B36A">
                <a:alpha val="55000"/>
              </a:srgbClr>
            </a:solidFill>
          </a:ln>
        </p:spPr>
      </p:sp>
      <p:sp>
        <p:nvSpPr>
          <p:cNvPr id="15" name="Ellipse 15"/>
          <p:cNvSpPr/>
          <p:nvPr/>
        </p:nvSpPr>
        <p:spPr>
          <a:xfrm>
            <a:off x="9086850" y="2552700"/>
            <a:ext cx="1752600" cy="1752600"/>
          </a:xfrm>
          <a:prstGeom prst="ellipse">
            <a:avLst/>
          </a:prstGeom>
          <a:noFill/>
          <a:ln w="9525">
            <a:solidFill>
              <a:srgbClr val="D8B36A">
                <a:alpha val="28000"/>
              </a:srgbClr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9144000" y="2305050"/>
            <a:ext cx="1638300" cy="2343150"/>
          </a:xfrm>
          <a:custGeom>
            <a:avLst/>
            <a:gdLst/>
            <a:ahLst/>
            <a:cxnLst/>
            <a:rect l="l" t="t" r="r" b="b"/>
            <a:pathLst>
              <a:path w="1638300" h="2343150">
                <a:moveTo>
                  <a:pt x="819150" y="0"/>
                </a:moveTo>
                <a:lnTo>
                  <a:pt x="1638300" y="323850"/>
                </a:lnTo>
                <a:lnTo>
                  <a:pt x="1638300" y="1123950"/>
                </a:lnTo>
                <a:cubicBezTo>
                  <a:pt x="1638300" y="1733550"/>
                  <a:pt x="1276350" y="2114550"/>
                  <a:pt x="819150" y="2343150"/>
                </a:cubicBezTo>
                <a:cubicBezTo>
                  <a:pt x="361950" y="2114550"/>
                  <a:pt x="0" y="1733550"/>
                  <a:pt x="0" y="1123950"/>
                </a:cubicBezTo>
                <a:lnTo>
                  <a:pt x="0" y="323850"/>
                </a:lnTo>
                <a:close/>
              </a:path>
            </a:pathLst>
          </a:custGeom>
          <a:noFill/>
          <a:ln w="11430">
            <a:solidFill>
              <a:srgbClr val="D8B36A">
                <a:alpha val="55000"/>
              </a:srgbClr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549384" y="3124200"/>
            <a:ext cx="827532" cy="1076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550" b="1" dirty="0">
                <a:solidFill>
                  <a:srgbClr val="D8B36A"/>
                </a:solidFill>
                <a:latin typeface="SimSun"/>
                <a:ea typeface="SimSun"/>
                <a:cs typeface="SimSun"/>
              </a:rPr>
              <a:t>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8447" y="5981700"/>
            <a:ext cx="734761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8FA89D"/>
                </a:solidFill>
                <a:latin typeface="+mj-lt"/>
                <a:ea typeface="+mj-ea"/>
                <a:cs typeface="+mj-cs"/>
              </a:rPr>
              <a:t>01 / COVER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75276" y="5994400"/>
            <a:ext cx="50238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8FA89D"/>
                </a:solidFill>
                <a:latin typeface="+mn-lt"/>
                <a:ea typeface="+mn-ea"/>
                <a:cs typeface="+mn-cs"/>
              </a:rPr>
              <a:t>V3.6.17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0B0B0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1144250" y="0"/>
            <a:ext cx="1047750" cy="6858000"/>
          </a:xfrm>
          <a:prstGeom prst="rect">
            <a:avLst/>
          </a:prstGeom>
          <a:solidFill>
            <a:srgbClr val="FF4D2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5666" y="215900"/>
            <a:ext cx="33785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QINGYUAN CUP — SCHOOL + ENTERPRISE —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8150" y="1492250"/>
            <a:ext cx="3430524" cy="2419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600" b="1" dirty="0">
                <a:solidFill>
                  <a:srgbClr val="0B0B0B"/>
                </a:solidFill>
                <a:latin typeface="Bahnschrift"/>
                <a:ea typeface="Microsoft YaHei"/>
                <a:cs typeface="Bahnschrift"/>
              </a:rPr>
              <a:t>隐盾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5300" y="3314700"/>
            <a:ext cx="276415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0B0B0B"/>
                </a:solidFill>
                <a:latin typeface="+mj-lt"/>
                <a:ea typeface="+mj-ea"/>
                <a:cs typeface="+mj-cs"/>
              </a:rPr>
              <a:t>安全智能体</a:t>
            </a:r>
          </a:p>
        </p:txBody>
      </p:sp>
      <p:sp>
        <p:nvSpPr>
          <p:cNvPr id="7" name="Line 7"/>
          <p:cNvSpPr/>
          <p:nvPr/>
        </p:nvSpPr>
        <p:spPr>
          <a:xfrm>
            <a:off x="514350" y="40957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28575">
            <a:solidFill>
              <a:srgbClr val="0B0B0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05968" y="4368800"/>
            <a:ext cx="49034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B0B0B"/>
                </a:solidFill>
                <a:latin typeface="+mj-lt"/>
                <a:ea typeface="+mj-ea"/>
                <a:cs typeface="+mj-cs"/>
              </a:rPr>
              <a:t>让大模型「看不见」敏感数据，却依然能把活干完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9397" y="5981700"/>
            <a:ext cx="29232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B0B0B"/>
                </a:solidFill>
                <a:latin typeface="+mn-lt"/>
                <a:ea typeface="+mn-ea"/>
                <a:cs typeface="+mn-cs"/>
              </a:rPr>
              <a:t>LOCAL-FIRST / ZERO PLAINTEXT / V3.6.17</a:t>
            </a:r>
          </a:p>
        </p:txBody>
      </p:sp>
      <p:sp>
        <p:nvSpPr>
          <p:cNvPr id="10" name="Ellipse 10"/>
          <p:cNvSpPr/>
          <p:nvPr/>
        </p:nvSpPr>
        <p:spPr>
          <a:xfrm>
            <a:off x="7829550" y="1828800"/>
            <a:ext cx="3581400" cy="3581400"/>
          </a:xfrm>
          <a:prstGeom prst="ellipse">
            <a:avLst/>
          </a:prstGeom>
          <a:solidFill>
            <a:srgbClr val="0B0B0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948158" y="2705100"/>
            <a:ext cx="1344183" cy="1619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E8FF4A"/>
                </a:solidFill>
                <a:latin typeface="Bahnschrift"/>
                <a:ea typeface="Bahnschrift"/>
                <a:cs typeface="Bahnschrift"/>
              </a:rPr>
              <a:t>27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59050" y="400685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E8FF4A"/>
                </a:solidFill>
                <a:latin typeface="+mj-lt"/>
                <a:ea typeface="+mj-ea"/>
                <a:cs typeface="+mj-cs"/>
              </a:rPr>
              <a:t>类敏感实体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11400" y="4584700"/>
            <a:ext cx="14177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9B9B6A"/>
                </a:solidFill>
                <a:latin typeface="+mn-lt"/>
                <a:ea typeface="+mn-ea"/>
                <a:cs typeface="+mn-cs"/>
              </a:rPr>
              <a:t>PRIVACY × AI × LOCAL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06851" y="2863850"/>
            <a:ext cx="72254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2026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1296650" y="3390900"/>
            <a:ext cx="742950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419713" y="369570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庆园杯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81626" y="400050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D9CF"/>
                </a:solidFill>
                <a:latin typeface="+mj-lt"/>
                <a:ea typeface="+mj-ea"/>
                <a:cs typeface="+mj-cs"/>
              </a:rPr>
              <a:t>预答辩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838200" y="781050"/>
            <a:ext cx="114300" cy="114300"/>
          </a:xfrm>
          <a:prstGeom prst="rect">
            <a:avLst/>
          </a:prstGeom>
          <a:solidFill>
            <a:srgbClr val="0E7A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081088" y="781050"/>
            <a:ext cx="16451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7A4F"/>
                </a:solidFill>
                <a:latin typeface="+mj-lt"/>
                <a:ea typeface="+mj-ea"/>
                <a:cs typeface="+mj-cs"/>
              </a:rPr>
              <a:t>庆园杯 · 校企合作赛道 /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0100" y="2057400"/>
            <a:ext cx="4137279" cy="847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0E2A20"/>
                </a:solidFill>
                <a:latin typeface="+mj-lt"/>
                <a:ea typeface="+mj-ea"/>
                <a:cs typeface="+mj-cs"/>
              </a:rPr>
              <a:t>隐盾安全智能体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9249" y="2971800"/>
            <a:ext cx="4695393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dirty="0">
                <a:solidFill>
                  <a:srgbClr val="5A6B64"/>
                </a:solidFill>
                <a:latin typeface="+mj-lt"/>
                <a:ea typeface="+mj-ea"/>
                <a:cs typeface="+mj-cs"/>
              </a:rPr>
              <a:t>让大模型「看不见」敏感数据，却依然能把活干完</a:t>
            </a:r>
          </a:p>
        </p:txBody>
      </p:sp>
      <p:sp>
        <p:nvSpPr>
          <p:cNvPr id="6" name="Line 6"/>
          <p:cNvSpPr/>
          <p:nvPr/>
        </p:nvSpPr>
        <p:spPr>
          <a:xfrm>
            <a:off x="838200" y="356235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DDE4E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31723" y="4019550"/>
            <a:ext cx="95550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A20"/>
                </a:solidFill>
                <a:latin typeface="+mj-lt"/>
                <a:ea typeface="+mj-ea"/>
                <a:cs typeface="+mj-cs"/>
              </a:rPr>
              <a:t>01 本地优先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3247" y="4324350"/>
            <a:ext cx="119725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8A84"/>
                </a:solidFill>
                <a:latin typeface="+mj-lt"/>
                <a:ea typeface="+mj-ea"/>
                <a:cs typeface="+mj-cs"/>
              </a:rPr>
              <a:t>数据与推理不出本机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08223" y="4019550"/>
            <a:ext cx="95550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A20"/>
                </a:solidFill>
                <a:latin typeface="+mj-lt"/>
                <a:ea typeface="+mj-ea"/>
                <a:cs typeface="+mj-cs"/>
              </a:rPr>
              <a:t>02 脱敏网关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09747" y="4324350"/>
            <a:ext cx="119725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8A84"/>
                </a:solidFill>
                <a:latin typeface="+mj-lt"/>
                <a:ea typeface="+mj-ea"/>
                <a:cs typeface="+mj-cs"/>
              </a:rPr>
              <a:t>模型全程只见占位符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84723" y="4019550"/>
            <a:ext cx="78319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0E2A20"/>
                </a:solidFill>
                <a:latin typeface="+mj-lt"/>
                <a:ea typeface="+mj-ea"/>
                <a:cs typeface="+mj-cs"/>
              </a:rPr>
              <a:t>03 可审计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86247" y="4324350"/>
            <a:ext cx="146148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7A8A84"/>
                </a:solidFill>
                <a:latin typeface="+mj-lt"/>
                <a:ea typeface="+mj-ea"/>
                <a:cs typeface="+mj-cs"/>
              </a:rPr>
              <a:t>HMAC 哈希链 + 外部锚定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3247" y="5791200"/>
            <a:ext cx="468661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0E7A4F"/>
                </a:solidFill>
                <a:latin typeface="+mn-lt"/>
                <a:ea typeface="+mn-ea"/>
                <a:cs typeface="+mn-cs"/>
              </a:rPr>
              <a:t>27 ENTITY TYPES / 264 OF 264 IN-REGISTER / 0 PLAINTEXT EGRESS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438" y="6356350"/>
            <a:ext cx="26396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9AA8A1"/>
                </a:solidFill>
                <a:latin typeface="+mn-lt"/>
                <a:ea typeface="+mn-ea"/>
                <a:cs typeface="+mn-cs"/>
              </a:rPr>
              <a:t>YINDUN SECURITY AGENT / V3.6.17 / 2026.10</a:t>
            </a:r>
          </a:p>
        </p:txBody>
      </p:sp>
      <p:sp>
        <p:nvSpPr>
          <p:cNvPr id="15" name="Ellipse 15"/>
          <p:cNvSpPr/>
          <p:nvPr/>
        </p:nvSpPr>
        <p:spPr>
          <a:xfrm>
            <a:off x="8629650" y="1181100"/>
            <a:ext cx="3352800" cy="3352800"/>
          </a:xfrm>
          <a:prstGeom prst="ellipse">
            <a:avLst/>
          </a:prstGeom>
          <a:noFill/>
          <a:ln w="11430">
            <a:solidFill>
              <a:srgbClr val="DDE4E0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9239250" y="1600200"/>
            <a:ext cx="2133600" cy="2647950"/>
          </a:xfrm>
          <a:custGeom>
            <a:avLst/>
            <a:gdLst/>
            <a:ahLst/>
            <a:cxnLst/>
            <a:rect l="l" t="t" r="r" b="b"/>
            <a:pathLst>
              <a:path w="2133600" h="2647950">
                <a:moveTo>
                  <a:pt x="1066800" y="0"/>
                </a:moveTo>
                <a:lnTo>
                  <a:pt x="2133600" y="419100"/>
                </a:lnTo>
                <a:lnTo>
                  <a:pt x="2133600" y="1257300"/>
                </a:lnTo>
                <a:cubicBezTo>
                  <a:pt x="2133600" y="1943100"/>
                  <a:pt x="1714500" y="2381250"/>
                  <a:pt x="1066800" y="2647950"/>
                </a:cubicBezTo>
                <a:cubicBezTo>
                  <a:pt x="419100" y="2381250"/>
                  <a:pt x="0" y="1943100"/>
                  <a:pt x="0" y="1257300"/>
                </a:cubicBezTo>
                <a:lnTo>
                  <a:pt x="0" y="419100"/>
                </a:lnTo>
                <a:close/>
              </a:path>
            </a:pathLst>
          </a:custGeom>
          <a:noFill/>
          <a:ln w="11430">
            <a:solidFill>
              <a:srgbClr val="E8EEE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668256" y="2247900"/>
            <a:ext cx="1275588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700" b="1" dirty="0">
                <a:solidFill>
                  <a:srgbClr val="F2F5F3"/>
                </a:solidFill>
                <a:latin typeface="SimSun"/>
                <a:ea typeface="SimSun"/>
                <a:cs typeface="SimSun"/>
              </a:rPr>
              <a:t>隐</a:t>
            </a:r>
          </a:p>
        </p:txBody>
      </p:sp>
      <p:sp>
        <p:nvSpPr>
          <p:cNvPr id="18" name="Line 18"/>
          <p:cNvSpPr/>
          <p:nvPr/>
        </p:nvSpPr>
        <p:spPr>
          <a:xfrm>
            <a:off x="838200" y="6229350"/>
            <a:ext cx="10534650" cy="9525"/>
          </a:xfrm>
          <a:custGeom>
            <a:avLst/>
            <a:gdLst/>
            <a:ahLst/>
            <a:cxnLst/>
            <a:rect l="l" t="t" r="r" b="b"/>
            <a:pathLst>
              <a:path w="10534650" h="9525">
                <a:moveTo>
                  <a:pt x="0" y="0"/>
                </a:moveTo>
                <a:lnTo>
                  <a:pt x="10534650" y="0"/>
                </a:lnTo>
              </a:path>
            </a:pathLst>
          </a:custGeom>
          <a:noFill/>
          <a:ln w="9525">
            <a:solidFill>
              <a:srgbClr val="EDF1EF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266700" y="266700"/>
            <a:ext cx="11658600" cy="6324600"/>
          </a:xfrm>
          <a:prstGeom prst="rect">
            <a:avLst/>
          </a:prstGeom>
          <a:noFill/>
          <a:ln w="13335">
            <a:solidFill>
              <a:srgbClr val="D8B36A">
                <a:alpha val="70000"/>
              </a:srgb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09447" y="952500"/>
            <a:ext cx="31532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D8B36A"/>
                </a:solidFill>
                <a:latin typeface="+mn-lt"/>
                <a:ea typeface="+mn-ea"/>
                <a:cs typeface="+mn-cs"/>
              </a:rPr>
              <a:t>QINGYUAN CUP / SCHOOL + ENTERPRISE / 2026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1257300"/>
            <a:ext cx="6134100" cy="9525"/>
          </a:xfrm>
          <a:custGeom>
            <a:avLst/>
            <a:gdLst/>
            <a:ahLst/>
            <a:cxnLst/>
            <a:rect l="l" t="t" r="r" b="b"/>
            <a:pathLst>
              <a:path w="6134100" h="9525">
                <a:moveTo>
                  <a:pt x="0" y="0"/>
                </a:moveTo>
                <a:lnTo>
                  <a:pt x="6134100" y="0"/>
                </a:lnTo>
              </a:path>
            </a:pathLst>
          </a:custGeom>
          <a:noFill/>
          <a:ln w="9525">
            <a:solidFill>
              <a:srgbClr val="D8B36A">
                <a:alpha val="35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857250" y="2152650"/>
            <a:ext cx="5862828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850" b="1" dirty="0">
                <a:solidFill>
                  <a:srgbClr val="F5E9D0"/>
                </a:solidFill>
                <a:latin typeface="SimSun"/>
                <a:ea typeface="SimSun"/>
                <a:cs typeface="SimSun"/>
              </a:rPr>
              <a:t>隐盾安全智能体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5256" y="3340100"/>
            <a:ext cx="56509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8C9A8"/>
                </a:solidFill>
                <a:latin typeface="SimSun"/>
                <a:ea typeface="SimSun"/>
                <a:cs typeface="SimSun"/>
              </a:rPr>
              <a:t>让大模型「看不见」敏感数据，却依然能把活干完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3962400"/>
            <a:ext cx="762000" cy="28575"/>
          </a:xfrm>
          <a:prstGeom prst="rect">
            <a:avLst/>
          </a:prstGeom>
          <a:solidFill>
            <a:srgbClr val="D8B36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08304" y="436245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9A67E"/>
                </a:solidFill>
                <a:latin typeface="+mj-lt"/>
                <a:ea typeface="+mj-ea"/>
                <a:cs typeface="+mj-cs"/>
              </a:rPr>
              <a:t>面向涉密办公场景的本地化隐私防护桌面智能体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9638" y="5861050"/>
            <a:ext cx="14881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D8B36A"/>
                </a:solidFill>
                <a:latin typeface="+mn-lt"/>
                <a:ea typeface="+mn-ea"/>
                <a:cs typeface="+mn-cs"/>
              </a:rPr>
              <a:t>YINDUN SECURITY AGENT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9638" y="6108700"/>
            <a:ext cx="12064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C9A67E"/>
                </a:solidFill>
                <a:latin typeface="+mn-lt"/>
                <a:ea typeface="+mn-ea"/>
                <a:cs typeface="+mn-cs"/>
              </a:rPr>
              <a:t>V3.6.17 / 2026.10</a:t>
            </a:r>
          </a:p>
        </p:txBody>
      </p:sp>
      <p:sp>
        <p:nvSpPr>
          <p:cNvPr id="11" name="Ellipse 11"/>
          <p:cNvSpPr/>
          <p:nvPr/>
        </p:nvSpPr>
        <p:spPr>
          <a:xfrm>
            <a:off x="8001000" y="1733550"/>
            <a:ext cx="3238500" cy="3238500"/>
          </a:xfrm>
          <a:prstGeom prst="ellipse">
            <a:avLst/>
          </a:prstGeom>
          <a:noFill/>
          <a:ln w="13335">
            <a:solidFill>
              <a:srgbClr val="D8B36A">
                <a:alpha val="60000"/>
              </a:srgbClr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286750" y="2019300"/>
            <a:ext cx="2667000" cy="2667000"/>
          </a:xfrm>
          <a:prstGeom prst="ellipse">
            <a:avLst/>
          </a:prstGeom>
          <a:noFill/>
          <a:ln w="9525">
            <a:solidFill>
              <a:srgbClr val="D8B36A">
                <a:alpha val="28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97112" y="2647950"/>
            <a:ext cx="1446276" cy="190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900" b="1" dirty="0">
                <a:solidFill>
                  <a:srgbClr val="D8B36A"/>
                </a:solidFill>
                <a:latin typeface="SimSun"/>
                <a:ea typeface="SimSun"/>
                <a:cs typeface="SimSun"/>
              </a:rPr>
              <a:t>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258300" y="5181600"/>
            <a:ext cx="723900" cy="723900"/>
          </a:xfrm>
          <a:prstGeom prst="rect">
            <a:avLst/>
          </a:prstGeom>
          <a:noFill/>
          <a:ln w="11430">
            <a:solidFill>
              <a:srgbClr val="D8B36A">
                <a:alpha val="70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414510" y="5359400"/>
            <a:ext cx="4114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D8B36A"/>
                </a:solidFill>
                <a:latin typeface="SimSun"/>
                <a:ea typeface="SimSun"/>
                <a:cs typeface="SimSun"/>
              </a:rPr>
              <a:t>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93235" y="6184900"/>
            <a:ext cx="6510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820" dirty="0">
                <a:solidFill>
                  <a:srgbClr val="C9A67E"/>
                </a:solidFill>
                <a:latin typeface="+mn-lt"/>
                <a:ea typeface="+mn-ea"/>
                <a:cs typeface="+mn-cs"/>
              </a:rPr>
              <a:t>01 / COVER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yindun_covers">
  <a:themeElements>
    <a:clrScheme name="yindun_cove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yindun_covers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olas"/>
        <a:ea typeface="Microsoft YaHei"/>
        <a:cs typeface="Consola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indun_cove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2026-10-21T10:46:44Z</dcterms:created>
  <dcterms:modified xsi:type="dcterms:W3CDTF">2026-10-21T10:46:44Z</dcterms:modified>
  <cp:category/>
  <cp:contentStatus/>
</cp:coreProperties>
</file>