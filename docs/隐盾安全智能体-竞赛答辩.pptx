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各位老师好，我们是星辰大海团队，今天汇报的项目是隐盾安全智能体——一个面向涉密办公场景的本地化隐私防护桌面智能体。指导老师王艳，队长余齐政，队员孙良硕、薛晓晴、陈俊豪、张晶。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汇报分五个部分：先讲立项依据和背景，再讲关键科学问题，然后介绍系统架构与核心技术，接着是实验验证结果，最后汇报研发历程和结论展望。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大模型办公面临一个根本矛盾：数据越敏感越需要AI能力，却越不能交出去。我们归纳出四类泄露面：出网面、落盘面、留痕面和执行面。核心思路是把隐私保护从使用约定变成架构约束。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我们归纳了四道核心挑战：可用性与不可见性的张力、识别召回与精确的矛盾、全链路防护要求、以及可证明性。这四点共同决定了项目必须是系统工程，而非单点补丁。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采用三层解耦：GUI层、推理引擎层、安全内核层。安全内核由隐私引擎、策略引擎、密钥管理、审计日志四个模块组成，可脱离GUI单独测试。数据在系统内的旅程是：输入先脱敏，模型只见占位符，输出再本机还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最核心的技术——内存级脱敏网关。它强制每一次LLM调用都经过脱敏、调用、还原三段管线。关键性质是：模型在物理上看不见真实敏感值，出网的只有占位符，映射表用Fernet加密存本地，还原在本机内存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除了脱敏网关，我们还部署了四道纵深防线：沙箱执行限制越界操作、能力白名单按风险分级、人工审批熔断高风险动作、哈希链审计留痕且只存脱敏预览。这是经典的纵深防御思想。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实验结果：出网明文0、还原劫持0、同轮往返一致60/60、在册识别222/230、39个测试套件全过。同时我们也公开边界：不承诺对新型隐私形态100%召回，不防御物理取证攻击。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研发分五个阶段：威胁建模、内核原型、红队攻防（关键阶段）、纵深防御闭环、企业控制面。我们的工程哲学是把每一次安全发现都转化为回归用例，而不是一次性补丁。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四点：隐私保护可下沉为架构约束、脱敏网关让模型看不见敏感值、纵深防御可被实验测量、安全不变量可被回归门禁守护。下一步扩展隐私词典、对接企业DLP、公开红队语料。感谢指导老师王艳和各位评委，敬请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04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42D5A">
                  <a:alpha val="100000"/>
                </a:srgbClr>
              </a:gs>
              <a:gs pos="100000">
                <a:srgbClr val="1E468C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66500" y="254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1016000" y="762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隐盾安全智能体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17780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面向涉密办公场景的本地化隐私防护桌面智能体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3495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YINDUN SECURITY AGENT · PRIVACY-GATEWAY DESKTOP AGENT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星辰大海 团队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7188" flipH="false" flipV="false">
            <a:off x="4826016" y="4375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4635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指导老师：王艳　　　队长：余齐政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08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队员：孙良硕　薛晓晴　陈俊豪　张晶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969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10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762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1270000" y="1460500"/>
            <a:ext cx="101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349500" y="14351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立项依据与研究背景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349500" y="18542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大模型办公的隐私矛盾与四类泄露面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523" flipH="false" flipV="false">
            <a:off x="1270004" y="2279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270000" y="2451100"/>
            <a:ext cx="101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349500" y="24257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关键科学问题与技术挑战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349500" y="28448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可用性与不可见性的张力、识别召回与精确、全链路防护、可证明性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523" flipH="false" flipV="false">
            <a:off x="1270004" y="32702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270000" y="3441700"/>
            <a:ext cx="101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349500" y="34163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系统架构与核心技术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349500" y="38354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三层解耦架构、内存级脱敏网关、纵深防御与哈希链审计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523" flipH="false" flipV="false">
            <a:off x="1270004" y="42608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1270000" y="4432300"/>
            <a:ext cx="101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349500" y="44069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实验验证与结果分析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2349500" y="48260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留出集评测、攻防实验、架构性质测量与边界公开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523" flipH="false" flipV="false">
            <a:off x="1270004" y="52514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1270000" y="5422900"/>
            <a:ext cx="101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2349500" y="53975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研发历程与结论展望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2349500" y="58166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红队-修复-回归工程闭环、企业控制面形态与下一步工作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889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　立项依据与研究背景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35000" y="1016000"/>
            <a:ext cx="10922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　　大模型办公助手快速普及，但企业在涉密文档（合同、薪酬、病历、客户资料）处理上面临一个</a:t>
            </a: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根本矛盾</a:t>
            </a:r>
            <a:r>
              <a:rPr lang="en-US" b="false" i="false" strike="noStrike" u="none" sz="15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：待处理数据越敏感，越需要模型的能力，却也越不能让其跨越本地边界。"提示用户不要粘贴敏感信息"依赖自觉不可靠；"整体关闭联网"则牺牲云端强模型能力。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1844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25500" y="23368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▎出网面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25500" y="27432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敏感明文随 prompt 发往云端，离开本地即失控。无论是调用云端 API，还是把对话写入本地日志、向量库与审计文件，每一个跨越本地边界的环节都可能成为泄露面。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86500" y="21844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477000" y="23368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▎落盘面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477000" y="27432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会话记录、向量库、摘要把真实隐私写进磁盘。即便数据不出网，落盘后的持久化文件仍可能被本地攻击者读取或随备份外带。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41275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25500" y="42799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▎留痕面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25500" y="46863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审计日志本为追溯，却可能反成二次泄露源。如果审计记录原始敏感内容，这份"安全证据"本身就是最危险的明文数据库。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41275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477000" y="42799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▎执行面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477000" y="46863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智能体具备写盘、删除、执行命令能力，被诱导即造成物理破坏。提示注入、恶意文档都可能让模型越权操作。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35000" y="6121400"/>
            <a:ext cx="1092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核心出发点：把隐私保护从"使用约定"下沉为"架构约束"——让模型物理上看不见敏感数据，却依然能把活干完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889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　关键科学问题与技术挑战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35000" y="10414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要把隐私保护做成架构约束，需跨越四道核心挑战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35000" y="15875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68400" y="1562100"/>
            <a:ext cx="6578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可用性与不可见性的张力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168400" y="1943100"/>
            <a:ext cx="657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　　简单删除敏感值会让上下文断裂、模型无法作答；必须在"抹去真实值"与"保留语义结构"之间取得平衡——这是采用</a:t>
            </a:r>
            <a:r>
              <a:rPr lang="en-US" b="true" i="false" strike="noStrike" u="none" sz="13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占位符化</a:t>
            </a: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而非删除的设计动机。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" y="26924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168400" y="2667000"/>
            <a:ext cx="6578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识别的召回与精确难以两全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68400" y="3048000"/>
            <a:ext cx="657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　　中文办公文本里手机号、身份证、银行卡形态多变，既要高召回不漏，又不能误伤订单号、版本号、日期等业务数字——采用</a:t>
            </a:r>
            <a:r>
              <a:rPr lang="en-US" b="true" i="false" strike="noStrike" u="none" sz="13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正则粗筛 + 程序化精验</a:t>
            </a: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两段式。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5000" y="37973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168400" y="3771900"/>
            <a:ext cx="6578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防护必须贯穿全链路，而非只在入口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68400" y="4152900"/>
            <a:ext cx="657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　　脱敏若只做在用户输入，落盘的会话、审计、向量库以及输出还原环节仍会泄露；任一环节旁路，整体即失效。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5000" y="49022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Q4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68400" y="4876800"/>
            <a:ext cx="6578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可证明性：安全不能靠宣称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168400" y="5257800"/>
            <a:ext cx="657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　　"隐私有效"需要在明确的威胁模型下、以</a:t>
            </a:r>
            <a:r>
              <a:rPr lang="en-US" b="true" i="false" strike="noStrike" u="none" sz="13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可复现的攻防实验</a:t>
            </a:r>
            <a:r>
              <a:rPr lang="en-US" b="false" i="false" strike="noStrike" u="none" sz="13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来度量。这驱动我们设计留出集评测与九项架构性质实验。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64500" y="1587500"/>
            <a:ext cx="3492500" cy="4191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318500" y="1841500"/>
            <a:ext cx="298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628" flipH="false" flipV="false">
            <a:off x="8318514" y="2279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8318500" y="2476500"/>
            <a:ext cx="29845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模型侧只见占位符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真实值仅以密文落盘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审计只存脱敏预览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执行副作用多层约束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所有性质可被实验证伪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35000" y="60960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19D78"/>
                </a:solidFill>
                <a:latin typeface="Noto Sans SC"/>
                <a:ea typeface="Noto Sans SC"/>
                <a:cs typeface="Noto Sans SC"/>
                <a:sym typeface="Noto Sans SC"/>
              </a:rPr>
              <a:t>四道挑战共同决定：这不是"加一个正则"能解决的问题，而是一个需要形式化定义、全链路强制、并可被攻防实验测量的系统工程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　系统架构：三层解耦，安全内核可独立测试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35000" y="1079500"/>
            <a:ext cx="1270000" cy="35560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35000" y="2476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1079500"/>
            <a:ext cx="9398000" cy="1079500"/>
          </a:xfrm>
          <a:prstGeom prst="roundRect">
            <a:avLst>
              <a:gd name="adj" fmla="val 0"/>
            </a:avLst>
          </a:prstGeom>
          <a:solidFill>
            <a:srgbClr val="E8F0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387600" y="12065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GUI 层（pywebview / WebView2）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387600" y="1600200"/>
            <a:ext cx="889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会话界面、审批弹窗、审计面板、设置页、插件管理；纯展示与交互，不持有任何安全判定逻辑。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2286000"/>
            <a:ext cx="9398000" cy="1079500"/>
          </a:xfrm>
          <a:prstGeom prst="roundRect">
            <a:avLst>
              <a:gd name="adj" fmla="val 0"/>
            </a:avLst>
          </a:prstGeom>
          <a:solidFill>
            <a:srgbClr val="DCE8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387600" y="24130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推理引擎层（ReAct · 工具调用 · 工作流）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387600" y="2806700"/>
            <a:ext cx="889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 编排，本地 Ollama 与 OpenAI 兼容云端双算力；所有 LLM 调用统一走 anonymize → invoke → deanonymize。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159000" y="3492500"/>
            <a:ext cx="9398000" cy="11430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387600" y="36195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安全内核层（永不开放，判定权不可外包）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387600" y="4013200"/>
            <a:ext cx="8890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隐私引擎（占位符化 + Fernet 加密映射） · 策略引擎（白名单 / 权限档 / 熔断审批）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密钥管理（DPAPI 包裹主密钥） · 哈希链审计（HMAC 锚点）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" y="5016500"/>
            <a:ext cx="7175500" cy="6985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62000" y="5143500"/>
            <a:ext cx="695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数据流：用户输入 x → 脱敏 x̂ → ReAct 推理 → 结果脱敏 → 本机还原 D(x̂) → 呈现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4953000"/>
            <a:ext cx="3556000" cy="1016000"/>
          </a:xfrm>
          <a:prstGeom prst="roundRect">
            <a:avLst>
              <a:gd name="adj" fmla="val 0"/>
            </a:avLst>
          </a:prstGeom>
          <a:solidFill>
            <a:srgbClr val="F0F5FC">
              <a:alpha val="50000"/>
            </a:srgbClr>
          </a:solidFill>
          <a:ln w="12700" cmpd="sng" cap="flat">
            <a:solidFill>
              <a:srgbClr val="B4C3D7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0" y="5143500"/>
            <a:ext cx="330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▶ 此处插入：主界面截图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展示三层架构在产品中的对应面板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08000" y="6350000"/>
            <a:ext cx="1117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星辰大海 · 隐盾安全智能体 · 2026.10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　核心技术：内存级脱敏网关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35000" y="990600"/>
            <a:ext cx="1092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对 LLM 的每一次调用在</a:t>
            </a: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进程内存中</a:t>
            </a:r>
            <a:r>
              <a:rPr lang="en-US" b="false" i="false" strike="noStrike" u="none" sz="15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强制经过 anonymize → invoke → deanonymize 三段式管线：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587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8F0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81000" y="1778000"/>
            <a:ext cx="1714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原始输入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x（含隐私）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349500" y="1587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8F0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349500" y="1778000"/>
            <a:ext cx="1714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隐私引擎扫描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正则粗筛+精验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587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318000" y="1752600"/>
            <a:ext cx="1714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占位符化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1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[PERSON_1]</a:t>
            </a:r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1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[PHONE_1]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86500" y="1587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8F0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286500" y="1778000"/>
            <a:ext cx="1714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映射表 Fernet 加密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仅本机落盘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587500"/>
            <a:ext cx="1714500" cy="952500"/>
          </a:xfrm>
          <a:prstGeom prst="roundRect">
            <a:avLst>
              <a:gd name="adj" fmla="val 0"/>
            </a:avLst>
          </a:prstGeom>
          <a:solidFill>
            <a:srgbClr val="E8F0FA">
              <a:alpha val="100000"/>
            </a:srgbClr>
          </a:solidFill>
          <a:ln w="12700" cmpd="sng" cap="flat">
            <a:solidFill>
              <a:srgbClr val="5385B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255000" y="1778000"/>
            <a:ext cx="1714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云端/本地 LLM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5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只见占位符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23500" y="1587500"/>
            <a:ext cx="1587500" cy="952500"/>
          </a:xfrm>
          <a:prstGeom prst="roundRect">
            <a:avLst>
              <a:gd name="adj" fmla="val 0"/>
            </a:avLst>
          </a:prstGeom>
          <a:solidFill>
            <a:srgbClr val="519D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223500" y="1778000"/>
            <a:ext cx="158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2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本机还原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2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D(x̂) → 用户</a:t>
            </a:r>
          </a:p>
        </p:txBody>
      </p:sp>
      <p:cxnSp>
        <p:nvCxnSpPr>
          <p:cNvPr name="Connector 18" id="18"/>
          <p:cNvCxnSpPr/>
          <p:nvPr/>
        </p:nvCxnSpPr>
        <p:spPr>
          <a:xfrm rot="-190789" flipH="false" flipV="false">
            <a:off x="2095676" y="2051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9" id="19"/>
          <p:cNvCxnSpPr/>
          <p:nvPr/>
        </p:nvCxnSpPr>
        <p:spPr>
          <a:xfrm rot="-190789" flipH="false" flipV="false">
            <a:off x="4064176" y="2051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0" id="20"/>
          <p:cNvCxnSpPr/>
          <p:nvPr/>
        </p:nvCxnSpPr>
        <p:spPr>
          <a:xfrm rot="-190789" flipH="false" flipV="false">
            <a:off x="6032676" y="2051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1" id="21"/>
          <p:cNvCxnSpPr/>
          <p:nvPr/>
        </p:nvCxnSpPr>
        <p:spPr>
          <a:xfrm rot="-190789" flipH="false" flipV="false">
            <a:off x="8001176" y="2051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2" id="22"/>
          <p:cNvCxnSpPr/>
          <p:nvPr/>
        </p:nvCxnSpPr>
        <p:spPr>
          <a:xfrm rot="-190789" flipH="false" flipV="false">
            <a:off x="9969676" y="20510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381000" y="2857500"/>
            <a:ext cx="5461000" cy="2413000"/>
          </a:xfrm>
          <a:prstGeom prst="roundRect">
            <a:avLst>
              <a:gd name="adj" fmla="val 0"/>
            </a:avLst>
          </a:prstGeom>
          <a:solidFill>
            <a:srgbClr val="F0F5FC">
              <a:alpha val="50000"/>
            </a:srgbClr>
          </a:solidFill>
          <a:ln w="12700" cmpd="sng" cap="flat">
            <a:solidFill>
              <a:srgbClr val="B4C3D7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71500" y="32385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▶ 此处插入：隐私对话演示截图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71500" y="3746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建议素材：用户输入含手机号/身份证的对话窗口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右栏显示云端日志中对应占位符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（详见《PPT素材补充说明.md》素材2）</a:t>
            </a:r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223000" y="2921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关键设计点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7994" flipH="false" flipV="false">
            <a:off x="6223007" y="3359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 txBox="true"/>
          <p:nvPr/>
        </p:nvSpPr>
        <p:spPr>
          <a:xfrm rot="0" flipH="false" flipV="false">
            <a:off x="6223000" y="3530600"/>
            <a:ext cx="558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b="tru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模型物理上看不见真实值</a:t>
            </a: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：出网的只有占位符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b="tru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映射表不依赖云端</a:t>
            </a: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：Fernet 加密 + DPAPI 包裹主密钥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b="tru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还原在本机内存完成</a:t>
            </a: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：真实值不经任何磁盘持久化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b="tru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同轮内占位符保持一致</a:t>
            </a: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：模型可正常引用同一名片</a:t>
            </a:r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381000" y="5588000"/>
            <a:ext cx="1143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实验基线：出网明文 0 / 还原劫持 0 / 同轮往返一致 60 / 60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　纵深防御：四道防线，任一点失效不致全线失守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1016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016000"/>
            <a:ext cx="76200" cy="23495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87400" y="1168400"/>
            <a:ext cx="501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防线一　沙箱执行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87400" y="1600200"/>
            <a:ext cx="5016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工具调用在受控子进程中执行：文件读写仅限默认可读写范围（程序目录 + 桌面/文档/下载），禁止越界写系统目录、批量改名覆盖、越权删库。越界操作一律拒绝并审计，不依赖模型自觉。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016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016000"/>
            <a:ext cx="76200" cy="2349500"/>
          </a:xfrm>
          <a:prstGeom prst="roundRect">
            <a:avLst>
              <a:gd name="adj" fmla="val 0"/>
            </a:avLst>
          </a:prstGeom>
          <a:solidFill>
            <a:srgbClr val="5385B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502400" y="1168400"/>
            <a:ext cx="501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防线二　能力白名单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502400" y="1600200"/>
            <a:ext cx="5016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工具按风险分级（读 / 写 / 执行），三档权限对应：低风险自动放行、中风险确认弹窗、高风险必须人工审批。插件只能做加法，不参与脱敏豁免、白名单、审批放行与审计写入。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3556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3556000"/>
            <a:ext cx="76200" cy="2349500"/>
          </a:xfrm>
          <a:prstGeom prst="roundRect">
            <a:avLst>
              <a:gd name="adj" fmla="val 0"/>
            </a:avLst>
          </a:prstGeom>
          <a:solidFill>
            <a:srgbClr val="519D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87400" y="3708400"/>
            <a:ext cx="501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防线三　人工审批熔断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87400" y="4140200"/>
            <a:ext cx="5016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高风险动作（删除、覆盖、批量改名、发网）触发弹窗，用户可逐条放行或拒绝；审批全程留痕，可事后复盘。模型不能绕过审批直接执行。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556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556000"/>
            <a:ext cx="76200" cy="23495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502400" y="3708400"/>
            <a:ext cx="501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防线四　哈希链审计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02400" y="4140200"/>
            <a:ext cx="5016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每一条审计记录含操作类型、时间戳、摘要，并以 HMAC 链接成哈希链；任何篡改都会破坏链路。审计只存</a:t>
            </a:r>
            <a:r>
              <a:rPr lang="en-US" b="true" i="false" strike="noStrike" u="none" sz="13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脱敏预览</a:t>
            </a:r>
            <a:r>
              <a:rPr lang="en-US" b="false" i="false" strike="noStrike" u="none" sz="13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，不留原始隐私。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08000" y="6159500"/>
            <a:ext cx="1117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设计哲学：纵深防御（Defense in Depth）——单一点被绕过不导致整体失守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　实验验证：安全性质可被测量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35000" y="990600"/>
            <a:ext cx="1092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我们把"隐私有效"落成九项可复现的架构性质实验，关键结果如下：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826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889000" y="16256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测量项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080000" y="1625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0" y="16256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含义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092" flipH="false" flipV="false">
            <a:off x="762004" y="2051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826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89000" y="21844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出网明文字段数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080000" y="21844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0" y="21844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云端抓包无真实隐私字段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89000" y="26416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还原劫持尝试次数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080000" y="2641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620000" y="26416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模型无法诱导本机还原越界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89000" y="30988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同轮往返一致性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080000" y="30988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60 / 60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620000" y="30988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占位符在多轮中不串号、不丢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89000" y="3556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在册隐私类型识别召回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080000" y="35560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222 / 230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620000" y="35560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留出集测试语料召回率 96.5%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89000" y="40132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自动化测试套件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080000" y="40132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19D78"/>
                </a:solidFill>
                <a:latin typeface="Noto Sans SC"/>
                <a:ea typeface="Noto Sans SC"/>
                <a:cs typeface="Noto Sans SC"/>
                <a:sym typeface="Noto Sans SC"/>
              </a:rPr>
              <a:t>39 / 39 全过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620000" y="40132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隐私/工具/审计/插件回归全量通过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092" flipH="false" flipV="false">
            <a:off x="762004" y="446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826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762000" y="47625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0F5FC">
              <a:alpha val="50000"/>
            </a:srgbClr>
          </a:solidFill>
          <a:ln w="12700" cmpd="sng" cap="flat">
            <a:solidFill>
              <a:srgbClr val="B4C3D7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52500" y="5080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▶ 此处插入：审计面板截图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展示哈希链日志与脱敏预览（素材5）</a:t>
            </a:r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6223000" y="48260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公开边界：我们不宣称的事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6223000" y="5232400"/>
            <a:ext cx="533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▸ 对未在册的新型隐私形态不做 100% 召回承诺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▸ 不防御物理取密钥、内存取证等已获本机权限攻击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▸ 能力边界以 threat model 文档为准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　研发历程：红队—修复—回归的工程闭环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5" id="5"/>
          <p:cNvCxnSpPr/>
          <p:nvPr/>
        </p:nvCxnSpPr>
        <p:spPr>
          <a:xfrm rot="-4297" flipH="false" flipV="false">
            <a:off x="1016004" y="2470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4C3D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524000" y="2349500"/>
            <a:ext cx="279400" cy="2794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25500" y="146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17526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威胁建模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与需求定义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98500" y="2768600"/>
            <a:ext cx="190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明确四类泄露面、威胁模型与安全不变量；圈定默认可读写范围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349500"/>
            <a:ext cx="279400" cy="2794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857500" y="146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794000" y="17526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安全内核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原型落地</a:t>
            </a:r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730500" y="2768600"/>
            <a:ext cx="190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隐私引擎 + Fernet 加密映射 + DPAPI 密钥；与 GUI、引擎层解耦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88000" y="2349500"/>
            <a:ext cx="279400" cy="279400"/>
          </a:xfrm>
          <a:prstGeom prst="ellipse">
            <a:avLst/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889500" y="146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 · 关键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826000" y="17526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红队攻防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与规则补全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4762500" y="2768600"/>
            <a:ext cx="190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故意尝试绕过脱敏、诱导还原、越界写盘；每发现一个漏识别就补规则+回归用例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0" y="2349500"/>
            <a:ext cx="279400" cy="279400"/>
          </a:xfrm>
          <a:prstGeom prst="ellipse">
            <a:avLst/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921500" y="146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385BD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阶段四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858000" y="17526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纵深防御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与审计闭环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794500" y="2768600"/>
            <a:ext cx="190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沙箱、能力白名单、人工审批、HMAC 哈希链审计上线；39 套件回归门禁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79000" y="2349500"/>
            <a:ext cx="279400" cy="279400"/>
          </a:xfrm>
          <a:prstGeom prst="ellipse">
            <a:avLst/>
          </a:prstGeom>
          <a:solidFill>
            <a:srgbClr val="519D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80500" y="14605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19D78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 · 当前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017000" y="17526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企业控制面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50">
                <a:solidFill>
                  <a:srgbClr val="18263A"/>
                </a:solidFill>
                <a:latin typeface="Noto Sans SC"/>
                <a:ea typeface="Noto Sans SC"/>
                <a:cs typeface="Noto Sans SC"/>
                <a:sym typeface="Noto Sans SC"/>
              </a:rPr>
              <a:t>形态成型</a:t>
            </a:r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953500" y="2768600"/>
            <a:ext cx="190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505F73"/>
                </a:solidFill>
                <a:latin typeface="Noto Sans SC"/>
                <a:ea typeface="Noto Sans SC"/>
                <a:cs typeface="Noto Sans SC"/>
                <a:sym typeface="Noto Sans SC"/>
              </a:rPr>
              <a:t>YindunPortable 单机版 + YindunControl 控制端；插件体系只做加法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" y="4318000"/>
            <a:ext cx="10922000" cy="1524000"/>
          </a:xfrm>
          <a:prstGeom prst="roundRect">
            <a:avLst>
              <a:gd name="adj" fmla="val 0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89000" y="4508500"/>
            <a:ext cx="1041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工程哲学：每一次安全发现都转化为一条回归用例，而不是一次性补丁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889000" y="4953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3C4B5F"/>
                </a:solidFill>
                <a:latin typeface="Noto Sans SC"/>
                <a:ea typeface="Noto Sans SC"/>
                <a:cs typeface="Noto Sans SC"/>
                <a:sym typeface="Noto Sans SC"/>
              </a:rPr>
              <a:t>　　红队发现 → 定位漏识别/越权 → 补规则或收紧策略 → 新增回归用例 → 全量 39 套件必过才能发版。安全不变量（隐私引擎/文件工具/审计/审批/取消）在 AGENTS.md 中固化，新成员上手即可遵守。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1E3C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203200"/>
            <a:ext cx="952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　结论、贡献与下一步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531600" y="254000"/>
            <a:ext cx="330200" cy="33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35000" y="1016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▎主要结论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384" flipH="false" flipV="false">
            <a:off x="635008" y="145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635000" y="1651000"/>
            <a:ext cx="5461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隐私保护可从</a:t>
            </a: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"使用约定"</a:t>
            </a: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下沉为</a:t>
            </a: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"架构约束"</a:t>
            </a: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2. 内存级脱敏网关让模型物理上看不见敏感值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3. 纵深防御 + 哈希链审计可被实验测量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4. 安全不变量可写进工程规范、被回归门禁守护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016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3C78"/>
                </a:solidFill>
                <a:latin typeface="Noto Sans SC"/>
                <a:ea typeface="Noto Sans SC"/>
                <a:cs typeface="Noto Sans SC"/>
                <a:sym typeface="Noto Sans SC"/>
              </a:rPr>
              <a:t>▎下一步工作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384" flipH="false" flipV="false">
            <a:off x="6350008" y="145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350000" y="1651000"/>
            <a:ext cx="5207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扩展在册隐私类型词典，覆盖更多行业形态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与企业 SSO / DLP / SIEM 系统对接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红队语料公开化，接受社区复现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324155"/>
                </a:solidFill>
                <a:latin typeface="Noto Sans SC"/>
                <a:ea typeface="Noto Sans SC"/>
                <a:cs typeface="Noto Sans SC"/>
                <a:sym typeface="Noto Sans SC"/>
              </a:rPr>
              <a:t>▸ 探索本地小模型与云端强模型的分级路由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4572000"/>
            <a:ext cx="12192000" cy="2286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42D5A">
                  <a:alpha val="100000"/>
                </a:srgbClr>
              </a:gs>
              <a:gs pos="100000">
                <a:srgbClr val="1E468C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715000" y="4826000"/>
            <a:ext cx="4572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1016000" y="53975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敬请各位老师批评指正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6096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指导老师：王艳　|　队长：余齐政　|　队员：孙良硕、薛晓晴、陈俊豪、张晶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65024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星辰大海团队 · 隐盾安全智能体 · 2026.10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