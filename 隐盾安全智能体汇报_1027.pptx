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6" r:id="rId11"/>
    <p:sldId id="263" r:id="rId12"/>
    <p:sldId id="264" r:id="rId13"/>
    <p:sldId id="265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6"/>
    <a:srgbClr val="EE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1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开场不念目录。第一句话：涉密办公要用 AI，但敏感原文不能出本机——我们做的是让这件事可落地。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出发点很直接：涉密办公要用 AI，但敏感原文不能出本机。风险集中在四个环节：发给 AI 时原文出网、存到电脑里留下副本、历史记录越积越多、AI 动手时未经确认就写删改。我们对应做了四道本地控制：入口脱敏、脱敏日志加加密存储、会话加密加审计、审批加权限。右边这张图说明分工：你的数据先经过隐盾内核，模型只收到占位符；回答回来由本机还原。框架负责识别、脱敏、权限、审批、审计，模型只做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先总后分：上面一组是三组能力，回答“能做什么”；下面一组是四个目标，回答“做到什么程度”。三组能力分别是对话与资料、文件操作与审计、统一后台；四个目标分别是可用、不可见、可审计、可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先看脱敏对话。用户输入的是姓名、手机号、身份证这些真值；发送前，本地规则先做正则粗筛，再用程序化校验器精验——手机号看位数，银行卡过 Luhn，身份证看 18 位形状与出生日期，带分隔符的形态再过校验位；人名看姓氏表和触发词窗口。这一步不调用任何模型。模型真正收到的是占位符；回答回来，本机再把占位符换回真值。映射表加密、不进模型上下文，所以模型服务方拿到的只是一段占位符文本。对已经识别出来的实体，出网明文是 0 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审批弹窗有三层。第一层是用途红线，内核确定性规则，在模型和工具之前执行：收集个人信息去出售或牟利，直接拒绝；外发或公开，顶部红色警示。第二层是意图预判，回答想干什么、涉及什么数据、去哪、什么用途，模型只能加重不能减轻。第三层是操作风险，laya 按本机、局域网、正则三级给高/中/低危，并标明来源，只评动作本身。三层都只是建议，放行由人决定。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审计不是普通日志。每次打开面板都会重新校验 HMAC 链和锚点，徽标不是缓存；现场可以直接点一次盾牌图标验证。左下这张图是实测：删掉尾部 331 条后打开审计面板，锚点记录 5177 条、现有 4846 条，校验立即报“尾部被截断”；重建锚点必须人工确认，不会自动接受被删改的链。每条工具调用、隐私检测、审批决策都在链上；审计里只存脱敏预览。改中间、尾部截断、降级改写、删锚点这些手法都能被发现。但能重写整台机器的人，我们挡不住，所以准确说是可发现，不是不可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扩展性有三条边界。laya 是近一个月才火起来的决策模型，我们第一时间接进项目：用它判断动作本身危不危险，本机优先、局域网次之、正则兜底，来源如实标注；它只做建议、不参与放行。插件只有建议型和增强型能力，判定类钩子永久禁止，所以它是能力插座，不是权限后门。控制面只上报掩码事件与元数据，策略只能收紧，默认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张卡片分别是态势总览、事件台账、策略下发、统计分析。控制端不是新的模型能力，而是把端点已经落盘的掩码事件集中起来看：它看到的和端点本地审计落盘的内容一样，掩码态、链头、元数据，拿不到真值，也不代理模型流量。策略只能收紧：敏感路径取并集、审批下限取更严，豁免/放行/白名单不在通路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第一个创新是内存级脱敏网关：模型物理上看不见真值，机密性是架构保证，不是识别率保证；对已识别实体，出网明文 0 例。第二个是先判用途再判操作：先问这件事该不该做，再问操作对不对得上；收集个人信息去出售，在模型和工具之前就拒绝。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第三个创新是 laya 决策模型的快速适配：它是近一个月才火起来的决策模型，我们第一时间接进项目，用它判断动作本身危不危险；本机优先、局域网次之、正则兜底，只做建议、不参与放行。第四个是脱敏知识库：入库即逐块脱敏，向量库只存占位符，检索结果明确标注片段不是全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隐私保护不该是使用约定，而应是架构约束。谢谢各位评委。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GI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6.xml"/><Relationship Id="rId23" Type="http://schemas.openxmlformats.org/officeDocument/2006/relationships/image" Target="../media/image9.png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8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image" Target="../media/image8.png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image" Target="../media/image7.png"/><Relationship Id="rId10" Type="http://schemas.openxmlformats.org/officeDocument/2006/relationships/tags" Target="../tags/tag15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GIF"/><Relationship Id="rId1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15568"/>
            <a:ext cx="12191695" cy="2715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5064" y="1542288"/>
            <a:ext cx="8887968" cy="830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隐盾安全智能体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55064" y="2542032"/>
            <a:ext cx="8887968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面向数据隐私安全的 AI 协同办公桌面智能体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55064" y="3127248"/>
            <a:ext cx="88879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D6EBE0"/>
                </a:solidFill>
                <a:latin typeface="楷体" panose="02010609060101010101" charset="-122"/>
                <a:ea typeface="楷体" panose="02010609060101010101" charset="-122"/>
              </a:rPr>
              <a:t>让 AI 看得见任务，看不见隐私</a:t>
            </a:r>
            <a:endParaRPr sz="2000" b="1">
              <a:solidFill>
                <a:srgbClr val="D6EBE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38728" y="4599432"/>
            <a:ext cx="5111496" cy="1143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4059936"/>
            <a:ext cx="6099048" cy="2581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1800"/>
              </a:spcAft>
            </a:pPr>
            <a:r>
              <a:rPr sz="19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星辰大海 团队</a:t>
            </a:r>
            <a:endParaRPr sz="19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计算机科学与网络工程学院</a:t>
            </a:r>
            <a:endParaRPr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指导老师：王艳      </a:t>
            </a:r>
            <a:r>
              <a:rPr lang="en-US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队长：余齐政</a:t>
            </a:r>
            <a:endParaRPr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队员：孙良硕　薛晓晴　陈俊豪　张晶</a:t>
            </a:r>
            <a:endParaRPr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7000"/>
              </a:lnSpc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7000"/>
              </a:lnSpc>
            </a:pPr>
            <a:r>
              <a:rPr sz="1900" b="1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</a:t>
            </a:r>
            <a:r>
              <a:rPr lang="en-US" sz="1900" b="1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900" b="1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月</a:t>
            </a:r>
            <a:endParaRPr sz="1900" b="1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Rounded Rectangle 35"/>
          <p:cNvSpPr/>
          <p:nvPr/>
        </p:nvSpPr>
        <p:spPr>
          <a:xfrm>
            <a:off x="5440680" y="2005965"/>
            <a:ext cx="3886835" cy="288290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涉密办公用 AI：敏感原文不出本机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8829"/>
            <a:ext cx="1117396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四个泄露环节，对应四道本地控制；模型只收到占位符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6410" y="1810385"/>
            <a:ext cx="2283460" cy="1444625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2968" y="194767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发给 AI 时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968" y="2286000"/>
            <a:ext cx="1947672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聊天内容会离开这台电脑</a:t>
            </a:r>
            <a:endParaRPr sz="13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2968" y="2825496"/>
            <a:ext cx="1947672" cy="12700"/>
          </a:xfrm>
          <a:prstGeom prst="rect">
            <a:avLst/>
          </a:prstGeom>
          <a:solidFill>
            <a:srgbClr val="D6E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68" y="2898648"/>
            <a:ext cx="19476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入口脱敏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04490" y="1810385"/>
            <a:ext cx="2294890" cy="1444625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51048" y="194767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存到电脑里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51048" y="2286000"/>
            <a:ext cx="1947672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缓存和日志可能留下原文</a:t>
            </a:r>
            <a:endParaRPr sz="13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51048" y="2825496"/>
            <a:ext cx="1947672" cy="12700"/>
          </a:xfrm>
          <a:prstGeom prst="rect">
            <a:avLst/>
          </a:prstGeom>
          <a:solidFill>
            <a:srgbClr val="D6E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51175" y="2898775"/>
            <a:ext cx="210756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脱敏日志</a:t>
            </a:r>
            <a:r>
              <a:rPr 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加密存储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86410" y="3408680"/>
            <a:ext cx="2283460" cy="1444625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2968" y="354584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历史记录里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2968" y="3884168"/>
            <a:ext cx="1947672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会话、知识库越积越多</a:t>
            </a:r>
            <a:endParaRPr sz="13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2968" y="4423664"/>
            <a:ext cx="1947672" cy="12700"/>
          </a:xfrm>
          <a:prstGeom prst="rect">
            <a:avLst/>
          </a:prstGeom>
          <a:solidFill>
            <a:srgbClr val="D6E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2968" y="4496816"/>
            <a:ext cx="19476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会话加密 + 审计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904490" y="3408680"/>
            <a:ext cx="2294255" cy="1444625"/>
          </a:xfrm>
          <a:prstGeom prst="roundRect">
            <a:avLst>
              <a:gd name="adj" fmla="val 6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51048" y="354584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动手时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51175" y="3884295"/>
            <a:ext cx="205613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未经确认就写、删、改文件</a:t>
            </a:r>
            <a:endParaRPr sz="13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51048" y="4423664"/>
            <a:ext cx="1947672" cy="12700"/>
          </a:xfrm>
          <a:prstGeom prst="rect">
            <a:avLst/>
          </a:prstGeom>
          <a:solidFill>
            <a:srgbClr val="D6E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51048" y="4496816"/>
            <a:ext cx="19476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审批 + 权限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40680" y="1688465"/>
            <a:ext cx="6245352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架构分工：真值止于本机，模型只做推理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59298" y="2106168"/>
            <a:ext cx="18288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</a:rPr>
              <a:t>本机可信域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559425" y="2503805"/>
            <a:ext cx="1222375" cy="94043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5826"/>
            </a:solidFill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83250" y="2626360"/>
            <a:ext cx="97409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你的数据</a:t>
            </a:r>
            <a:endParaRPr sz="1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23560" y="2917190"/>
            <a:ext cx="1089025" cy="4133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ctr" fontAlgn="auto">
              <a:lnSpc>
                <a:spcPct val="115000"/>
              </a:lnSpc>
            </a:pPr>
            <a:r>
              <a:rPr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  <a:r>
              <a:rPr lang="en-US"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</a:t>
            </a:r>
            <a:br>
              <a:rPr lang="zh-CN" altLang="en-US"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</a:t>
            </a:r>
            <a:r>
              <a:rPr lang="en-US" altLang="zh-CN"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sz="12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165975" y="2504440"/>
            <a:ext cx="1572895" cy="941070"/>
          </a:xfrm>
          <a:prstGeom prst="roundRect">
            <a:avLst>
              <a:gd name="adj" fmla="val 7000"/>
            </a:avLst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257288" y="2626360"/>
            <a:ext cx="13898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隐盾内核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257288" y="2910840"/>
            <a:ext cx="1389888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 · 脱敏 · 权限
审批 · 审计</a:t>
            </a:r>
            <a:endParaRPr sz="1200" b="0">
              <a:solidFill>
                <a:srgbClr val="D6EB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835515" y="2503170"/>
            <a:ext cx="1901825" cy="91567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05826"/>
            </a:solidFill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893935" y="2626360"/>
            <a:ext cx="1719072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云端 / 本地模型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26955" y="2988310"/>
            <a:ext cx="1719072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只推理 · 只看见占位符</a:t>
            </a:r>
            <a:endParaRPr sz="12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433185" y="3711575"/>
            <a:ext cx="2680335" cy="42037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430">
            <a:solidFill>
              <a:srgbClr val="005826"/>
            </a:solidFill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89065" y="3810000"/>
            <a:ext cx="254825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本机还原：占位符换回真值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6781800" y="2952496"/>
            <a:ext cx="384048" cy="0"/>
          </a:xfrm>
          <a:prstGeom prst="line">
            <a:avLst/>
          </a:prstGeom>
          <a:ln w="15875">
            <a:solidFill>
              <a:srgbClr val="005826"/>
            </a:solidFill>
            <a:tailEnd type="triangle" w="med" len="med"/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8733536" y="2952496"/>
            <a:ext cx="1106170" cy="0"/>
          </a:xfrm>
          <a:prstGeom prst="line">
            <a:avLst/>
          </a:prstGeom>
          <a:ln w="15875">
            <a:solidFill>
              <a:srgbClr val="005826"/>
            </a:solidFill>
            <a:tailEnd type="triangle" w="med" len="med"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8733536" y="2689733"/>
            <a:ext cx="100584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只发占位符</a:t>
            </a:r>
            <a:endParaRPr sz="12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0819511" y="3418840"/>
            <a:ext cx="0" cy="502920"/>
          </a:xfrm>
          <a:prstGeom prst="line">
            <a:avLst/>
          </a:prstGeom>
          <a:ln w="13970">
            <a:solidFill>
              <a:srgbClr val="005826"/>
            </a:solidFill>
            <a:tailEnd type="triangle" w="med" len="med"/>
          </a:ln>
          <a:effectLst/>
        </p:spPr>
      </p:cxnSp>
      <p:cxnSp>
        <p:nvCxnSpPr>
          <p:cNvPr id="52" name="Connector 51"/>
          <p:cNvCxnSpPr>
            <a:endCxn id="46" idx="3"/>
          </p:cNvCxnSpPr>
          <p:nvPr/>
        </p:nvCxnSpPr>
        <p:spPr>
          <a:xfrm flipH="1">
            <a:off x="9113266" y="3921760"/>
            <a:ext cx="1706245" cy="0"/>
          </a:xfrm>
          <a:prstGeom prst="line">
            <a:avLst/>
          </a:prstGeom>
          <a:ln w="13970">
            <a:solidFill>
              <a:srgbClr val="005826"/>
            </a:solidFill>
            <a:tailEnd type="triangle" w="med" len="med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9839960" y="4008120"/>
            <a:ext cx="109791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返回仍是占位符</a:t>
            </a:r>
            <a:endParaRPr sz="12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9724136" y="2321560"/>
            <a:ext cx="0" cy="1874520"/>
          </a:xfrm>
          <a:prstGeom prst="line">
            <a:avLst/>
          </a:prstGeom>
          <a:ln w="12700">
            <a:solidFill>
              <a:srgbClr val="005826"/>
            </a:solidFill>
            <a:prstDash val="dash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9239758" y="2070608"/>
            <a:ext cx="969264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信任边界</a:t>
            </a:r>
            <a:endParaRPr sz="14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577840" y="4333240"/>
            <a:ext cx="374903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框架负责：识别 · 脱敏 · 权限 · 审批 · 审计</a:t>
            </a:r>
            <a:endParaRPr sz="12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577840" y="4589272"/>
            <a:ext cx="374903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模型负责：只做推理，只收到占位符</a:t>
            </a:r>
            <a:endParaRPr sz="12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12064" y="5130800"/>
            <a:ext cx="11173968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12064" y="5222240"/>
            <a:ext cx="1117396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隐盾 = 面向涉密办公的本地化隐私防护桌面智能体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2064" y="5542280"/>
            <a:ext cx="1117396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数据进模型前脱敏，回答回本机还原；模型侧看不到姓名、文件内容与历史记录。</a:t>
            </a:r>
            <a:endParaRPr sz="14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12064" y="5887720"/>
            <a:ext cx="11173968" cy="612648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694944" y="6054344"/>
            <a:ext cx="694944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设计目标：可用 · 不可见 · 可审计 · 可部署</a:t>
            </a:r>
            <a:endParaRPr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589520" y="6070600"/>
            <a:ext cx="39319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适用：律所 / 医院 / 制造 / 政府外包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02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三组能力覆盖办公流程，四个目标定义交付标准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8829"/>
            <a:ext cx="1117396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能力回答“能做什么”，目标回答“做到什么程度”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2064" y="1658112"/>
            <a:ext cx="64008" cy="310896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44" y="168554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一、三组能力 · 能做什么</a:t>
            </a:r>
            <a:endParaRPr sz="19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2064" y="2023871"/>
            <a:ext cx="11173968" cy="12700"/>
          </a:xfrm>
          <a:prstGeom prst="rect">
            <a:avLst/>
          </a:prstGeom>
          <a:solidFill>
            <a:srgbClr val="D6E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12064" y="2141728"/>
            <a:ext cx="3621024" cy="210312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2288032"/>
            <a:ext cx="3218688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对话与资料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2758440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脱敏对话：30 类实体替换为占位符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3248152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脱敏知识库：入库即脱敏，零明文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" y="3742944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检索结果标注「片段不是全文」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88536" y="2141728"/>
            <a:ext cx="3621024" cy="210312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9703" y="2288032"/>
            <a:ext cx="3218688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文件操作与审计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9703" y="2758440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15 个文件与办公工具，覆盖常用目录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89703" y="3248152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写盘、删除、命令执行前熔断审批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89703" y="3742944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工具、审批、还原全部写入哈希链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65008" y="2141728"/>
            <a:ext cx="3621024" cy="2103120"/>
          </a:xfrm>
          <a:prstGeom prst="roundRect">
            <a:avLst>
              <a:gd name="adj" fmla="val 5000"/>
            </a:avLst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66176" y="2288032"/>
            <a:ext cx="3218688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统一后台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66176" y="2758440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控制面只汇总掩码事件与元数据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6" y="3248152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策略只能收紧，上报默认关闭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66176" y="3742944"/>
            <a:ext cx="3218688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插件：能力可扩展，判定权不外包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12064" y="4538472"/>
            <a:ext cx="64008" cy="310896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4944" y="45659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二、四个目标 · 做到什么程度</a:t>
            </a:r>
            <a:endParaRPr sz="19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12064" y="4904232"/>
            <a:ext cx="11173968" cy="12700"/>
          </a:xfrm>
          <a:prstGeom prst="rect">
            <a:avLst/>
          </a:prstGeom>
          <a:solidFill>
            <a:srgbClr val="D6EB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12064" y="5052568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5211064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6910" y="5576570"/>
            <a:ext cx="2341245" cy="538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</a:t>
            </a:r>
            <a:r>
              <a:rPr lang="en-US" altLang="zh-CN"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0.8</a:t>
            </a:r>
            <a:r>
              <a:rPr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量化模型</a:t>
            </a:r>
            <a:r>
              <a:rPr lang="zh-CN"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</a:t>
            </a:r>
            <a:endParaRPr lang="zh-CN" sz="1400" b="0">
              <a:solidFill>
                <a:srgbClr val="D6EB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可跑</a:t>
            </a:r>
            <a:endParaRPr sz="1400" b="0">
              <a:solidFill>
                <a:srgbClr val="D6EB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46704" y="5052568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11296" y="5211064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不可见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511296" y="5576824"/>
            <a:ext cx="2359152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已识别实体出网明文 0 例</a:t>
            </a:r>
            <a:endParaRPr sz="1400" b="0">
              <a:solidFill>
                <a:srgbClr val="D6EB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181344" y="5052568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5211064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可审计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45936" y="5576824"/>
            <a:ext cx="2359152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 / 审批 / 还原全部留痕</a:t>
            </a:r>
            <a:endParaRPr sz="1400" b="0">
              <a:solidFill>
                <a:srgbClr val="D6EB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015984" y="5052568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5211064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可部署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180576" y="5576824"/>
            <a:ext cx="2359152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D6EB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标准安装包 + 单文件试用</a:t>
            </a:r>
            <a:endParaRPr sz="1400" b="0">
              <a:solidFill>
                <a:srgbClr val="D6EB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03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8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模型全程看不见隐私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2479"/>
            <a:ext cx="1117396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识别在本地、由规则完成；模型只负责推理，不负责判断哪些是隐私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demo_privacy_hi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659255"/>
            <a:ext cx="6146800" cy="38423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" y="5530088"/>
            <a:ext cx="5760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完整流程：输入 → 发送 → 模型加载 → 回答还原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42405" y="1659255"/>
            <a:ext cx="5166360" cy="3894455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25285" y="1787398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本地正则 + 精验，不调用模型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25285" y="2180590"/>
            <a:ext cx="4800600" cy="996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6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6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手机号看 11 位；银行卡过 Luhn；身份证看 18 位形状与出生日期，带分隔符的形态再过校验位；人名看姓氏表 ∩ 触发词窗口。</a:t>
            </a:r>
            <a:endParaRPr sz="16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5285" y="3496818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用户看到</a:t>
            </a:r>
            <a:endParaRPr sz="1600" b="1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24675" y="3797935"/>
            <a:ext cx="4501515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孙良硕 · 13700001111</a:t>
            </a:r>
            <a:endParaRPr sz="16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5285" y="4151122"/>
            <a:ext cx="4800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模型看到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24675" y="4455160"/>
            <a:ext cx="4501515" cy="2330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[NAME_0_</a:t>
            </a:r>
            <a:r>
              <a:rPr lang="en-US" altLang="zh-CN" sz="14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4y5v</a:t>
            </a:r>
            <a:r>
              <a:rPr sz="14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] · [PHONE_0_</a:t>
            </a:r>
            <a:r>
              <a:rPr lang="en-US" altLang="zh-CN" sz="14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me9f</a:t>
            </a:r>
            <a:r>
              <a:rPr sz="14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  <a:endParaRPr sz="14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25285" y="5015230"/>
            <a:ext cx="4800600" cy="321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映射表加密、不进模型上下文；回答回本机才还原。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94005" y="5928360"/>
            <a:ext cx="11415395" cy="5029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2064" y="6038088"/>
            <a:ext cx="11173968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对已识别实体，出网明文 0 例；识别靠规则，不靠模型。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04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7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三层立体判断：先用途，再意图，最后操作风险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6924"/>
            <a:ext cx="1117396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三层回答三个不同问题；判定权在人，不在模型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demo_approval_hi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10385"/>
            <a:ext cx="6255385" cy="39096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0149" y="5878703"/>
            <a:ext cx="59436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完整流程：写文件请求 → 弹窗 → 授权 → 执行成功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95440" y="1810385"/>
            <a:ext cx="5029200" cy="4393565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78320" y="1923288"/>
            <a:ext cx="329184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44080" y="1920240"/>
            <a:ext cx="18288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用途红线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44080" y="2238248"/>
            <a:ext cx="425196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</a:rPr>
              <a:t>内核确定性规则，不依赖模型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44080" y="2499360"/>
            <a:ext cx="4251960" cy="551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收集个人信息 + 出售/牟利 → 模型和工具之前直接拒绝；外发/公开 → 顶部红色警示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78320" y="3176016"/>
            <a:ext cx="329184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44080" y="3172968"/>
            <a:ext cx="18288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意图预判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44080" y="3501135"/>
            <a:ext cx="425196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内核规则 + 本地模型补充细节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44080" y="3752088"/>
            <a:ext cx="4251960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 / 数据 / 去向 / 用途；模型只能加重，不能减轻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78320" y="4464303"/>
            <a:ext cx="329184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44080" y="4461256"/>
            <a:ext cx="18288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操作风险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07250" y="4783708"/>
            <a:ext cx="425196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正则保证兜底</a:t>
            </a:r>
            <a:r>
              <a:rPr lang="en-US" altLang="zh-CN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</a:t>
            </a:r>
            <a:r>
              <a:rPr lang="en-US" altLang="zh-CN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Laya </a:t>
            </a:r>
            <a:r>
              <a:rPr lang="zh-CN" alt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</a:t>
            </a:r>
            <a:r>
              <a:rPr lang="zh-CN" alt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协助判断</a:t>
            </a:r>
            <a:endParaRPr lang="zh-CN" altLang="en-US"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07250" y="5023866"/>
            <a:ext cx="4251960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高危 / 中危 / 低危；只评动作本身，来源如实标注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878320" y="5473192"/>
            <a:ext cx="4617720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78320" y="5687822"/>
            <a:ext cx="46177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03A2E"/>
                </a:solidFill>
                <a:latin typeface="微软雅黑" panose="020B0503020204020204" charset="-122"/>
                <a:ea typeface="微软雅黑" panose="020B0503020204020204" charset="-122"/>
              </a:rPr>
              <a:t>用途触线时，「是否相符」不再发言。</a:t>
            </a:r>
            <a:endParaRPr sz="1600" b="1">
              <a:solidFill>
                <a:srgbClr val="B03A2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05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2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审计黑匣子：每次使用都留痕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5019"/>
            <a:ext cx="1117396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打开即校验、可追溯；不可写只是其中一个亮点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3" descr="demo_audit_hi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340" y="1898015"/>
            <a:ext cx="5985510" cy="37407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492240" y="1810385"/>
            <a:ext cx="5166360" cy="3857625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2"/>
            </p:custDataLst>
          </p:nvPr>
        </p:nvSpPr>
        <p:spPr>
          <a:xfrm>
            <a:off x="6675120" y="1938528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打开即校验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3"/>
            </p:custDataLst>
          </p:nvPr>
        </p:nvSpPr>
        <p:spPr>
          <a:xfrm>
            <a:off x="6675120" y="2284984"/>
            <a:ext cx="48006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每次展开面板都重跑链校验与锚点检查；徽标不是缓存。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4"/>
            </p:custDataLst>
          </p:nvPr>
        </p:nvSpPr>
        <p:spPr>
          <a:xfrm>
            <a:off x="6675120" y="2840736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每条可追溯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>
          <a:xfrm>
            <a:off x="6675120" y="3187192"/>
            <a:ext cx="4800600" cy="55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工具调用、隐私检测/还原、审批决策都在链上；只存脱敏预览。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6"/>
            </p:custDataLst>
          </p:nvPr>
        </p:nvSpPr>
        <p:spPr>
          <a:xfrm>
            <a:off x="6675120" y="3920744"/>
            <a:ext cx="48006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六种删改可发现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7"/>
            </p:custDataLst>
          </p:nvPr>
        </p:nvSpPr>
        <p:spPr>
          <a:xfrm>
            <a:off x="6675120" y="4267200"/>
            <a:ext cx="480060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改中间、尾部截断、降级改写、删锚点等，均有回归用例。</a:t>
            </a:r>
            <a:b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b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zh-CN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如：</a:t>
            </a:r>
            <a:endParaRPr lang="zh-CN"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2580" y="5861685"/>
            <a:ext cx="11336020" cy="527685"/>
          </a:xfrm>
          <a:prstGeom prst="rect">
            <a:avLst/>
          </a:prstGeom>
          <a:solidFill>
            <a:srgbClr val="FCF8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50" y="5965190"/>
            <a:ext cx="106387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0">
                <a:solidFill>
                  <a:srgbClr val="B478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边界：能重写整台机器的攻击者超出防护目标。准确说法是“可发现”，不是“物理不可写”。</a:t>
            </a:r>
            <a:endParaRPr sz="1600" b="0">
              <a:solidFill>
                <a:srgbClr val="B478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06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6355" y="4614545"/>
            <a:ext cx="2828290" cy="882650"/>
          </a:xfrm>
          <a:prstGeom prst="rect">
            <a:avLst/>
          </a:prstGeom>
        </p:spPr>
      </p:pic>
      <p:sp>
        <p:nvSpPr>
          <p:cNvPr id="28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万物皆插件：能力可以通过插件增加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6924"/>
            <a:ext cx="1117396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aya 决策模型快速适配；控制端已可用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13" descr="demo_plugins_hi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810" y="1613535"/>
            <a:ext cx="6128385" cy="383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" y="5604129"/>
            <a:ext cx="53949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插件页：能力清单、运行状态与启停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771640" y="1613535"/>
            <a:ext cx="4867275" cy="3959225"/>
          </a:xfrm>
          <a:prstGeom prst="rect">
            <a:avLst/>
          </a:prstGeom>
          <a:solidFill>
            <a:srgbClr val="EEF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87210" y="1743710"/>
            <a:ext cx="516636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aya 决策模型 · </a:t>
            </a:r>
            <a:r>
              <a:rPr lang="zh-CN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扩展插件</a:t>
            </a:r>
            <a:endParaRPr lang="zh-CN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87210" y="2110486"/>
            <a:ext cx="516636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>
                <a:solidFill>
                  <a:srgbClr val="002C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近一个月走红的决策模型，我们第一时间接进项目</a:t>
            </a:r>
            <a:endParaRPr sz="1400" b="1">
              <a:solidFill>
                <a:srgbClr val="002C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87210" y="2402840"/>
            <a:ext cx="4783455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判断动作本身危不危险，输出高/中/低危
</a:t>
            </a: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本机优先 → 局域网</a:t>
            </a:r>
            <a:r>
              <a:rPr lang="zh-CN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其次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正则回退，来源标明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87210" y="3348990"/>
            <a:ext cx="516636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插件只做加法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7210" y="3682365"/>
            <a:ext cx="4783455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判定类钩子永久禁止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载荷净化 </a:t>
            </a: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超时隔离 </a:t>
            </a: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内核兜底 </a:t>
            </a: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启停即收回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87210" y="4616450"/>
            <a:ext cx="516636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控制面只收紧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87210" y="4949825"/>
            <a:ext cx="4783455" cy="32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控制端已交付：集中看掩码事件、下发更严策略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12064" y="6009640"/>
            <a:ext cx="11173968" cy="5029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6119368"/>
            <a:ext cx="11173968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插件是“能力插座”，不是“权限后门”。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85855" y="65471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07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8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969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1121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939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9091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908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7060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969" cy="9144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841248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控制端：集中看掩码事件，策略只能收紧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310513"/>
            <a:ext cx="1117396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管理机统一看端点状态；控制面不接触明文，也不代理模型流量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>
            <p:custDataLst>
              <p:tags r:id="rId1"/>
            </p:custDataLst>
          </p:nvPr>
        </p:nvSpPr>
        <p:spPr>
          <a:xfrm>
            <a:off x="511810" y="1666240"/>
            <a:ext cx="5547360" cy="233172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>
            <p:custDataLst>
              <p:tags r:id="rId2"/>
            </p:custDataLst>
          </p:nvPr>
        </p:nvSpPr>
        <p:spPr>
          <a:xfrm>
            <a:off x="512064" y="1666240"/>
            <a:ext cx="54864" cy="23317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3"/>
            </p:custDataLst>
          </p:nvPr>
        </p:nvSpPr>
        <p:spPr>
          <a:xfrm>
            <a:off x="676656" y="1721104"/>
            <a:ext cx="51206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态势总览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control_overview_car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21004" y="1977136"/>
            <a:ext cx="4983480" cy="1737360"/>
          </a:xfrm>
          <a:prstGeom prst="rect">
            <a:avLst/>
          </a:prstGeom>
        </p:spPr>
      </p:pic>
      <p:sp>
        <p:nvSpPr>
          <p:cNvPr id="34" name="TextBox 33"/>
          <p:cNvSpPr txBox="1"/>
          <p:nvPr>
            <p:custDataLst>
              <p:tags r:id="rId6"/>
            </p:custDataLst>
          </p:nvPr>
        </p:nvSpPr>
        <p:spPr>
          <a:xfrm>
            <a:off x="676656" y="3741928"/>
            <a:ext cx="51206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证据：在管端点 / 事件 / 高风险 / 链告警 同屏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>
            <p:custDataLst>
              <p:tags r:id="rId7"/>
            </p:custDataLst>
          </p:nvPr>
        </p:nvSpPr>
        <p:spPr>
          <a:xfrm>
            <a:off x="6217920" y="1666240"/>
            <a:ext cx="5507990" cy="233172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>
            <p:custDataLst>
              <p:tags r:id="rId8"/>
            </p:custDataLst>
          </p:nvPr>
        </p:nvSpPr>
        <p:spPr>
          <a:xfrm>
            <a:off x="6217920" y="1666240"/>
            <a:ext cx="54864" cy="23317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9"/>
            </p:custDataLst>
          </p:nvPr>
        </p:nvSpPr>
        <p:spPr>
          <a:xfrm>
            <a:off x="6382511" y="1721104"/>
            <a:ext cx="51206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事件台账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Picture 37" descr="control_events_car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626859" y="1977136"/>
            <a:ext cx="4983480" cy="1737360"/>
          </a:xfrm>
          <a:prstGeom prst="rect">
            <a:avLst/>
          </a:prstGeom>
        </p:spPr>
      </p:pic>
      <p:sp>
        <p:nvSpPr>
          <p:cNvPr id="39" name="TextBox 38"/>
          <p:cNvSpPr txBox="1"/>
          <p:nvPr>
            <p:custDataLst>
              <p:tags r:id="rId12"/>
            </p:custDataLst>
          </p:nvPr>
        </p:nvSpPr>
        <p:spPr>
          <a:xfrm>
            <a:off x="6382511" y="3741928"/>
            <a:ext cx="51206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</a:rPr>
              <a:t>证据：按端点、类型、级别检索；只显示掩码态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>
            <p:custDataLst>
              <p:tags r:id="rId13"/>
            </p:custDataLst>
          </p:nvPr>
        </p:nvSpPr>
        <p:spPr>
          <a:xfrm>
            <a:off x="511810" y="4185920"/>
            <a:ext cx="5547360" cy="233172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>
            <p:custDataLst>
              <p:tags r:id="rId14"/>
            </p:custDataLst>
          </p:nvPr>
        </p:nvSpPr>
        <p:spPr>
          <a:xfrm>
            <a:off x="512064" y="4185920"/>
            <a:ext cx="54864" cy="23317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>
            <p:custDataLst>
              <p:tags r:id="rId15"/>
            </p:custDataLst>
          </p:nvPr>
        </p:nvSpPr>
        <p:spPr>
          <a:xfrm>
            <a:off x="676656" y="4240784"/>
            <a:ext cx="51206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策略下发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Picture 42" descr="control_policy_car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21004" y="4496816"/>
            <a:ext cx="4983480" cy="1737360"/>
          </a:xfrm>
          <a:prstGeom prst="rect">
            <a:avLst/>
          </a:prstGeom>
        </p:spPr>
      </p:pic>
      <p:sp>
        <p:nvSpPr>
          <p:cNvPr id="44" name="TextBox 43"/>
          <p:cNvSpPr txBox="1"/>
          <p:nvPr>
            <p:custDataLst>
              <p:tags r:id="rId18"/>
            </p:custDataLst>
          </p:nvPr>
        </p:nvSpPr>
        <p:spPr>
          <a:xfrm>
            <a:off x="676656" y="6261608"/>
            <a:ext cx="51206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</a:rPr>
              <a:t>证据：敏感路径取并集，审批只能更严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>
            <p:custDataLst>
              <p:tags r:id="rId19"/>
            </p:custDataLst>
          </p:nvPr>
        </p:nvSpPr>
        <p:spPr>
          <a:xfrm>
            <a:off x="6217920" y="4185920"/>
            <a:ext cx="5507990" cy="233172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>
            <p:custDataLst>
              <p:tags r:id="rId20"/>
            </p:custDataLst>
          </p:nvPr>
        </p:nvSpPr>
        <p:spPr>
          <a:xfrm>
            <a:off x="6217920" y="4185920"/>
            <a:ext cx="54864" cy="233172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>
            <p:custDataLst>
              <p:tags r:id="rId21"/>
            </p:custDataLst>
          </p:nvPr>
        </p:nvSpPr>
        <p:spPr>
          <a:xfrm>
            <a:off x="6382511" y="4240784"/>
            <a:ext cx="512064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统计分析</a:t>
            </a:r>
            <a:endParaRPr sz="1600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Picture 47" descr="control_stats_car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626859" y="4496816"/>
            <a:ext cx="4983480" cy="1737360"/>
          </a:xfrm>
          <a:prstGeom prst="rect">
            <a:avLst/>
          </a:prstGeom>
        </p:spPr>
      </p:pic>
      <p:sp>
        <p:nvSpPr>
          <p:cNvPr id="49" name="TextBox 48"/>
          <p:cNvSpPr txBox="1"/>
          <p:nvPr>
            <p:custDataLst>
              <p:tags r:id="rId24"/>
            </p:custDataLst>
          </p:nvPr>
        </p:nvSpPr>
        <p:spPr>
          <a:xfrm>
            <a:off x="6382511" y="6261608"/>
            <a:ext cx="51206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证据：趋势 / 类型 / 分布 / 端点活跃度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85855" y="6547104"/>
            <a:ext cx="9144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en-US"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8</a:t>
            </a:r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四个创新（一）：网关与用途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6924"/>
            <a:ext cx="1117396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</a:rPr>
              <a:t>每一项配一段真实操作，先看它解决什么问题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1810" y="1737360"/>
            <a:ext cx="5394960" cy="4613275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1810" y="1737360"/>
            <a:ext cx="76200" cy="4613275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1887728"/>
            <a:ext cx="34747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8992" y="1879600"/>
            <a:ext cx="4617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内存级脱敏网关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8050" y="2231390"/>
            <a:ext cx="482219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入口处完成替换：真值只在本机内存，模型上下文只有占位符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06_网关占位符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785" y="2647950"/>
            <a:ext cx="5099050" cy="3187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4649" y="5969127"/>
            <a:ext cx="4617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证据：审计里 LLM 输入只有 [NAME_0_x]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1255" y="1737360"/>
            <a:ext cx="5436235" cy="458597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21730" y="1737360"/>
            <a:ext cx="76200" cy="458597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3951" y="1887728"/>
            <a:ext cx="34747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9712" y="1879600"/>
            <a:ext cx="4617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先判用途，再判操作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94932" y="2229739"/>
            <a:ext cx="461772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用途触线时直接拒绝：不调用模型，也不给审批放行机会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Picture 25" descr="07_用途红线拒绝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651760"/>
            <a:ext cx="5099685" cy="3187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95059" y="5969127"/>
            <a:ext cx="4617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证据：个人信息 + 出售/牟利 → 模型前拒绝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85855" y="6547104"/>
            <a:ext cx="9144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0</a:t>
            </a:r>
            <a:r>
              <a:rPr lang="en-US"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9</a:t>
            </a:r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9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 13"/>
          <p:cNvSpPr/>
          <p:nvPr/>
        </p:nvSpPr>
        <p:spPr>
          <a:xfrm>
            <a:off x="511810" y="1737360"/>
            <a:ext cx="5394960" cy="4613275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14"/>
          <p:cNvSpPr/>
          <p:nvPr/>
        </p:nvSpPr>
        <p:spPr>
          <a:xfrm>
            <a:off x="511810" y="1737360"/>
            <a:ext cx="76200" cy="4613275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20"/>
          <p:cNvSpPr/>
          <p:nvPr/>
        </p:nvSpPr>
        <p:spPr>
          <a:xfrm>
            <a:off x="6231255" y="1737360"/>
            <a:ext cx="5436235" cy="4585970"/>
          </a:xfrm>
          <a:prstGeom prst="rect">
            <a:avLst/>
          </a:prstGeom>
          <a:solidFill>
            <a:srgbClr val="F5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21"/>
          <p:cNvSpPr/>
          <p:nvPr/>
        </p:nvSpPr>
        <p:spPr>
          <a:xfrm>
            <a:off x="6221730" y="1737360"/>
            <a:ext cx="76200" cy="4585970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作品简介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2084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主要功能与目标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309981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8542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设计与技术实现</a:t>
            </a:r>
            <a:endParaRPr sz="20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3085" y="0"/>
            <a:ext cx="3099816" cy="6583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6237" y="155448"/>
            <a:ext cx="29443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</a:rPr>
              <a:t>创新与应用前景</a:t>
            </a:r>
            <a:endParaRPr sz="20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10972"/>
          </a:xfrm>
          <a:prstGeom prst="rect">
            <a:avLst/>
          </a:prstGeom>
          <a:solidFill>
            <a:srgbClr val="D9E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" y="859536"/>
            <a:ext cx="104150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四个创新（二）：分级与知识库</a:t>
            </a:r>
            <a:endParaRPr sz="2400" b="1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1296924"/>
            <a:ext cx="1117396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sz="1600" b="0">
                <a:solidFill>
                  <a:srgbClr val="5B69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aya 第一时间适配；知识库入库即脱敏</a:t>
            </a:r>
            <a:endParaRPr sz="1600" b="0">
              <a:solidFill>
                <a:srgbClr val="5B69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1897888"/>
            <a:ext cx="34747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8992" y="1894840"/>
            <a:ext cx="4617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aya 决策模型：</a:t>
            </a:r>
            <a:r>
              <a:rPr lang="zh-CN"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高度契合</a:t>
            </a:r>
            <a:endParaRPr lang="zh-CN"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3417" y="2224024"/>
            <a:ext cx="461772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决策模型与我们的项目高度适配，第一时间适配并</a:t>
            </a:r>
            <a:r>
              <a:rPr lang="zh-CN" altLang="en-US"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</a:rPr>
              <a:t>优化</a:t>
            </a:r>
            <a:endParaRPr lang="zh-CN" altLang="en-US"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8" descr="08_laya决策模型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2604770"/>
            <a:ext cx="5062855" cy="3164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3544" y="5935472"/>
            <a:ext cx="4617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证据：本机→局域网→正则；</a:t>
            </a:r>
            <a:r>
              <a:rPr lang="en-US"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Laya </a:t>
            </a:r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只做建议、不参与放行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3951" y="1897888"/>
            <a:ext cx="34747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9712" y="1894840"/>
            <a:ext cx="46177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005826"/>
                </a:solidFill>
                <a:latin typeface="微软雅黑" panose="020B0503020204020204" charset="-122"/>
                <a:ea typeface="微软雅黑" panose="020B0503020204020204" charset="-122"/>
              </a:rPr>
              <a:t>脱敏知识库：入库即脱敏</a:t>
            </a:r>
            <a:endParaRPr b="1">
              <a:solidFill>
                <a:srgbClr val="0058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84137" y="2224024"/>
            <a:ext cx="461772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向量库只存占位符；检索标注“片段不是全文”</a:t>
            </a:r>
            <a:endParaRPr sz="14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Picture 25" descr="demo_kb_h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975" y="2603500"/>
            <a:ext cx="5059045" cy="3162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4264" y="5935472"/>
            <a:ext cx="46177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7873"/>
                </a:solidFill>
                <a:latin typeface="微软雅黑" panose="020B0503020204020204" charset="-122"/>
                <a:ea typeface="微软雅黑" panose="020B0503020204020204" charset="-122"/>
              </a:rPr>
              <a:t>证据：入库即脱敏；向量库零明文</a:t>
            </a:r>
            <a:endParaRPr sz="1400" b="0">
              <a:solidFill>
                <a:srgbClr val="6E78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85855" y="6547104"/>
            <a:ext cx="9144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10</a:t>
            </a:r>
            <a:r>
              <a:rPr sz="1000" b="0">
                <a:solidFill>
                  <a:srgbClr val="8CA091"/>
                </a:solidFill>
                <a:latin typeface="Times New Roman" panose="02020603050405020304"/>
                <a:ea typeface="Times New Roman" panose="02020603050405020304"/>
              </a:rPr>
              <a:t> / 10</a:t>
            </a:r>
            <a:endParaRPr sz="1000" b="0">
              <a:solidFill>
                <a:srgbClr val="8CA09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1" name="Rectangle 10"/>
          <p:cNvSpPr/>
          <p:nvPr/>
        </p:nvSpPr>
        <p:spPr>
          <a:xfrm>
            <a:off x="512064" y="843280"/>
            <a:ext cx="73152" cy="42976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773936"/>
            <a:ext cx="12191695" cy="2670048"/>
          </a:xfrm>
          <a:prstGeom prst="rect">
            <a:avLst/>
          </a:prstGeom>
          <a:solidFill>
            <a:srgbClr val="0058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55064" y="2395728"/>
            <a:ext cx="8887968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敬请各位老师批评指正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55064" y="3456432"/>
            <a:ext cx="8887968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D6EBE0"/>
                </a:solidFill>
                <a:latin typeface="楷体" panose="02010609060101010101" charset="-122"/>
                <a:ea typeface="楷体" panose="02010609060101010101" charset="-122"/>
              </a:rPr>
              <a:t>隐私保护不该是使用约定，而应是架构约束</a:t>
            </a:r>
            <a:endParaRPr sz="2000" b="1">
              <a:solidFill>
                <a:srgbClr val="D6EBE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7048" y="4948936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识别覆盖</a:t>
            </a:r>
            <a:endParaRPr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7048" y="5312664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005826"/>
                </a:solidFill>
                <a:latin typeface="Times New Roman" panose="02020603050405020304"/>
                <a:ea typeface="Times New Roman" panose="02020603050405020304"/>
              </a:rPr>
              <a:t>30 类敏感实体</a:t>
            </a:r>
            <a:endParaRPr b="1">
              <a:solidFill>
                <a:srgbClr val="005826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4948936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架构承诺</a:t>
            </a:r>
            <a:endParaRPr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5312664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005826"/>
                </a:solidFill>
                <a:latin typeface="Times New Roman" panose="02020603050405020304"/>
                <a:ea typeface="Times New Roman" panose="02020603050405020304"/>
              </a:rPr>
              <a:t>已识别实体 0 明文出网</a:t>
            </a:r>
            <a:endParaRPr b="1">
              <a:solidFill>
                <a:srgbClr val="005826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16952" y="4948936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当前版本</a:t>
            </a:r>
            <a:endParaRPr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16952" y="5312664"/>
            <a:ext cx="29260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>
                <a:solidFill>
                  <a:srgbClr val="005826"/>
                </a:solidFill>
                <a:latin typeface="Times New Roman" panose="02020603050405020304"/>
                <a:ea typeface="Times New Roman" panose="02020603050405020304"/>
              </a:rPr>
              <a:t>V3.6.2</a:t>
            </a:r>
            <a:r>
              <a:rPr lang="en-US" b="1">
                <a:solidFill>
                  <a:srgbClr val="005826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b="1">
                <a:solidFill>
                  <a:srgbClr val="005826"/>
                </a:solidFill>
                <a:latin typeface="Times New Roman" panose="02020603050405020304"/>
                <a:ea typeface="Times New Roman" panose="02020603050405020304"/>
              </a:rPr>
              <a:t> · 2026.1</a:t>
            </a:r>
            <a:r>
              <a:rPr lang="en-US" b="1">
                <a:solidFill>
                  <a:srgbClr val="005826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endParaRPr lang="en-US" b="1">
              <a:solidFill>
                <a:srgbClr val="005826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55064" y="6099048"/>
            <a:ext cx="8887968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B6975"/>
                </a:solidFill>
                <a:latin typeface="Times New Roman" panose="02020603050405020304"/>
                <a:ea typeface="Times New Roman" panose="02020603050405020304"/>
              </a:rPr>
              <a:t>隐盾 · 面向数据隐私安全的 AI 协同办公桌面智能体</a:t>
            </a:r>
            <a:endParaRPr sz="1600" b="0">
              <a:solidFill>
                <a:srgbClr val="5B6975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9.35999999999999,&quot;left&quot;:525.6,&quot;top&quot;:152.64000000000001,&quot;width&quot;:378}"/>
</p:tagLst>
</file>

<file path=ppt/tags/tag2.xml><?xml version="1.0" encoding="utf-8"?>
<p:tagLst xmlns:p="http://schemas.openxmlformats.org/presentationml/2006/main">
  <p:tag name="KSO_WM_DIAGRAM_VIRTUALLY_FRAME" val="{&quot;height&quot;:249.35999999999999,&quot;left&quot;:525.6,&quot;top&quot;:152.64000000000001,&quot;width&quot;:378}"/>
</p:tagLst>
</file>

<file path=ppt/tags/tag3.xml><?xml version="1.0" encoding="utf-8"?>
<p:tagLst xmlns:p="http://schemas.openxmlformats.org/presentationml/2006/main">
  <p:tag name="KSO_WM_DIAGRAM_VIRTUALLY_FRAME" val="{&quot;height&quot;:249.35999999999999,&quot;left&quot;:525.6,&quot;top&quot;:152.64000000000001,&quot;width&quot;:378}"/>
</p:tagLst>
</file>

<file path=ppt/tags/tag4.xml><?xml version="1.0" encoding="utf-8"?>
<p:tagLst xmlns:p="http://schemas.openxmlformats.org/presentationml/2006/main">
  <p:tag name="KSO_WM_DIAGRAM_VIRTUALLY_FRAME" val="{&quot;height&quot;:249.35999999999999,&quot;left&quot;:525.6,&quot;top&quot;:152.64000000000001,&quot;width&quot;:378}"/>
</p:tagLst>
</file>

<file path=ppt/tags/tag5.xml><?xml version="1.0" encoding="utf-8"?>
<p:tagLst xmlns:p="http://schemas.openxmlformats.org/presentationml/2006/main">
  <p:tag name="KSO_WM_DIAGRAM_VIRTUALLY_FRAME" val="{&quot;height&quot;:249.35999999999999,&quot;left&quot;:525.6,&quot;top&quot;:152.64000000000001,&quot;width&quot;:378}"/>
</p:tagLst>
</file>

<file path=ppt/tags/tag6.xml><?xml version="1.0" encoding="utf-8"?>
<p:tagLst xmlns:p="http://schemas.openxmlformats.org/presentationml/2006/main">
  <p:tag name="KSO_WM_DIAGRAM_VIRTUALLY_FRAME" val="{&quot;height&quot;:249.35999999999999,&quot;left&quot;:525.6,&quot;top&quot;:152.64000000000001,&quot;width&quot;:378}"/>
</p:tagLst>
</file>

<file path=ppt/tags/tag7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8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9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0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1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2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3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4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5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6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7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8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19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20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21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22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23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24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25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ags/tag26.xml><?xml version="1.0" encoding="utf-8"?>
<p:tagLst xmlns:p="http://schemas.openxmlformats.org/presentationml/2006/main">
  <p:tag name="KSO_WM_DIAGRAM_VIRTUALLY_FRAME" val="{&quot;height&quot;:385.6,&quot;left&quot;:40.3,&quot;top&quot;:129.6,&quot;width&quot;:88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2666</Words>
  <Application>WPS 演示</Application>
  <PresentationFormat>On-screen Show (4:3)</PresentationFormat>
  <Paragraphs>389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楷体</vt:lpstr>
      <vt:lpstr>Times New Roman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Andy</cp:lastModifiedBy>
  <cp:revision>22</cp:revision>
  <dcterms:created xsi:type="dcterms:W3CDTF">2013-01-27T09:14:00Z</dcterms:created>
  <dcterms:modified xsi:type="dcterms:W3CDTF">2026-10-27T10:43:25Z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0542AC6E2416461EAA692F434C9AA738_12</vt:lpwstr>
  </property>
  <property fmtid="{D5CDD505-2E9C-101B-9397-08002B2CF9AE}" pid="3" name="KSOProductBuildVer">
    <vt:lpwstr>2052-12.1.0.28043</vt:lpwstr>
  </property>
</Properties>
</file>